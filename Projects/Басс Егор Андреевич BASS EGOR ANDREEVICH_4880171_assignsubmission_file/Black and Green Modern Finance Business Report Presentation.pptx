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Lst>
  <p:sldSz cx="18288000" cy="10287000"/>
  <p:notesSz cx="6858000" cy="9144000"/>
  <p:embeddedFontLst>
    <p:embeddedFont>
      <p:font typeface="Arial MT Pro Bold" charset="1" panose="020B0802020202020204"/>
      <p:regular r:id="rId13"/>
    </p:embeddedFont>
    <p:embeddedFont>
      <p:font typeface="Arial MT Pro" charset="1" panose="020B0502020202020204"/>
      <p:regular r:id="rId14"/>
    </p:embeddedFont>
    <p:embeddedFont>
      <p:font typeface="Open Sans Bold" charset="1" panose="020B0806030504020204"/>
      <p:regular r:id="rId1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fonts/font13.fntdata" Type="http://schemas.openxmlformats.org/officeDocument/2006/relationships/font"/><Relationship Id="rId14" Target="fonts/font14.fntdata" Type="http://schemas.openxmlformats.org/officeDocument/2006/relationships/font"/><Relationship Id="rId15" Target="fonts/font15.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141519"/>
        </a:solidFill>
      </p:bgPr>
    </p:bg>
    <p:spTree>
      <p:nvGrpSpPr>
        <p:cNvPr id="1" name=""/>
        <p:cNvGrpSpPr/>
        <p:nvPr/>
      </p:nvGrpSpPr>
      <p:grpSpPr>
        <a:xfrm>
          <a:off x="0" y="0"/>
          <a:ext cx="0" cy="0"/>
          <a:chOff x="0" y="0"/>
          <a:chExt cx="0" cy="0"/>
        </a:xfrm>
      </p:grpSpPr>
      <p:sp>
        <p:nvSpPr>
          <p:cNvPr name="Freeform 2" id="2"/>
          <p:cNvSpPr/>
          <p:nvPr/>
        </p:nvSpPr>
        <p:spPr>
          <a:xfrm flipH="false" flipV="false" rot="0">
            <a:off x="7640554" y="1297534"/>
            <a:ext cx="11404113" cy="11487660"/>
          </a:xfrm>
          <a:custGeom>
            <a:avLst/>
            <a:gdLst/>
            <a:ahLst/>
            <a:cxnLst/>
            <a:rect r="r" b="b" t="t" l="l"/>
            <a:pathLst>
              <a:path h="11487660" w="11404113">
                <a:moveTo>
                  <a:pt x="0" y="0"/>
                </a:moveTo>
                <a:lnTo>
                  <a:pt x="11404113" y="0"/>
                </a:lnTo>
                <a:lnTo>
                  <a:pt x="11404113" y="11487660"/>
                </a:lnTo>
                <a:lnTo>
                  <a:pt x="0" y="11487660"/>
                </a:lnTo>
                <a:lnTo>
                  <a:pt x="0" y="0"/>
                </a:lnTo>
                <a:close/>
              </a:path>
            </a:pathLst>
          </a:custGeom>
          <a:blipFill>
            <a:blip r:embed="rId2">
              <a:alphaModFix amt="60000"/>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1383774">
            <a:off x="7959076" y="108644"/>
            <a:ext cx="11226909" cy="14341591"/>
            <a:chOff x="0" y="0"/>
            <a:chExt cx="2956881" cy="3777209"/>
          </a:xfrm>
        </p:grpSpPr>
        <p:sp>
          <p:nvSpPr>
            <p:cNvPr name="Freeform 4" id="4"/>
            <p:cNvSpPr/>
            <p:nvPr/>
          </p:nvSpPr>
          <p:spPr>
            <a:xfrm flipH="false" flipV="false" rot="0">
              <a:off x="0" y="0"/>
              <a:ext cx="2956881" cy="3777209"/>
            </a:xfrm>
            <a:custGeom>
              <a:avLst/>
              <a:gdLst/>
              <a:ahLst/>
              <a:cxnLst/>
              <a:rect r="r" b="b" t="t" l="l"/>
              <a:pathLst>
                <a:path h="3777209" w="2956881">
                  <a:moveTo>
                    <a:pt x="0" y="0"/>
                  </a:moveTo>
                  <a:lnTo>
                    <a:pt x="2956881" y="0"/>
                  </a:lnTo>
                  <a:lnTo>
                    <a:pt x="2956881" y="3777209"/>
                  </a:lnTo>
                  <a:lnTo>
                    <a:pt x="0" y="3777209"/>
                  </a:lnTo>
                  <a:close/>
                </a:path>
              </a:pathLst>
            </a:custGeom>
            <a:gradFill rotWithShape="true">
              <a:gsLst>
                <a:gs pos="0">
                  <a:srgbClr val="141519">
                    <a:alpha val="100000"/>
                  </a:srgbClr>
                </a:gs>
                <a:gs pos="100000">
                  <a:srgbClr val="141519">
                    <a:alpha val="0"/>
                  </a:srgbClr>
                </a:gs>
              </a:gsLst>
              <a:lin ang="0"/>
            </a:gradFill>
          </p:spPr>
        </p:sp>
        <p:sp>
          <p:nvSpPr>
            <p:cNvPr name="TextBox 5" id="5"/>
            <p:cNvSpPr txBox="true"/>
            <p:nvPr/>
          </p:nvSpPr>
          <p:spPr>
            <a:xfrm>
              <a:off x="0" y="28575"/>
              <a:ext cx="2956881" cy="3748634"/>
            </a:xfrm>
            <a:prstGeom prst="rect">
              <a:avLst/>
            </a:prstGeom>
          </p:spPr>
          <p:txBody>
            <a:bodyPr anchor="ctr" rtlCol="false" tIns="50800" lIns="50800" bIns="50800" rIns="50800"/>
            <a:lstStyle/>
            <a:p>
              <a:pPr algn="ctr">
                <a:lnSpc>
                  <a:spcPts val="2267"/>
                </a:lnSpc>
              </a:pPr>
            </a:p>
          </p:txBody>
        </p:sp>
      </p:grpSp>
      <p:grpSp>
        <p:nvGrpSpPr>
          <p:cNvPr name="Group 6" id="6"/>
          <p:cNvGrpSpPr/>
          <p:nvPr/>
        </p:nvGrpSpPr>
        <p:grpSpPr>
          <a:xfrm rot="1383774">
            <a:off x="5247729" y="-782428"/>
            <a:ext cx="10773748" cy="14341591"/>
            <a:chOff x="0" y="0"/>
            <a:chExt cx="2837530" cy="3777209"/>
          </a:xfrm>
        </p:grpSpPr>
        <p:sp>
          <p:nvSpPr>
            <p:cNvPr name="Freeform 7" id="7"/>
            <p:cNvSpPr/>
            <p:nvPr/>
          </p:nvSpPr>
          <p:spPr>
            <a:xfrm flipH="false" flipV="false" rot="0">
              <a:off x="0" y="0"/>
              <a:ext cx="2837530" cy="3777209"/>
            </a:xfrm>
            <a:custGeom>
              <a:avLst/>
              <a:gdLst/>
              <a:ahLst/>
              <a:cxnLst/>
              <a:rect r="r" b="b" t="t" l="l"/>
              <a:pathLst>
                <a:path h="3777209" w="2837530">
                  <a:moveTo>
                    <a:pt x="0" y="0"/>
                  </a:moveTo>
                  <a:lnTo>
                    <a:pt x="2837530" y="0"/>
                  </a:lnTo>
                  <a:lnTo>
                    <a:pt x="2837530" y="3777209"/>
                  </a:lnTo>
                  <a:lnTo>
                    <a:pt x="0" y="3777209"/>
                  </a:lnTo>
                  <a:close/>
                </a:path>
              </a:pathLst>
            </a:custGeom>
            <a:gradFill rotWithShape="true">
              <a:gsLst>
                <a:gs pos="0">
                  <a:srgbClr val="141519">
                    <a:alpha val="100000"/>
                  </a:srgbClr>
                </a:gs>
                <a:gs pos="100000">
                  <a:srgbClr val="141519">
                    <a:alpha val="0"/>
                  </a:srgbClr>
                </a:gs>
              </a:gsLst>
              <a:lin ang="0"/>
            </a:gradFill>
          </p:spPr>
        </p:sp>
        <p:sp>
          <p:nvSpPr>
            <p:cNvPr name="TextBox 8" id="8"/>
            <p:cNvSpPr txBox="true"/>
            <p:nvPr/>
          </p:nvSpPr>
          <p:spPr>
            <a:xfrm>
              <a:off x="0" y="28575"/>
              <a:ext cx="2837530" cy="3748634"/>
            </a:xfrm>
            <a:prstGeom prst="rect">
              <a:avLst/>
            </a:prstGeom>
          </p:spPr>
          <p:txBody>
            <a:bodyPr anchor="ctr" rtlCol="false" tIns="50800" lIns="50800" bIns="50800" rIns="50800"/>
            <a:lstStyle/>
            <a:p>
              <a:pPr algn="ctr">
                <a:lnSpc>
                  <a:spcPts val="2267"/>
                </a:lnSpc>
              </a:pPr>
            </a:p>
          </p:txBody>
        </p:sp>
      </p:grpSp>
      <p:sp>
        <p:nvSpPr>
          <p:cNvPr name="TextBox 9" id="9"/>
          <p:cNvSpPr txBox="true"/>
          <p:nvPr/>
        </p:nvSpPr>
        <p:spPr>
          <a:xfrm rot="0">
            <a:off x="1845665" y="2857441"/>
            <a:ext cx="9646320" cy="4421998"/>
          </a:xfrm>
          <a:prstGeom prst="rect">
            <a:avLst/>
          </a:prstGeom>
        </p:spPr>
        <p:txBody>
          <a:bodyPr anchor="t" rtlCol="false" tIns="0" lIns="0" bIns="0" rIns="0">
            <a:spAutoFit/>
          </a:bodyPr>
          <a:lstStyle/>
          <a:p>
            <a:pPr algn="l">
              <a:lnSpc>
                <a:spcPts val="10716"/>
              </a:lnSpc>
            </a:pPr>
            <a:r>
              <a:rPr lang="en-US" sz="12177" spc="-194" b="true">
                <a:solidFill>
                  <a:srgbClr val="FFFFFF"/>
                </a:solidFill>
                <a:latin typeface="Arial MT Pro Bold"/>
                <a:ea typeface="Arial MT Pro Bold"/>
                <a:cs typeface="Arial MT Pro Bold"/>
                <a:sym typeface="Arial MT Pro Bold"/>
              </a:rPr>
              <a:t>Retail Store Sales</a:t>
            </a:r>
          </a:p>
          <a:p>
            <a:pPr algn="l">
              <a:lnSpc>
                <a:spcPts val="10716"/>
              </a:lnSpc>
            </a:pPr>
          </a:p>
        </p:txBody>
      </p:sp>
      <p:sp>
        <p:nvSpPr>
          <p:cNvPr name="TextBox 10" id="10"/>
          <p:cNvSpPr txBox="true"/>
          <p:nvPr/>
        </p:nvSpPr>
        <p:spPr>
          <a:xfrm rot="0">
            <a:off x="2155435" y="6730936"/>
            <a:ext cx="5320647" cy="649431"/>
          </a:xfrm>
          <a:prstGeom prst="rect">
            <a:avLst/>
          </a:prstGeom>
        </p:spPr>
        <p:txBody>
          <a:bodyPr anchor="t" rtlCol="false" tIns="0" lIns="0" bIns="0" rIns="0">
            <a:spAutoFit/>
          </a:bodyPr>
          <a:lstStyle/>
          <a:p>
            <a:pPr algn="l">
              <a:lnSpc>
                <a:spcPts val="2306"/>
              </a:lnSpc>
            </a:pPr>
            <a:r>
              <a:rPr lang="en-US" sz="2621">
                <a:solidFill>
                  <a:srgbClr val="FFFFFF"/>
                </a:solidFill>
                <a:latin typeface="Arial MT Pro"/>
                <a:ea typeface="Arial MT Pro"/>
                <a:cs typeface="Arial MT Pro"/>
                <a:sym typeface="Arial MT Pro"/>
              </a:rPr>
              <a:t>Bass Egor, Komogorov Anton, Egor Gerasimov, Grigoriy Proshunin</a:t>
            </a:r>
          </a:p>
        </p:txBody>
      </p:sp>
      <p:grpSp>
        <p:nvGrpSpPr>
          <p:cNvPr name="Group 11" id="11"/>
          <p:cNvGrpSpPr/>
          <p:nvPr/>
        </p:nvGrpSpPr>
        <p:grpSpPr>
          <a:xfrm rot="0">
            <a:off x="1845665" y="6497192"/>
            <a:ext cx="5940186" cy="1088344"/>
            <a:chOff x="0" y="0"/>
            <a:chExt cx="2130331" cy="390313"/>
          </a:xfrm>
        </p:grpSpPr>
        <p:sp>
          <p:nvSpPr>
            <p:cNvPr name="Freeform 12" id="12"/>
            <p:cNvSpPr/>
            <p:nvPr/>
          </p:nvSpPr>
          <p:spPr>
            <a:xfrm flipH="false" flipV="false" rot="0">
              <a:off x="0" y="0"/>
              <a:ext cx="2130331" cy="390313"/>
            </a:xfrm>
            <a:custGeom>
              <a:avLst/>
              <a:gdLst/>
              <a:ahLst/>
              <a:cxnLst/>
              <a:rect r="r" b="b" t="t" l="l"/>
              <a:pathLst>
                <a:path h="390313" w="2130331">
                  <a:moveTo>
                    <a:pt x="1927131" y="0"/>
                  </a:moveTo>
                  <a:cubicBezTo>
                    <a:pt x="2039355" y="0"/>
                    <a:pt x="2130331" y="87375"/>
                    <a:pt x="2130331" y="195157"/>
                  </a:cubicBezTo>
                  <a:cubicBezTo>
                    <a:pt x="2130331" y="302939"/>
                    <a:pt x="2039355" y="390313"/>
                    <a:pt x="1927131" y="390313"/>
                  </a:cubicBezTo>
                  <a:lnTo>
                    <a:pt x="203200" y="390313"/>
                  </a:lnTo>
                  <a:cubicBezTo>
                    <a:pt x="90976" y="390313"/>
                    <a:pt x="0" y="302939"/>
                    <a:pt x="0" y="195157"/>
                  </a:cubicBezTo>
                  <a:cubicBezTo>
                    <a:pt x="0" y="87375"/>
                    <a:pt x="90976" y="0"/>
                    <a:pt x="203200" y="0"/>
                  </a:cubicBezTo>
                  <a:close/>
                </a:path>
              </a:pathLst>
            </a:custGeom>
            <a:ln w="9525" cap="sq">
              <a:solidFill>
                <a:srgbClr val="FFFFFF"/>
              </a:solidFill>
              <a:prstDash val="solid"/>
              <a:miter/>
            </a:ln>
          </p:spPr>
        </p:sp>
        <p:sp>
          <p:nvSpPr>
            <p:cNvPr name="TextBox 13" id="13"/>
            <p:cNvSpPr txBox="true"/>
            <p:nvPr/>
          </p:nvSpPr>
          <p:spPr>
            <a:xfrm>
              <a:off x="0" y="-38100"/>
              <a:ext cx="2130331" cy="428413"/>
            </a:xfrm>
            <a:prstGeom prst="rect">
              <a:avLst/>
            </a:prstGeom>
          </p:spPr>
          <p:txBody>
            <a:bodyPr anchor="ctr" rtlCol="false" tIns="50800" lIns="50800" bIns="50800" rIns="50800"/>
            <a:lstStyle/>
            <a:p>
              <a:pPr algn="ctr">
                <a:lnSpc>
                  <a:spcPts val="2659"/>
                </a:lnSpc>
                <a:spcBef>
                  <a:spcPct val="0"/>
                </a:spcBef>
              </a:pP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141519"/>
        </a:solidFill>
      </p:bgPr>
    </p:bg>
    <p:spTree>
      <p:nvGrpSpPr>
        <p:cNvPr id="1" name=""/>
        <p:cNvGrpSpPr/>
        <p:nvPr/>
      </p:nvGrpSpPr>
      <p:grpSpPr>
        <a:xfrm>
          <a:off x="0" y="0"/>
          <a:ext cx="0" cy="0"/>
          <a:chOff x="0" y="0"/>
          <a:chExt cx="0" cy="0"/>
        </a:xfrm>
      </p:grpSpPr>
      <p:grpSp>
        <p:nvGrpSpPr>
          <p:cNvPr name="Group 2" id="2"/>
          <p:cNvGrpSpPr/>
          <p:nvPr/>
        </p:nvGrpSpPr>
        <p:grpSpPr>
          <a:xfrm rot="-4011154">
            <a:off x="14044924" y="1464134"/>
            <a:ext cx="17403374" cy="18180272"/>
            <a:chOff x="0" y="0"/>
            <a:chExt cx="4583605" cy="4788220"/>
          </a:xfrm>
        </p:grpSpPr>
        <p:sp>
          <p:nvSpPr>
            <p:cNvPr name="Freeform 3" id="3"/>
            <p:cNvSpPr/>
            <p:nvPr/>
          </p:nvSpPr>
          <p:spPr>
            <a:xfrm flipH="false" flipV="false" rot="0">
              <a:off x="0" y="0"/>
              <a:ext cx="4583605" cy="4788220"/>
            </a:xfrm>
            <a:custGeom>
              <a:avLst/>
              <a:gdLst/>
              <a:ahLst/>
              <a:cxnLst/>
              <a:rect r="r" b="b" t="t" l="l"/>
              <a:pathLst>
                <a:path h="4788220" w="4583605">
                  <a:moveTo>
                    <a:pt x="0" y="0"/>
                  </a:moveTo>
                  <a:lnTo>
                    <a:pt x="4583605" y="0"/>
                  </a:lnTo>
                  <a:lnTo>
                    <a:pt x="4583605" y="4788220"/>
                  </a:lnTo>
                  <a:lnTo>
                    <a:pt x="0" y="4788220"/>
                  </a:lnTo>
                  <a:close/>
                </a:path>
              </a:pathLst>
            </a:custGeom>
            <a:gradFill rotWithShape="true">
              <a:gsLst>
                <a:gs pos="0">
                  <a:srgbClr val="27DDDF">
                    <a:alpha val="0"/>
                  </a:srgbClr>
                </a:gs>
                <a:gs pos="100000">
                  <a:srgbClr val="27DDDF">
                    <a:alpha val="100000"/>
                  </a:srgbClr>
                </a:gs>
              </a:gsLst>
              <a:lin ang="5400000"/>
            </a:gradFill>
          </p:spPr>
        </p:sp>
        <p:sp>
          <p:nvSpPr>
            <p:cNvPr name="TextBox 4" id="4"/>
            <p:cNvSpPr txBox="true"/>
            <p:nvPr/>
          </p:nvSpPr>
          <p:spPr>
            <a:xfrm>
              <a:off x="0" y="19050"/>
              <a:ext cx="4583605" cy="4769170"/>
            </a:xfrm>
            <a:prstGeom prst="rect">
              <a:avLst/>
            </a:prstGeom>
          </p:spPr>
          <p:txBody>
            <a:bodyPr anchor="ctr" rtlCol="false" tIns="50800" lIns="50800" bIns="50800" rIns="50800"/>
            <a:lstStyle/>
            <a:p>
              <a:pPr algn="ctr">
                <a:lnSpc>
                  <a:spcPts val="1387"/>
                </a:lnSpc>
              </a:pPr>
            </a:p>
          </p:txBody>
        </p:sp>
      </p:grpSp>
      <p:grpSp>
        <p:nvGrpSpPr>
          <p:cNvPr name="Group 5" id="5"/>
          <p:cNvGrpSpPr/>
          <p:nvPr/>
        </p:nvGrpSpPr>
        <p:grpSpPr>
          <a:xfrm rot="0">
            <a:off x="2054482" y="4949018"/>
            <a:ext cx="5784422" cy="3959411"/>
            <a:chOff x="0" y="0"/>
            <a:chExt cx="1523469" cy="1042808"/>
          </a:xfrm>
        </p:grpSpPr>
        <p:sp>
          <p:nvSpPr>
            <p:cNvPr name="Freeform 6" id="6"/>
            <p:cNvSpPr/>
            <p:nvPr/>
          </p:nvSpPr>
          <p:spPr>
            <a:xfrm flipH="false" flipV="false" rot="0">
              <a:off x="0" y="0"/>
              <a:ext cx="1523469" cy="1042808"/>
            </a:xfrm>
            <a:custGeom>
              <a:avLst/>
              <a:gdLst/>
              <a:ahLst/>
              <a:cxnLst/>
              <a:rect r="r" b="b" t="t" l="l"/>
              <a:pathLst>
                <a:path h="1042808" w="1523469">
                  <a:moveTo>
                    <a:pt x="68259" y="0"/>
                  </a:moveTo>
                  <a:lnTo>
                    <a:pt x="1455210" y="0"/>
                  </a:lnTo>
                  <a:cubicBezTo>
                    <a:pt x="1473314" y="0"/>
                    <a:pt x="1490675" y="7192"/>
                    <a:pt x="1503476" y="19993"/>
                  </a:cubicBezTo>
                  <a:cubicBezTo>
                    <a:pt x="1516278" y="32794"/>
                    <a:pt x="1523469" y="50155"/>
                    <a:pt x="1523469" y="68259"/>
                  </a:cubicBezTo>
                  <a:lnTo>
                    <a:pt x="1523469" y="974549"/>
                  </a:lnTo>
                  <a:cubicBezTo>
                    <a:pt x="1523469" y="1012247"/>
                    <a:pt x="1492908" y="1042808"/>
                    <a:pt x="1455210" y="1042808"/>
                  </a:cubicBezTo>
                  <a:lnTo>
                    <a:pt x="68259" y="1042808"/>
                  </a:lnTo>
                  <a:cubicBezTo>
                    <a:pt x="50155" y="1042808"/>
                    <a:pt x="32794" y="1035616"/>
                    <a:pt x="19993" y="1022815"/>
                  </a:cubicBezTo>
                  <a:cubicBezTo>
                    <a:pt x="7192" y="1010014"/>
                    <a:pt x="0" y="992652"/>
                    <a:pt x="0" y="974549"/>
                  </a:cubicBezTo>
                  <a:lnTo>
                    <a:pt x="0" y="68259"/>
                  </a:lnTo>
                  <a:cubicBezTo>
                    <a:pt x="0" y="30561"/>
                    <a:pt x="30561" y="0"/>
                    <a:pt x="68259" y="0"/>
                  </a:cubicBezTo>
                  <a:close/>
                </a:path>
              </a:pathLst>
            </a:custGeom>
            <a:gradFill rotWithShape="true">
              <a:gsLst>
                <a:gs pos="0">
                  <a:srgbClr val="141519">
                    <a:alpha val="0"/>
                  </a:srgbClr>
                </a:gs>
                <a:gs pos="100000">
                  <a:srgbClr val="141519">
                    <a:alpha val="57000"/>
                  </a:srgbClr>
                </a:gs>
              </a:gsLst>
              <a:lin ang="5400000"/>
            </a:gradFill>
          </p:spPr>
        </p:sp>
        <p:sp>
          <p:nvSpPr>
            <p:cNvPr name="TextBox 7" id="7"/>
            <p:cNvSpPr txBox="true"/>
            <p:nvPr/>
          </p:nvSpPr>
          <p:spPr>
            <a:xfrm>
              <a:off x="0" y="19050"/>
              <a:ext cx="1523469" cy="1023758"/>
            </a:xfrm>
            <a:prstGeom prst="rect">
              <a:avLst/>
            </a:prstGeom>
          </p:spPr>
          <p:txBody>
            <a:bodyPr anchor="ctr" rtlCol="false" tIns="50800" lIns="50800" bIns="50800" rIns="50800"/>
            <a:lstStyle/>
            <a:p>
              <a:pPr algn="ctr">
                <a:lnSpc>
                  <a:spcPts val="1387"/>
                </a:lnSpc>
              </a:pPr>
            </a:p>
          </p:txBody>
        </p:sp>
      </p:grpSp>
      <p:grpSp>
        <p:nvGrpSpPr>
          <p:cNvPr name="Group 8" id="8"/>
          <p:cNvGrpSpPr/>
          <p:nvPr/>
        </p:nvGrpSpPr>
        <p:grpSpPr>
          <a:xfrm rot="0">
            <a:off x="9324603" y="799269"/>
            <a:ext cx="5434050" cy="705218"/>
            <a:chOff x="0" y="0"/>
            <a:chExt cx="1417549" cy="183966"/>
          </a:xfrm>
        </p:grpSpPr>
        <p:sp>
          <p:nvSpPr>
            <p:cNvPr name="Freeform 9" id="9"/>
            <p:cNvSpPr/>
            <p:nvPr/>
          </p:nvSpPr>
          <p:spPr>
            <a:xfrm flipH="false" flipV="false" rot="0">
              <a:off x="0" y="0"/>
              <a:ext cx="1417549" cy="183966"/>
            </a:xfrm>
            <a:custGeom>
              <a:avLst/>
              <a:gdLst/>
              <a:ahLst/>
              <a:cxnLst/>
              <a:rect r="r" b="b" t="t" l="l"/>
              <a:pathLst>
                <a:path h="183966" w="1417549">
                  <a:moveTo>
                    <a:pt x="29919" y="0"/>
                  </a:moveTo>
                  <a:lnTo>
                    <a:pt x="1387630" y="0"/>
                  </a:lnTo>
                  <a:cubicBezTo>
                    <a:pt x="1404154" y="0"/>
                    <a:pt x="1417549" y="13395"/>
                    <a:pt x="1417549" y="29919"/>
                  </a:cubicBezTo>
                  <a:lnTo>
                    <a:pt x="1417549" y="154047"/>
                  </a:lnTo>
                  <a:cubicBezTo>
                    <a:pt x="1417549" y="170571"/>
                    <a:pt x="1404154" y="183966"/>
                    <a:pt x="1387630" y="183966"/>
                  </a:cubicBezTo>
                  <a:lnTo>
                    <a:pt x="29919" y="183966"/>
                  </a:lnTo>
                  <a:cubicBezTo>
                    <a:pt x="13395" y="183966"/>
                    <a:pt x="0" y="170571"/>
                    <a:pt x="0" y="154047"/>
                  </a:cubicBezTo>
                  <a:lnTo>
                    <a:pt x="0" y="29919"/>
                  </a:lnTo>
                  <a:cubicBezTo>
                    <a:pt x="0" y="13395"/>
                    <a:pt x="13395" y="0"/>
                    <a:pt x="29919" y="0"/>
                  </a:cubicBezTo>
                  <a:close/>
                </a:path>
              </a:pathLst>
            </a:custGeom>
            <a:solidFill>
              <a:srgbClr val="202127"/>
            </a:solidFill>
          </p:spPr>
        </p:sp>
        <p:sp>
          <p:nvSpPr>
            <p:cNvPr name="TextBox 10" id="10"/>
            <p:cNvSpPr txBox="true"/>
            <p:nvPr/>
          </p:nvSpPr>
          <p:spPr>
            <a:xfrm>
              <a:off x="0" y="19050"/>
              <a:ext cx="1417549" cy="164916"/>
            </a:xfrm>
            <a:prstGeom prst="rect">
              <a:avLst/>
            </a:prstGeom>
          </p:spPr>
          <p:txBody>
            <a:bodyPr anchor="ctr" rtlCol="false" tIns="50800" lIns="50800" bIns="50800" rIns="50800"/>
            <a:lstStyle/>
            <a:p>
              <a:pPr algn="ctr">
                <a:lnSpc>
                  <a:spcPts val="1387"/>
                </a:lnSpc>
              </a:pPr>
            </a:p>
          </p:txBody>
        </p:sp>
      </p:grpSp>
      <p:grpSp>
        <p:nvGrpSpPr>
          <p:cNvPr name="Group 11" id="11"/>
          <p:cNvGrpSpPr/>
          <p:nvPr/>
        </p:nvGrpSpPr>
        <p:grpSpPr>
          <a:xfrm rot="0">
            <a:off x="9324603" y="1790366"/>
            <a:ext cx="5434050" cy="705218"/>
            <a:chOff x="0" y="0"/>
            <a:chExt cx="1417549" cy="183966"/>
          </a:xfrm>
        </p:grpSpPr>
        <p:sp>
          <p:nvSpPr>
            <p:cNvPr name="Freeform 12" id="12"/>
            <p:cNvSpPr/>
            <p:nvPr/>
          </p:nvSpPr>
          <p:spPr>
            <a:xfrm flipH="false" flipV="false" rot="0">
              <a:off x="0" y="0"/>
              <a:ext cx="1417549" cy="183966"/>
            </a:xfrm>
            <a:custGeom>
              <a:avLst/>
              <a:gdLst/>
              <a:ahLst/>
              <a:cxnLst/>
              <a:rect r="r" b="b" t="t" l="l"/>
              <a:pathLst>
                <a:path h="183966" w="1417549">
                  <a:moveTo>
                    <a:pt x="29919" y="0"/>
                  </a:moveTo>
                  <a:lnTo>
                    <a:pt x="1387630" y="0"/>
                  </a:lnTo>
                  <a:cubicBezTo>
                    <a:pt x="1404154" y="0"/>
                    <a:pt x="1417549" y="13395"/>
                    <a:pt x="1417549" y="29919"/>
                  </a:cubicBezTo>
                  <a:lnTo>
                    <a:pt x="1417549" y="154047"/>
                  </a:lnTo>
                  <a:cubicBezTo>
                    <a:pt x="1417549" y="170571"/>
                    <a:pt x="1404154" y="183966"/>
                    <a:pt x="1387630" y="183966"/>
                  </a:cubicBezTo>
                  <a:lnTo>
                    <a:pt x="29919" y="183966"/>
                  </a:lnTo>
                  <a:cubicBezTo>
                    <a:pt x="13395" y="183966"/>
                    <a:pt x="0" y="170571"/>
                    <a:pt x="0" y="154047"/>
                  </a:cubicBezTo>
                  <a:lnTo>
                    <a:pt x="0" y="29919"/>
                  </a:lnTo>
                  <a:cubicBezTo>
                    <a:pt x="0" y="13395"/>
                    <a:pt x="13395" y="0"/>
                    <a:pt x="29919" y="0"/>
                  </a:cubicBezTo>
                  <a:close/>
                </a:path>
              </a:pathLst>
            </a:custGeom>
            <a:solidFill>
              <a:srgbClr val="202127"/>
            </a:solidFill>
          </p:spPr>
        </p:sp>
        <p:sp>
          <p:nvSpPr>
            <p:cNvPr name="TextBox 13" id="13"/>
            <p:cNvSpPr txBox="true"/>
            <p:nvPr/>
          </p:nvSpPr>
          <p:spPr>
            <a:xfrm>
              <a:off x="0" y="19050"/>
              <a:ext cx="1417549" cy="164916"/>
            </a:xfrm>
            <a:prstGeom prst="rect">
              <a:avLst/>
            </a:prstGeom>
          </p:spPr>
          <p:txBody>
            <a:bodyPr anchor="ctr" rtlCol="false" tIns="50800" lIns="50800" bIns="50800" rIns="50800"/>
            <a:lstStyle/>
            <a:p>
              <a:pPr algn="ctr">
                <a:lnSpc>
                  <a:spcPts val="1387"/>
                </a:lnSpc>
              </a:pPr>
            </a:p>
          </p:txBody>
        </p:sp>
      </p:grpSp>
      <p:grpSp>
        <p:nvGrpSpPr>
          <p:cNvPr name="Group 14" id="14"/>
          <p:cNvGrpSpPr/>
          <p:nvPr/>
        </p:nvGrpSpPr>
        <p:grpSpPr>
          <a:xfrm rot="0">
            <a:off x="9324603" y="2780219"/>
            <a:ext cx="5434050" cy="705218"/>
            <a:chOff x="0" y="0"/>
            <a:chExt cx="1417549" cy="183966"/>
          </a:xfrm>
        </p:grpSpPr>
        <p:sp>
          <p:nvSpPr>
            <p:cNvPr name="Freeform 15" id="15"/>
            <p:cNvSpPr/>
            <p:nvPr/>
          </p:nvSpPr>
          <p:spPr>
            <a:xfrm flipH="false" flipV="false" rot="0">
              <a:off x="0" y="0"/>
              <a:ext cx="1417549" cy="183966"/>
            </a:xfrm>
            <a:custGeom>
              <a:avLst/>
              <a:gdLst/>
              <a:ahLst/>
              <a:cxnLst/>
              <a:rect r="r" b="b" t="t" l="l"/>
              <a:pathLst>
                <a:path h="183966" w="1417549">
                  <a:moveTo>
                    <a:pt x="29919" y="0"/>
                  </a:moveTo>
                  <a:lnTo>
                    <a:pt x="1387630" y="0"/>
                  </a:lnTo>
                  <a:cubicBezTo>
                    <a:pt x="1404154" y="0"/>
                    <a:pt x="1417549" y="13395"/>
                    <a:pt x="1417549" y="29919"/>
                  </a:cubicBezTo>
                  <a:lnTo>
                    <a:pt x="1417549" y="154047"/>
                  </a:lnTo>
                  <a:cubicBezTo>
                    <a:pt x="1417549" y="170571"/>
                    <a:pt x="1404154" y="183966"/>
                    <a:pt x="1387630" y="183966"/>
                  </a:cubicBezTo>
                  <a:lnTo>
                    <a:pt x="29919" y="183966"/>
                  </a:lnTo>
                  <a:cubicBezTo>
                    <a:pt x="13395" y="183966"/>
                    <a:pt x="0" y="170571"/>
                    <a:pt x="0" y="154047"/>
                  </a:cubicBezTo>
                  <a:lnTo>
                    <a:pt x="0" y="29919"/>
                  </a:lnTo>
                  <a:cubicBezTo>
                    <a:pt x="0" y="13395"/>
                    <a:pt x="13395" y="0"/>
                    <a:pt x="29919" y="0"/>
                  </a:cubicBezTo>
                  <a:close/>
                </a:path>
              </a:pathLst>
            </a:custGeom>
            <a:solidFill>
              <a:srgbClr val="202127"/>
            </a:solidFill>
          </p:spPr>
        </p:sp>
        <p:sp>
          <p:nvSpPr>
            <p:cNvPr name="TextBox 16" id="16"/>
            <p:cNvSpPr txBox="true"/>
            <p:nvPr/>
          </p:nvSpPr>
          <p:spPr>
            <a:xfrm>
              <a:off x="0" y="19050"/>
              <a:ext cx="1417549" cy="164916"/>
            </a:xfrm>
            <a:prstGeom prst="rect">
              <a:avLst/>
            </a:prstGeom>
          </p:spPr>
          <p:txBody>
            <a:bodyPr anchor="ctr" rtlCol="false" tIns="50800" lIns="50800" bIns="50800" rIns="50800"/>
            <a:lstStyle/>
            <a:p>
              <a:pPr algn="ctr">
                <a:lnSpc>
                  <a:spcPts val="1387"/>
                </a:lnSpc>
              </a:pPr>
            </a:p>
          </p:txBody>
        </p:sp>
      </p:grpSp>
      <p:grpSp>
        <p:nvGrpSpPr>
          <p:cNvPr name="Group 17" id="17"/>
          <p:cNvGrpSpPr/>
          <p:nvPr/>
        </p:nvGrpSpPr>
        <p:grpSpPr>
          <a:xfrm rot="0">
            <a:off x="9324603" y="3770072"/>
            <a:ext cx="5434050" cy="705218"/>
            <a:chOff x="0" y="0"/>
            <a:chExt cx="1417549" cy="183966"/>
          </a:xfrm>
        </p:grpSpPr>
        <p:sp>
          <p:nvSpPr>
            <p:cNvPr name="Freeform 18" id="18"/>
            <p:cNvSpPr/>
            <p:nvPr/>
          </p:nvSpPr>
          <p:spPr>
            <a:xfrm flipH="false" flipV="false" rot="0">
              <a:off x="0" y="0"/>
              <a:ext cx="1417549" cy="183966"/>
            </a:xfrm>
            <a:custGeom>
              <a:avLst/>
              <a:gdLst/>
              <a:ahLst/>
              <a:cxnLst/>
              <a:rect r="r" b="b" t="t" l="l"/>
              <a:pathLst>
                <a:path h="183966" w="1417549">
                  <a:moveTo>
                    <a:pt x="29919" y="0"/>
                  </a:moveTo>
                  <a:lnTo>
                    <a:pt x="1387630" y="0"/>
                  </a:lnTo>
                  <a:cubicBezTo>
                    <a:pt x="1404154" y="0"/>
                    <a:pt x="1417549" y="13395"/>
                    <a:pt x="1417549" y="29919"/>
                  </a:cubicBezTo>
                  <a:lnTo>
                    <a:pt x="1417549" y="154047"/>
                  </a:lnTo>
                  <a:cubicBezTo>
                    <a:pt x="1417549" y="170571"/>
                    <a:pt x="1404154" y="183966"/>
                    <a:pt x="1387630" y="183966"/>
                  </a:cubicBezTo>
                  <a:lnTo>
                    <a:pt x="29919" y="183966"/>
                  </a:lnTo>
                  <a:cubicBezTo>
                    <a:pt x="13395" y="183966"/>
                    <a:pt x="0" y="170571"/>
                    <a:pt x="0" y="154047"/>
                  </a:cubicBezTo>
                  <a:lnTo>
                    <a:pt x="0" y="29919"/>
                  </a:lnTo>
                  <a:cubicBezTo>
                    <a:pt x="0" y="13395"/>
                    <a:pt x="13395" y="0"/>
                    <a:pt x="29919" y="0"/>
                  </a:cubicBezTo>
                  <a:close/>
                </a:path>
              </a:pathLst>
            </a:custGeom>
            <a:solidFill>
              <a:srgbClr val="202127"/>
            </a:solidFill>
          </p:spPr>
        </p:sp>
        <p:sp>
          <p:nvSpPr>
            <p:cNvPr name="TextBox 19" id="19"/>
            <p:cNvSpPr txBox="true"/>
            <p:nvPr/>
          </p:nvSpPr>
          <p:spPr>
            <a:xfrm>
              <a:off x="0" y="19050"/>
              <a:ext cx="1417549" cy="164916"/>
            </a:xfrm>
            <a:prstGeom prst="rect">
              <a:avLst/>
            </a:prstGeom>
          </p:spPr>
          <p:txBody>
            <a:bodyPr anchor="ctr" rtlCol="false" tIns="50800" lIns="50800" bIns="50800" rIns="50800"/>
            <a:lstStyle/>
            <a:p>
              <a:pPr algn="ctr">
                <a:lnSpc>
                  <a:spcPts val="1387"/>
                </a:lnSpc>
              </a:pPr>
            </a:p>
          </p:txBody>
        </p:sp>
      </p:grpSp>
      <p:grpSp>
        <p:nvGrpSpPr>
          <p:cNvPr name="Group 20" id="20"/>
          <p:cNvGrpSpPr/>
          <p:nvPr/>
        </p:nvGrpSpPr>
        <p:grpSpPr>
          <a:xfrm rot="0">
            <a:off x="9324603" y="4759924"/>
            <a:ext cx="5434050" cy="705218"/>
            <a:chOff x="0" y="0"/>
            <a:chExt cx="1417549" cy="183966"/>
          </a:xfrm>
        </p:grpSpPr>
        <p:sp>
          <p:nvSpPr>
            <p:cNvPr name="Freeform 21" id="21"/>
            <p:cNvSpPr/>
            <p:nvPr/>
          </p:nvSpPr>
          <p:spPr>
            <a:xfrm flipH="false" flipV="false" rot="0">
              <a:off x="0" y="0"/>
              <a:ext cx="1417549" cy="183966"/>
            </a:xfrm>
            <a:custGeom>
              <a:avLst/>
              <a:gdLst/>
              <a:ahLst/>
              <a:cxnLst/>
              <a:rect r="r" b="b" t="t" l="l"/>
              <a:pathLst>
                <a:path h="183966" w="1417549">
                  <a:moveTo>
                    <a:pt x="29919" y="0"/>
                  </a:moveTo>
                  <a:lnTo>
                    <a:pt x="1387630" y="0"/>
                  </a:lnTo>
                  <a:cubicBezTo>
                    <a:pt x="1404154" y="0"/>
                    <a:pt x="1417549" y="13395"/>
                    <a:pt x="1417549" y="29919"/>
                  </a:cubicBezTo>
                  <a:lnTo>
                    <a:pt x="1417549" y="154047"/>
                  </a:lnTo>
                  <a:cubicBezTo>
                    <a:pt x="1417549" y="170571"/>
                    <a:pt x="1404154" y="183966"/>
                    <a:pt x="1387630" y="183966"/>
                  </a:cubicBezTo>
                  <a:lnTo>
                    <a:pt x="29919" y="183966"/>
                  </a:lnTo>
                  <a:cubicBezTo>
                    <a:pt x="13395" y="183966"/>
                    <a:pt x="0" y="170571"/>
                    <a:pt x="0" y="154047"/>
                  </a:cubicBezTo>
                  <a:lnTo>
                    <a:pt x="0" y="29919"/>
                  </a:lnTo>
                  <a:cubicBezTo>
                    <a:pt x="0" y="13395"/>
                    <a:pt x="13395" y="0"/>
                    <a:pt x="29919" y="0"/>
                  </a:cubicBezTo>
                  <a:close/>
                </a:path>
              </a:pathLst>
            </a:custGeom>
            <a:solidFill>
              <a:srgbClr val="202127"/>
            </a:solidFill>
          </p:spPr>
        </p:sp>
        <p:sp>
          <p:nvSpPr>
            <p:cNvPr name="TextBox 22" id="22"/>
            <p:cNvSpPr txBox="true"/>
            <p:nvPr/>
          </p:nvSpPr>
          <p:spPr>
            <a:xfrm>
              <a:off x="0" y="19050"/>
              <a:ext cx="1417549" cy="164916"/>
            </a:xfrm>
            <a:prstGeom prst="rect">
              <a:avLst/>
            </a:prstGeom>
          </p:spPr>
          <p:txBody>
            <a:bodyPr anchor="ctr" rtlCol="false" tIns="50800" lIns="50800" bIns="50800" rIns="50800"/>
            <a:lstStyle/>
            <a:p>
              <a:pPr algn="ctr">
                <a:lnSpc>
                  <a:spcPts val="1387"/>
                </a:lnSpc>
              </a:pPr>
            </a:p>
          </p:txBody>
        </p:sp>
      </p:grpSp>
      <p:grpSp>
        <p:nvGrpSpPr>
          <p:cNvPr name="Group 23" id="23"/>
          <p:cNvGrpSpPr/>
          <p:nvPr/>
        </p:nvGrpSpPr>
        <p:grpSpPr>
          <a:xfrm rot="0">
            <a:off x="9324603" y="5749777"/>
            <a:ext cx="5434050" cy="705218"/>
            <a:chOff x="0" y="0"/>
            <a:chExt cx="1417549" cy="183966"/>
          </a:xfrm>
        </p:grpSpPr>
        <p:sp>
          <p:nvSpPr>
            <p:cNvPr name="Freeform 24" id="24"/>
            <p:cNvSpPr/>
            <p:nvPr/>
          </p:nvSpPr>
          <p:spPr>
            <a:xfrm flipH="false" flipV="false" rot="0">
              <a:off x="0" y="0"/>
              <a:ext cx="1417549" cy="183966"/>
            </a:xfrm>
            <a:custGeom>
              <a:avLst/>
              <a:gdLst/>
              <a:ahLst/>
              <a:cxnLst/>
              <a:rect r="r" b="b" t="t" l="l"/>
              <a:pathLst>
                <a:path h="183966" w="1417549">
                  <a:moveTo>
                    <a:pt x="29919" y="0"/>
                  </a:moveTo>
                  <a:lnTo>
                    <a:pt x="1387630" y="0"/>
                  </a:lnTo>
                  <a:cubicBezTo>
                    <a:pt x="1404154" y="0"/>
                    <a:pt x="1417549" y="13395"/>
                    <a:pt x="1417549" y="29919"/>
                  </a:cubicBezTo>
                  <a:lnTo>
                    <a:pt x="1417549" y="154047"/>
                  </a:lnTo>
                  <a:cubicBezTo>
                    <a:pt x="1417549" y="170571"/>
                    <a:pt x="1404154" y="183966"/>
                    <a:pt x="1387630" y="183966"/>
                  </a:cubicBezTo>
                  <a:lnTo>
                    <a:pt x="29919" y="183966"/>
                  </a:lnTo>
                  <a:cubicBezTo>
                    <a:pt x="13395" y="183966"/>
                    <a:pt x="0" y="170571"/>
                    <a:pt x="0" y="154047"/>
                  </a:cubicBezTo>
                  <a:lnTo>
                    <a:pt x="0" y="29919"/>
                  </a:lnTo>
                  <a:cubicBezTo>
                    <a:pt x="0" y="13395"/>
                    <a:pt x="13395" y="0"/>
                    <a:pt x="29919" y="0"/>
                  </a:cubicBezTo>
                  <a:close/>
                </a:path>
              </a:pathLst>
            </a:custGeom>
            <a:solidFill>
              <a:srgbClr val="202127"/>
            </a:solidFill>
          </p:spPr>
        </p:sp>
        <p:sp>
          <p:nvSpPr>
            <p:cNvPr name="TextBox 25" id="25"/>
            <p:cNvSpPr txBox="true"/>
            <p:nvPr/>
          </p:nvSpPr>
          <p:spPr>
            <a:xfrm>
              <a:off x="0" y="19050"/>
              <a:ext cx="1417549" cy="164916"/>
            </a:xfrm>
            <a:prstGeom prst="rect">
              <a:avLst/>
            </a:prstGeom>
          </p:spPr>
          <p:txBody>
            <a:bodyPr anchor="ctr" rtlCol="false" tIns="50800" lIns="50800" bIns="50800" rIns="50800"/>
            <a:lstStyle/>
            <a:p>
              <a:pPr algn="ctr">
                <a:lnSpc>
                  <a:spcPts val="1387"/>
                </a:lnSpc>
              </a:pPr>
            </a:p>
          </p:txBody>
        </p:sp>
      </p:grpSp>
      <p:grpSp>
        <p:nvGrpSpPr>
          <p:cNvPr name="Group 26" id="26"/>
          <p:cNvGrpSpPr/>
          <p:nvPr/>
        </p:nvGrpSpPr>
        <p:grpSpPr>
          <a:xfrm rot="0">
            <a:off x="9383233" y="6740745"/>
            <a:ext cx="5434050" cy="705218"/>
            <a:chOff x="0" y="0"/>
            <a:chExt cx="1417549" cy="183966"/>
          </a:xfrm>
        </p:grpSpPr>
        <p:sp>
          <p:nvSpPr>
            <p:cNvPr name="Freeform 27" id="27"/>
            <p:cNvSpPr/>
            <p:nvPr/>
          </p:nvSpPr>
          <p:spPr>
            <a:xfrm flipH="false" flipV="false" rot="0">
              <a:off x="0" y="0"/>
              <a:ext cx="1417549" cy="183966"/>
            </a:xfrm>
            <a:custGeom>
              <a:avLst/>
              <a:gdLst/>
              <a:ahLst/>
              <a:cxnLst/>
              <a:rect r="r" b="b" t="t" l="l"/>
              <a:pathLst>
                <a:path h="183966" w="1417549">
                  <a:moveTo>
                    <a:pt x="29919" y="0"/>
                  </a:moveTo>
                  <a:lnTo>
                    <a:pt x="1387630" y="0"/>
                  </a:lnTo>
                  <a:cubicBezTo>
                    <a:pt x="1404154" y="0"/>
                    <a:pt x="1417549" y="13395"/>
                    <a:pt x="1417549" y="29919"/>
                  </a:cubicBezTo>
                  <a:lnTo>
                    <a:pt x="1417549" y="154047"/>
                  </a:lnTo>
                  <a:cubicBezTo>
                    <a:pt x="1417549" y="170571"/>
                    <a:pt x="1404154" y="183966"/>
                    <a:pt x="1387630" y="183966"/>
                  </a:cubicBezTo>
                  <a:lnTo>
                    <a:pt x="29919" y="183966"/>
                  </a:lnTo>
                  <a:cubicBezTo>
                    <a:pt x="13395" y="183966"/>
                    <a:pt x="0" y="170571"/>
                    <a:pt x="0" y="154047"/>
                  </a:cubicBezTo>
                  <a:lnTo>
                    <a:pt x="0" y="29919"/>
                  </a:lnTo>
                  <a:cubicBezTo>
                    <a:pt x="0" y="13395"/>
                    <a:pt x="13395" y="0"/>
                    <a:pt x="29919" y="0"/>
                  </a:cubicBezTo>
                  <a:close/>
                </a:path>
              </a:pathLst>
            </a:custGeom>
            <a:solidFill>
              <a:srgbClr val="202127"/>
            </a:solidFill>
          </p:spPr>
        </p:sp>
        <p:sp>
          <p:nvSpPr>
            <p:cNvPr name="TextBox 28" id="28"/>
            <p:cNvSpPr txBox="true"/>
            <p:nvPr/>
          </p:nvSpPr>
          <p:spPr>
            <a:xfrm>
              <a:off x="0" y="19050"/>
              <a:ext cx="1417549" cy="164916"/>
            </a:xfrm>
            <a:prstGeom prst="rect">
              <a:avLst/>
            </a:prstGeom>
          </p:spPr>
          <p:txBody>
            <a:bodyPr anchor="ctr" rtlCol="false" tIns="50800" lIns="50800" bIns="50800" rIns="50800"/>
            <a:lstStyle/>
            <a:p>
              <a:pPr algn="ctr">
                <a:lnSpc>
                  <a:spcPts val="1387"/>
                </a:lnSpc>
              </a:pPr>
            </a:p>
          </p:txBody>
        </p:sp>
      </p:grpSp>
      <p:grpSp>
        <p:nvGrpSpPr>
          <p:cNvPr name="Group 29" id="29"/>
          <p:cNvGrpSpPr/>
          <p:nvPr/>
        </p:nvGrpSpPr>
        <p:grpSpPr>
          <a:xfrm rot="0">
            <a:off x="9383233" y="7731714"/>
            <a:ext cx="5434050" cy="705218"/>
            <a:chOff x="0" y="0"/>
            <a:chExt cx="1417549" cy="183966"/>
          </a:xfrm>
        </p:grpSpPr>
        <p:sp>
          <p:nvSpPr>
            <p:cNvPr name="Freeform 30" id="30"/>
            <p:cNvSpPr/>
            <p:nvPr/>
          </p:nvSpPr>
          <p:spPr>
            <a:xfrm flipH="false" flipV="false" rot="0">
              <a:off x="0" y="0"/>
              <a:ext cx="1417549" cy="183966"/>
            </a:xfrm>
            <a:custGeom>
              <a:avLst/>
              <a:gdLst/>
              <a:ahLst/>
              <a:cxnLst/>
              <a:rect r="r" b="b" t="t" l="l"/>
              <a:pathLst>
                <a:path h="183966" w="1417549">
                  <a:moveTo>
                    <a:pt x="29919" y="0"/>
                  </a:moveTo>
                  <a:lnTo>
                    <a:pt x="1387630" y="0"/>
                  </a:lnTo>
                  <a:cubicBezTo>
                    <a:pt x="1404154" y="0"/>
                    <a:pt x="1417549" y="13395"/>
                    <a:pt x="1417549" y="29919"/>
                  </a:cubicBezTo>
                  <a:lnTo>
                    <a:pt x="1417549" y="154047"/>
                  </a:lnTo>
                  <a:cubicBezTo>
                    <a:pt x="1417549" y="170571"/>
                    <a:pt x="1404154" y="183966"/>
                    <a:pt x="1387630" y="183966"/>
                  </a:cubicBezTo>
                  <a:lnTo>
                    <a:pt x="29919" y="183966"/>
                  </a:lnTo>
                  <a:cubicBezTo>
                    <a:pt x="13395" y="183966"/>
                    <a:pt x="0" y="170571"/>
                    <a:pt x="0" y="154047"/>
                  </a:cubicBezTo>
                  <a:lnTo>
                    <a:pt x="0" y="29919"/>
                  </a:lnTo>
                  <a:cubicBezTo>
                    <a:pt x="0" y="13395"/>
                    <a:pt x="13395" y="0"/>
                    <a:pt x="29919" y="0"/>
                  </a:cubicBezTo>
                  <a:close/>
                </a:path>
              </a:pathLst>
            </a:custGeom>
            <a:solidFill>
              <a:srgbClr val="202127"/>
            </a:solidFill>
          </p:spPr>
        </p:sp>
        <p:sp>
          <p:nvSpPr>
            <p:cNvPr name="TextBox 31" id="31"/>
            <p:cNvSpPr txBox="true"/>
            <p:nvPr/>
          </p:nvSpPr>
          <p:spPr>
            <a:xfrm>
              <a:off x="0" y="19050"/>
              <a:ext cx="1417549" cy="164916"/>
            </a:xfrm>
            <a:prstGeom prst="rect">
              <a:avLst/>
            </a:prstGeom>
          </p:spPr>
          <p:txBody>
            <a:bodyPr anchor="ctr" rtlCol="false" tIns="50800" lIns="50800" bIns="50800" rIns="50800"/>
            <a:lstStyle/>
            <a:p>
              <a:pPr algn="ctr">
                <a:lnSpc>
                  <a:spcPts val="1387"/>
                </a:lnSpc>
              </a:pPr>
            </a:p>
          </p:txBody>
        </p:sp>
      </p:grpSp>
      <p:grpSp>
        <p:nvGrpSpPr>
          <p:cNvPr name="Group 32" id="32"/>
          <p:cNvGrpSpPr/>
          <p:nvPr/>
        </p:nvGrpSpPr>
        <p:grpSpPr>
          <a:xfrm rot="0">
            <a:off x="9383233" y="8722682"/>
            <a:ext cx="5434050" cy="705218"/>
            <a:chOff x="0" y="0"/>
            <a:chExt cx="1417549" cy="183966"/>
          </a:xfrm>
        </p:grpSpPr>
        <p:sp>
          <p:nvSpPr>
            <p:cNvPr name="Freeform 33" id="33"/>
            <p:cNvSpPr/>
            <p:nvPr/>
          </p:nvSpPr>
          <p:spPr>
            <a:xfrm flipH="false" flipV="false" rot="0">
              <a:off x="0" y="0"/>
              <a:ext cx="1417549" cy="183966"/>
            </a:xfrm>
            <a:custGeom>
              <a:avLst/>
              <a:gdLst/>
              <a:ahLst/>
              <a:cxnLst/>
              <a:rect r="r" b="b" t="t" l="l"/>
              <a:pathLst>
                <a:path h="183966" w="1417549">
                  <a:moveTo>
                    <a:pt x="29919" y="0"/>
                  </a:moveTo>
                  <a:lnTo>
                    <a:pt x="1387630" y="0"/>
                  </a:lnTo>
                  <a:cubicBezTo>
                    <a:pt x="1404154" y="0"/>
                    <a:pt x="1417549" y="13395"/>
                    <a:pt x="1417549" y="29919"/>
                  </a:cubicBezTo>
                  <a:lnTo>
                    <a:pt x="1417549" y="154047"/>
                  </a:lnTo>
                  <a:cubicBezTo>
                    <a:pt x="1417549" y="170571"/>
                    <a:pt x="1404154" y="183966"/>
                    <a:pt x="1387630" y="183966"/>
                  </a:cubicBezTo>
                  <a:lnTo>
                    <a:pt x="29919" y="183966"/>
                  </a:lnTo>
                  <a:cubicBezTo>
                    <a:pt x="13395" y="183966"/>
                    <a:pt x="0" y="170571"/>
                    <a:pt x="0" y="154047"/>
                  </a:cubicBezTo>
                  <a:lnTo>
                    <a:pt x="0" y="29919"/>
                  </a:lnTo>
                  <a:cubicBezTo>
                    <a:pt x="0" y="13395"/>
                    <a:pt x="13395" y="0"/>
                    <a:pt x="29919" y="0"/>
                  </a:cubicBezTo>
                  <a:close/>
                </a:path>
              </a:pathLst>
            </a:custGeom>
            <a:solidFill>
              <a:srgbClr val="202127"/>
            </a:solidFill>
          </p:spPr>
        </p:sp>
        <p:sp>
          <p:nvSpPr>
            <p:cNvPr name="TextBox 34" id="34"/>
            <p:cNvSpPr txBox="true"/>
            <p:nvPr/>
          </p:nvSpPr>
          <p:spPr>
            <a:xfrm>
              <a:off x="0" y="19050"/>
              <a:ext cx="1417549" cy="164916"/>
            </a:xfrm>
            <a:prstGeom prst="rect">
              <a:avLst/>
            </a:prstGeom>
          </p:spPr>
          <p:txBody>
            <a:bodyPr anchor="ctr" rtlCol="false" tIns="50800" lIns="50800" bIns="50800" rIns="50800"/>
            <a:lstStyle/>
            <a:p>
              <a:pPr algn="ctr">
                <a:lnSpc>
                  <a:spcPts val="1387"/>
                </a:lnSpc>
              </a:pPr>
            </a:p>
          </p:txBody>
        </p:sp>
      </p:grpSp>
      <p:sp>
        <p:nvSpPr>
          <p:cNvPr name="Freeform 35" id="35"/>
          <p:cNvSpPr/>
          <p:nvPr/>
        </p:nvSpPr>
        <p:spPr>
          <a:xfrm flipH="false" flipV="false" rot="0">
            <a:off x="1633913" y="1939120"/>
            <a:ext cx="5938680" cy="6178541"/>
          </a:xfrm>
          <a:custGeom>
            <a:avLst/>
            <a:gdLst/>
            <a:ahLst/>
            <a:cxnLst/>
            <a:rect r="r" b="b" t="t" l="l"/>
            <a:pathLst>
              <a:path h="6178541" w="5938680">
                <a:moveTo>
                  <a:pt x="0" y="0"/>
                </a:moveTo>
                <a:lnTo>
                  <a:pt x="5938680" y="0"/>
                </a:lnTo>
                <a:lnTo>
                  <a:pt x="5938680" y="6178541"/>
                </a:lnTo>
                <a:lnTo>
                  <a:pt x="0" y="6178541"/>
                </a:lnTo>
                <a:lnTo>
                  <a:pt x="0" y="0"/>
                </a:lnTo>
                <a:close/>
              </a:path>
            </a:pathLst>
          </a:custGeom>
          <a:blipFill>
            <a:blip r:embed="rId2"/>
            <a:stretch>
              <a:fillRect l="-20603" t="0" r="-35260" b="0"/>
            </a:stretch>
          </a:blipFill>
        </p:spPr>
      </p:sp>
      <p:grpSp>
        <p:nvGrpSpPr>
          <p:cNvPr name="Group 36" id="36"/>
          <p:cNvGrpSpPr/>
          <p:nvPr/>
        </p:nvGrpSpPr>
        <p:grpSpPr>
          <a:xfrm rot="0">
            <a:off x="1028700" y="5983498"/>
            <a:ext cx="5373765" cy="3086100"/>
            <a:chOff x="0" y="0"/>
            <a:chExt cx="1415312" cy="812800"/>
          </a:xfrm>
        </p:grpSpPr>
        <p:sp>
          <p:nvSpPr>
            <p:cNvPr name="Freeform 37" id="37"/>
            <p:cNvSpPr/>
            <p:nvPr/>
          </p:nvSpPr>
          <p:spPr>
            <a:xfrm flipH="false" flipV="false" rot="0">
              <a:off x="0" y="0"/>
              <a:ext cx="1415312" cy="812800"/>
            </a:xfrm>
            <a:custGeom>
              <a:avLst/>
              <a:gdLst/>
              <a:ahLst/>
              <a:cxnLst/>
              <a:rect r="r" b="b" t="t" l="l"/>
              <a:pathLst>
                <a:path h="812800" w="1415312">
                  <a:moveTo>
                    <a:pt x="0" y="0"/>
                  </a:moveTo>
                  <a:lnTo>
                    <a:pt x="1415312" y="0"/>
                  </a:lnTo>
                  <a:lnTo>
                    <a:pt x="1415312" y="812800"/>
                  </a:lnTo>
                  <a:lnTo>
                    <a:pt x="0" y="812800"/>
                  </a:lnTo>
                  <a:close/>
                </a:path>
              </a:pathLst>
            </a:custGeom>
            <a:solidFill>
              <a:srgbClr val="202127"/>
            </a:solidFill>
            <a:ln w="38100" cap="sq">
              <a:solidFill>
                <a:srgbClr val="FFFFFF"/>
              </a:solidFill>
              <a:prstDash val="solid"/>
              <a:miter/>
            </a:ln>
          </p:spPr>
        </p:sp>
        <p:sp>
          <p:nvSpPr>
            <p:cNvPr name="TextBox 38" id="38"/>
            <p:cNvSpPr txBox="true"/>
            <p:nvPr/>
          </p:nvSpPr>
          <p:spPr>
            <a:xfrm>
              <a:off x="0" y="19050"/>
              <a:ext cx="1415312" cy="793750"/>
            </a:xfrm>
            <a:prstGeom prst="rect">
              <a:avLst/>
            </a:prstGeom>
          </p:spPr>
          <p:txBody>
            <a:bodyPr anchor="ctr" rtlCol="false" tIns="50800" lIns="50800" bIns="50800" rIns="50800"/>
            <a:lstStyle/>
            <a:p>
              <a:pPr algn="ctr">
                <a:lnSpc>
                  <a:spcPts val="1387"/>
                </a:lnSpc>
              </a:pPr>
            </a:p>
          </p:txBody>
        </p:sp>
      </p:grpSp>
      <p:sp>
        <p:nvSpPr>
          <p:cNvPr name="TextBox 39" id="39"/>
          <p:cNvSpPr txBox="true"/>
          <p:nvPr/>
        </p:nvSpPr>
        <p:spPr>
          <a:xfrm rot="0">
            <a:off x="9815081" y="1052039"/>
            <a:ext cx="3088392" cy="285404"/>
          </a:xfrm>
          <a:prstGeom prst="rect">
            <a:avLst/>
          </a:prstGeom>
        </p:spPr>
        <p:txBody>
          <a:bodyPr anchor="t" rtlCol="false" tIns="0" lIns="0" bIns="0" rIns="0">
            <a:spAutoFit/>
          </a:bodyPr>
          <a:lstStyle/>
          <a:p>
            <a:pPr algn="l">
              <a:lnSpc>
                <a:spcPts val="1793"/>
              </a:lnSpc>
            </a:pPr>
            <a:r>
              <a:rPr lang="en-US" sz="2037">
                <a:solidFill>
                  <a:srgbClr val="FFFFFF"/>
                </a:solidFill>
                <a:latin typeface="Arial MT Pro"/>
                <a:ea typeface="Arial MT Pro"/>
                <a:cs typeface="Arial MT Pro"/>
                <a:sym typeface="Arial MT Pro"/>
              </a:rPr>
              <a:t>SQL - Egor G</a:t>
            </a:r>
          </a:p>
        </p:txBody>
      </p:sp>
      <p:sp>
        <p:nvSpPr>
          <p:cNvPr name="TextBox 40" id="40"/>
          <p:cNvSpPr txBox="true"/>
          <p:nvPr/>
        </p:nvSpPr>
        <p:spPr>
          <a:xfrm rot="0">
            <a:off x="9815081" y="2043137"/>
            <a:ext cx="3088392" cy="285404"/>
          </a:xfrm>
          <a:prstGeom prst="rect">
            <a:avLst/>
          </a:prstGeom>
        </p:spPr>
        <p:txBody>
          <a:bodyPr anchor="t" rtlCol="false" tIns="0" lIns="0" bIns="0" rIns="0">
            <a:spAutoFit/>
          </a:bodyPr>
          <a:lstStyle/>
          <a:p>
            <a:pPr algn="l">
              <a:lnSpc>
                <a:spcPts val="1793"/>
              </a:lnSpc>
            </a:pPr>
            <a:r>
              <a:rPr lang="en-US" sz="2037">
                <a:solidFill>
                  <a:srgbClr val="FFFFFF"/>
                </a:solidFill>
                <a:latin typeface="Arial MT Pro"/>
                <a:ea typeface="Arial MT Pro"/>
                <a:cs typeface="Arial MT Pro"/>
                <a:sym typeface="Arial MT Pro"/>
              </a:rPr>
              <a:t>PD - Egor G</a:t>
            </a:r>
          </a:p>
        </p:txBody>
      </p:sp>
      <p:sp>
        <p:nvSpPr>
          <p:cNvPr name="TextBox 41" id="41"/>
          <p:cNvSpPr txBox="true"/>
          <p:nvPr/>
        </p:nvSpPr>
        <p:spPr>
          <a:xfrm rot="0">
            <a:off x="1768482" y="6550245"/>
            <a:ext cx="5108149" cy="2212817"/>
          </a:xfrm>
          <a:prstGeom prst="rect">
            <a:avLst/>
          </a:prstGeom>
        </p:spPr>
        <p:txBody>
          <a:bodyPr anchor="t" rtlCol="false" tIns="0" lIns="0" bIns="0" rIns="0">
            <a:spAutoFit/>
          </a:bodyPr>
          <a:lstStyle/>
          <a:p>
            <a:pPr algn="l">
              <a:lnSpc>
                <a:spcPts val="7721"/>
              </a:lnSpc>
            </a:pPr>
            <a:r>
              <a:rPr lang="en-US" sz="8774" spc="-140" b="true">
                <a:solidFill>
                  <a:srgbClr val="FFFFFF"/>
                </a:solidFill>
                <a:latin typeface="Arial MT Pro Bold"/>
                <a:ea typeface="Arial MT Pro Bold"/>
                <a:cs typeface="Arial MT Pro Bold"/>
                <a:sym typeface="Arial MT Pro Bold"/>
              </a:rPr>
              <a:t>Total 9 tasks</a:t>
            </a:r>
          </a:p>
        </p:txBody>
      </p:sp>
      <p:sp>
        <p:nvSpPr>
          <p:cNvPr name="TextBox 42" id="42"/>
          <p:cNvSpPr txBox="true"/>
          <p:nvPr/>
        </p:nvSpPr>
        <p:spPr>
          <a:xfrm rot="0">
            <a:off x="9815081" y="3038509"/>
            <a:ext cx="3088392" cy="285404"/>
          </a:xfrm>
          <a:prstGeom prst="rect">
            <a:avLst/>
          </a:prstGeom>
        </p:spPr>
        <p:txBody>
          <a:bodyPr anchor="t" rtlCol="false" tIns="0" lIns="0" bIns="0" rIns="0">
            <a:spAutoFit/>
          </a:bodyPr>
          <a:lstStyle/>
          <a:p>
            <a:pPr algn="l">
              <a:lnSpc>
                <a:spcPts val="1793"/>
              </a:lnSpc>
            </a:pPr>
            <a:r>
              <a:rPr lang="en-US" sz="2037">
                <a:solidFill>
                  <a:srgbClr val="FFFFFF"/>
                </a:solidFill>
                <a:latin typeface="Arial MT Pro"/>
                <a:ea typeface="Arial MT Pro"/>
                <a:cs typeface="Arial MT Pro"/>
                <a:sym typeface="Arial MT Pro"/>
              </a:rPr>
              <a:t>PD - Grigoriy</a:t>
            </a:r>
          </a:p>
        </p:txBody>
      </p:sp>
      <p:sp>
        <p:nvSpPr>
          <p:cNvPr name="TextBox 43" id="43"/>
          <p:cNvSpPr txBox="true"/>
          <p:nvPr/>
        </p:nvSpPr>
        <p:spPr>
          <a:xfrm rot="0">
            <a:off x="9815081" y="3989504"/>
            <a:ext cx="3088392" cy="285404"/>
          </a:xfrm>
          <a:prstGeom prst="rect">
            <a:avLst/>
          </a:prstGeom>
        </p:spPr>
        <p:txBody>
          <a:bodyPr anchor="t" rtlCol="false" tIns="0" lIns="0" bIns="0" rIns="0">
            <a:spAutoFit/>
          </a:bodyPr>
          <a:lstStyle/>
          <a:p>
            <a:pPr algn="l">
              <a:lnSpc>
                <a:spcPts val="1793"/>
              </a:lnSpc>
            </a:pPr>
            <a:r>
              <a:rPr lang="en-US" sz="2037">
                <a:solidFill>
                  <a:srgbClr val="FFFFFF"/>
                </a:solidFill>
                <a:latin typeface="Arial MT Pro"/>
                <a:ea typeface="Arial MT Pro"/>
                <a:cs typeface="Arial MT Pro"/>
                <a:sym typeface="Arial MT Pro"/>
              </a:rPr>
              <a:t>PD - Grigoriy</a:t>
            </a:r>
          </a:p>
        </p:txBody>
      </p:sp>
      <p:sp>
        <p:nvSpPr>
          <p:cNvPr name="TextBox 44" id="44"/>
          <p:cNvSpPr txBox="true"/>
          <p:nvPr/>
        </p:nvSpPr>
        <p:spPr>
          <a:xfrm rot="0">
            <a:off x="9815081" y="4980115"/>
            <a:ext cx="3088392" cy="285404"/>
          </a:xfrm>
          <a:prstGeom prst="rect">
            <a:avLst/>
          </a:prstGeom>
        </p:spPr>
        <p:txBody>
          <a:bodyPr anchor="t" rtlCol="false" tIns="0" lIns="0" bIns="0" rIns="0">
            <a:spAutoFit/>
          </a:bodyPr>
          <a:lstStyle/>
          <a:p>
            <a:pPr algn="l">
              <a:lnSpc>
                <a:spcPts val="1793"/>
              </a:lnSpc>
            </a:pPr>
            <a:r>
              <a:rPr lang="en-US" sz="2037">
                <a:solidFill>
                  <a:srgbClr val="FFFFFF"/>
                </a:solidFill>
                <a:latin typeface="Arial MT Pro"/>
                <a:ea typeface="Arial MT Pro"/>
                <a:cs typeface="Arial MT Pro"/>
                <a:sym typeface="Arial MT Pro"/>
              </a:rPr>
              <a:t>SQL - Anton</a:t>
            </a:r>
          </a:p>
        </p:txBody>
      </p:sp>
      <p:sp>
        <p:nvSpPr>
          <p:cNvPr name="TextBox 45" id="45"/>
          <p:cNvSpPr txBox="true"/>
          <p:nvPr/>
        </p:nvSpPr>
        <p:spPr>
          <a:xfrm rot="0">
            <a:off x="9815081" y="5969968"/>
            <a:ext cx="3088392" cy="285404"/>
          </a:xfrm>
          <a:prstGeom prst="rect">
            <a:avLst/>
          </a:prstGeom>
        </p:spPr>
        <p:txBody>
          <a:bodyPr anchor="t" rtlCol="false" tIns="0" lIns="0" bIns="0" rIns="0">
            <a:spAutoFit/>
          </a:bodyPr>
          <a:lstStyle/>
          <a:p>
            <a:pPr algn="l">
              <a:lnSpc>
                <a:spcPts val="1793"/>
              </a:lnSpc>
            </a:pPr>
            <a:r>
              <a:rPr lang="en-US" sz="2037">
                <a:solidFill>
                  <a:srgbClr val="FFFFFF"/>
                </a:solidFill>
                <a:latin typeface="Arial MT Pro"/>
                <a:ea typeface="Arial MT Pro"/>
                <a:cs typeface="Arial MT Pro"/>
                <a:sym typeface="Arial MT Pro"/>
              </a:rPr>
              <a:t>SQL - Anton</a:t>
            </a:r>
          </a:p>
        </p:txBody>
      </p:sp>
      <p:sp>
        <p:nvSpPr>
          <p:cNvPr name="TextBox 46" id="46"/>
          <p:cNvSpPr txBox="true"/>
          <p:nvPr/>
        </p:nvSpPr>
        <p:spPr>
          <a:xfrm rot="0">
            <a:off x="9815081" y="6960177"/>
            <a:ext cx="3088392" cy="285404"/>
          </a:xfrm>
          <a:prstGeom prst="rect">
            <a:avLst/>
          </a:prstGeom>
        </p:spPr>
        <p:txBody>
          <a:bodyPr anchor="t" rtlCol="false" tIns="0" lIns="0" bIns="0" rIns="0">
            <a:spAutoFit/>
          </a:bodyPr>
          <a:lstStyle/>
          <a:p>
            <a:pPr algn="l">
              <a:lnSpc>
                <a:spcPts val="1793"/>
              </a:lnSpc>
            </a:pPr>
            <a:r>
              <a:rPr lang="en-US" sz="2037">
                <a:solidFill>
                  <a:srgbClr val="FFFFFF"/>
                </a:solidFill>
                <a:latin typeface="Arial MT Pro"/>
                <a:ea typeface="Arial MT Pro"/>
                <a:cs typeface="Arial MT Pro"/>
                <a:sym typeface="Arial MT Pro"/>
              </a:rPr>
              <a:t>SQL - Anton </a:t>
            </a:r>
          </a:p>
        </p:txBody>
      </p:sp>
      <p:sp>
        <p:nvSpPr>
          <p:cNvPr name="TextBox 47" id="47"/>
          <p:cNvSpPr txBox="true"/>
          <p:nvPr/>
        </p:nvSpPr>
        <p:spPr>
          <a:xfrm rot="0">
            <a:off x="9815081" y="7950789"/>
            <a:ext cx="3088392" cy="285404"/>
          </a:xfrm>
          <a:prstGeom prst="rect">
            <a:avLst/>
          </a:prstGeom>
        </p:spPr>
        <p:txBody>
          <a:bodyPr anchor="t" rtlCol="false" tIns="0" lIns="0" bIns="0" rIns="0">
            <a:spAutoFit/>
          </a:bodyPr>
          <a:lstStyle/>
          <a:p>
            <a:pPr algn="l">
              <a:lnSpc>
                <a:spcPts val="1793"/>
              </a:lnSpc>
            </a:pPr>
            <a:r>
              <a:rPr lang="en-US" sz="2037">
                <a:solidFill>
                  <a:srgbClr val="FFFFFF"/>
                </a:solidFill>
                <a:latin typeface="Arial MT Pro"/>
                <a:ea typeface="Arial MT Pro"/>
                <a:cs typeface="Arial MT Pro"/>
                <a:sym typeface="Arial MT Pro"/>
              </a:rPr>
              <a:t>SQL - Egor B</a:t>
            </a:r>
          </a:p>
        </p:txBody>
      </p:sp>
      <p:sp>
        <p:nvSpPr>
          <p:cNvPr name="TextBox 48" id="48"/>
          <p:cNvSpPr txBox="true"/>
          <p:nvPr/>
        </p:nvSpPr>
        <p:spPr>
          <a:xfrm rot="0">
            <a:off x="9815081" y="8942114"/>
            <a:ext cx="3088392" cy="285404"/>
          </a:xfrm>
          <a:prstGeom prst="rect">
            <a:avLst/>
          </a:prstGeom>
        </p:spPr>
        <p:txBody>
          <a:bodyPr anchor="t" rtlCol="false" tIns="0" lIns="0" bIns="0" rIns="0">
            <a:spAutoFit/>
          </a:bodyPr>
          <a:lstStyle/>
          <a:p>
            <a:pPr algn="l">
              <a:lnSpc>
                <a:spcPts val="1793"/>
              </a:lnSpc>
            </a:pPr>
            <a:r>
              <a:rPr lang="en-US" sz="2037">
                <a:solidFill>
                  <a:srgbClr val="FFFFFF"/>
                </a:solidFill>
                <a:latin typeface="Arial MT Pro"/>
                <a:ea typeface="Arial MT Pro"/>
                <a:cs typeface="Arial MT Pro"/>
                <a:sym typeface="Arial MT Pro"/>
              </a:rPr>
              <a:t>SQL - Egor B</a:t>
            </a:r>
          </a:p>
        </p:txBody>
      </p:sp>
    </p:spTree>
  </p:cSld>
  <p:clrMapOvr>
    <a:masterClrMapping/>
  </p:clrMapOvr>
</p:sld>
</file>

<file path=ppt/slides/slide3.xml><?xml version="1.0" encoding="utf-8"?>
<p:sld xmlns:p="http://schemas.openxmlformats.org/presentationml/2006/main" xmlns:a="http://schemas.openxmlformats.org/drawingml/2006/main">
  <p:cSld>
    <p:bg>
      <p:bgPr>
        <a:solidFill>
          <a:srgbClr val="141519"/>
        </a:solidFill>
      </p:bgPr>
    </p:bg>
    <p:spTree>
      <p:nvGrpSpPr>
        <p:cNvPr id="1" name=""/>
        <p:cNvGrpSpPr/>
        <p:nvPr/>
      </p:nvGrpSpPr>
      <p:grpSpPr>
        <a:xfrm>
          <a:off x="0" y="0"/>
          <a:ext cx="0" cy="0"/>
          <a:chOff x="0" y="0"/>
          <a:chExt cx="0" cy="0"/>
        </a:xfrm>
      </p:grpSpPr>
      <p:grpSp>
        <p:nvGrpSpPr>
          <p:cNvPr name="Group 2" id="2"/>
          <p:cNvGrpSpPr/>
          <p:nvPr/>
        </p:nvGrpSpPr>
        <p:grpSpPr>
          <a:xfrm rot="-4011154">
            <a:off x="5131762" y="-1880268"/>
            <a:ext cx="17403374" cy="18180272"/>
            <a:chOff x="0" y="0"/>
            <a:chExt cx="4583605" cy="4788220"/>
          </a:xfrm>
        </p:grpSpPr>
        <p:sp>
          <p:nvSpPr>
            <p:cNvPr name="Freeform 3" id="3"/>
            <p:cNvSpPr/>
            <p:nvPr/>
          </p:nvSpPr>
          <p:spPr>
            <a:xfrm flipH="false" flipV="false" rot="0">
              <a:off x="0" y="0"/>
              <a:ext cx="4583605" cy="4788220"/>
            </a:xfrm>
            <a:custGeom>
              <a:avLst/>
              <a:gdLst/>
              <a:ahLst/>
              <a:cxnLst/>
              <a:rect r="r" b="b" t="t" l="l"/>
              <a:pathLst>
                <a:path h="4788220" w="4583605">
                  <a:moveTo>
                    <a:pt x="0" y="0"/>
                  </a:moveTo>
                  <a:lnTo>
                    <a:pt x="4583605" y="0"/>
                  </a:lnTo>
                  <a:lnTo>
                    <a:pt x="4583605" y="4788220"/>
                  </a:lnTo>
                  <a:lnTo>
                    <a:pt x="0" y="4788220"/>
                  </a:lnTo>
                  <a:close/>
                </a:path>
              </a:pathLst>
            </a:custGeom>
            <a:gradFill rotWithShape="true">
              <a:gsLst>
                <a:gs pos="0">
                  <a:srgbClr val="27DDDF">
                    <a:alpha val="0"/>
                  </a:srgbClr>
                </a:gs>
                <a:gs pos="100000">
                  <a:srgbClr val="27DDDF">
                    <a:alpha val="100000"/>
                  </a:srgbClr>
                </a:gs>
              </a:gsLst>
              <a:lin ang="5400000"/>
            </a:gradFill>
          </p:spPr>
        </p:sp>
        <p:sp>
          <p:nvSpPr>
            <p:cNvPr name="TextBox 4" id="4"/>
            <p:cNvSpPr txBox="true"/>
            <p:nvPr/>
          </p:nvSpPr>
          <p:spPr>
            <a:xfrm>
              <a:off x="0" y="19050"/>
              <a:ext cx="4583605" cy="4769170"/>
            </a:xfrm>
            <a:prstGeom prst="rect">
              <a:avLst/>
            </a:prstGeom>
          </p:spPr>
          <p:txBody>
            <a:bodyPr anchor="ctr" rtlCol="false" tIns="50800" lIns="50800" bIns="50800" rIns="50800"/>
            <a:lstStyle/>
            <a:p>
              <a:pPr algn="ctr">
                <a:lnSpc>
                  <a:spcPts val="1387"/>
                </a:lnSpc>
              </a:pPr>
            </a:p>
          </p:txBody>
        </p:sp>
      </p:grpSp>
      <p:grpSp>
        <p:nvGrpSpPr>
          <p:cNvPr name="Group 5" id="5"/>
          <p:cNvGrpSpPr/>
          <p:nvPr/>
        </p:nvGrpSpPr>
        <p:grpSpPr>
          <a:xfrm rot="0">
            <a:off x="1028700" y="5007844"/>
            <a:ext cx="8163054" cy="4139819"/>
            <a:chOff x="0" y="0"/>
            <a:chExt cx="1867198" cy="946933"/>
          </a:xfrm>
        </p:grpSpPr>
        <p:sp>
          <p:nvSpPr>
            <p:cNvPr name="Freeform 6" id="6"/>
            <p:cNvSpPr/>
            <p:nvPr/>
          </p:nvSpPr>
          <p:spPr>
            <a:xfrm flipH="false" flipV="false" rot="0">
              <a:off x="0" y="0"/>
              <a:ext cx="1867198" cy="946933"/>
            </a:xfrm>
            <a:custGeom>
              <a:avLst/>
              <a:gdLst/>
              <a:ahLst/>
              <a:cxnLst/>
              <a:rect r="r" b="b" t="t" l="l"/>
              <a:pathLst>
                <a:path h="946933" w="1867198">
                  <a:moveTo>
                    <a:pt x="36040" y="0"/>
                  </a:moveTo>
                  <a:lnTo>
                    <a:pt x="1831159" y="0"/>
                  </a:lnTo>
                  <a:cubicBezTo>
                    <a:pt x="1840717" y="0"/>
                    <a:pt x="1849884" y="3797"/>
                    <a:pt x="1856642" y="10556"/>
                  </a:cubicBezTo>
                  <a:cubicBezTo>
                    <a:pt x="1863401" y="17314"/>
                    <a:pt x="1867198" y="26481"/>
                    <a:pt x="1867198" y="36040"/>
                  </a:cubicBezTo>
                  <a:lnTo>
                    <a:pt x="1867198" y="910893"/>
                  </a:lnTo>
                  <a:cubicBezTo>
                    <a:pt x="1867198" y="930797"/>
                    <a:pt x="1851063" y="946933"/>
                    <a:pt x="1831159" y="946933"/>
                  </a:cubicBezTo>
                  <a:lnTo>
                    <a:pt x="36040" y="946933"/>
                  </a:lnTo>
                  <a:cubicBezTo>
                    <a:pt x="16135" y="946933"/>
                    <a:pt x="0" y="930797"/>
                    <a:pt x="0" y="910893"/>
                  </a:cubicBezTo>
                  <a:lnTo>
                    <a:pt x="0" y="36040"/>
                  </a:lnTo>
                  <a:cubicBezTo>
                    <a:pt x="0" y="16135"/>
                    <a:pt x="16135" y="0"/>
                    <a:pt x="36040" y="0"/>
                  </a:cubicBezTo>
                  <a:close/>
                </a:path>
              </a:pathLst>
            </a:custGeom>
            <a:solidFill>
              <a:srgbClr val="202127"/>
            </a:solidFill>
            <a:ln w="38100" cap="rnd">
              <a:solidFill>
                <a:srgbClr val="FFFFFF"/>
              </a:solidFill>
              <a:prstDash val="solid"/>
              <a:round/>
            </a:ln>
          </p:spPr>
        </p:sp>
        <p:sp>
          <p:nvSpPr>
            <p:cNvPr name="TextBox 7" id="7"/>
            <p:cNvSpPr txBox="true"/>
            <p:nvPr/>
          </p:nvSpPr>
          <p:spPr>
            <a:xfrm>
              <a:off x="0" y="19050"/>
              <a:ext cx="1867198" cy="927883"/>
            </a:xfrm>
            <a:prstGeom prst="rect">
              <a:avLst/>
            </a:prstGeom>
          </p:spPr>
          <p:txBody>
            <a:bodyPr anchor="ctr" rtlCol="false" tIns="50800" lIns="50800" bIns="50800" rIns="50800"/>
            <a:lstStyle/>
            <a:p>
              <a:pPr algn="ctr">
                <a:lnSpc>
                  <a:spcPts val="1387"/>
                </a:lnSpc>
              </a:pPr>
            </a:p>
          </p:txBody>
        </p:sp>
      </p:grpSp>
      <p:grpSp>
        <p:nvGrpSpPr>
          <p:cNvPr name="Group 8" id="8"/>
          <p:cNvGrpSpPr/>
          <p:nvPr/>
        </p:nvGrpSpPr>
        <p:grpSpPr>
          <a:xfrm rot="0">
            <a:off x="9679437" y="1259285"/>
            <a:ext cx="7579863" cy="7888377"/>
            <a:chOff x="0" y="0"/>
            <a:chExt cx="1733800" cy="1804369"/>
          </a:xfrm>
        </p:grpSpPr>
        <p:sp>
          <p:nvSpPr>
            <p:cNvPr name="Freeform 9" id="9"/>
            <p:cNvSpPr/>
            <p:nvPr/>
          </p:nvSpPr>
          <p:spPr>
            <a:xfrm flipH="false" flipV="false" rot="0">
              <a:off x="0" y="0"/>
              <a:ext cx="1733801" cy="1804369"/>
            </a:xfrm>
            <a:custGeom>
              <a:avLst/>
              <a:gdLst/>
              <a:ahLst/>
              <a:cxnLst/>
              <a:rect r="r" b="b" t="t" l="l"/>
              <a:pathLst>
                <a:path h="1804369" w="1733801">
                  <a:moveTo>
                    <a:pt x="38812" y="0"/>
                  </a:moveTo>
                  <a:lnTo>
                    <a:pt x="1694988" y="0"/>
                  </a:lnTo>
                  <a:cubicBezTo>
                    <a:pt x="1716424" y="0"/>
                    <a:pt x="1733801" y="17377"/>
                    <a:pt x="1733801" y="38812"/>
                  </a:cubicBezTo>
                  <a:lnTo>
                    <a:pt x="1733801" y="1765557"/>
                  </a:lnTo>
                  <a:cubicBezTo>
                    <a:pt x="1733801" y="1786992"/>
                    <a:pt x="1716424" y="1804369"/>
                    <a:pt x="1694988" y="1804369"/>
                  </a:cubicBezTo>
                  <a:lnTo>
                    <a:pt x="38812" y="1804369"/>
                  </a:lnTo>
                  <a:cubicBezTo>
                    <a:pt x="17377" y="1804369"/>
                    <a:pt x="0" y="1786992"/>
                    <a:pt x="0" y="1765557"/>
                  </a:cubicBezTo>
                  <a:lnTo>
                    <a:pt x="0" y="38812"/>
                  </a:lnTo>
                  <a:cubicBezTo>
                    <a:pt x="0" y="17377"/>
                    <a:pt x="17377" y="0"/>
                    <a:pt x="38812" y="0"/>
                  </a:cubicBezTo>
                  <a:close/>
                </a:path>
              </a:pathLst>
            </a:custGeom>
            <a:solidFill>
              <a:srgbClr val="202127"/>
            </a:solidFill>
            <a:ln w="38100" cap="rnd">
              <a:solidFill>
                <a:srgbClr val="FFFFFF"/>
              </a:solidFill>
              <a:prstDash val="solid"/>
              <a:round/>
            </a:ln>
          </p:spPr>
        </p:sp>
        <p:sp>
          <p:nvSpPr>
            <p:cNvPr name="TextBox 10" id="10"/>
            <p:cNvSpPr txBox="true"/>
            <p:nvPr/>
          </p:nvSpPr>
          <p:spPr>
            <a:xfrm>
              <a:off x="0" y="19050"/>
              <a:ext cx="1733800" cy="1785319"/>
            </a:xfrm>
            <a:prstGeom prst="rect">
              <a:avLst/>
            </a:prstGeom>
          </p:spPr>
          <p:txBody>
            <a:bodyPr anchor="ctr" rtlCol="false" tIns="50800" lIns="50800" bIns="50800" rIns="50800"/>
            <a:lstStyle/>
            <a:p>
              <a:pPr algn="ctr">
                <a:lnSpc>
                  <a:spcPts val="1387"/>
                </a:lnSpc>
              </a:pPr>
            </a:p>
          </p:txBody>
        </p:sp>
      </p:grpSp>
      <p:grpSp>
        <p:nvGrpSpPr>
          <p:cNvPr name="Group 11" id="11"/>
          <p:cNvGrpSpPr/>
          <p:nvPr/>
        </p:nvGrpSpPr>
        <p:grpSpPr>
          <a:xfrm rot="0">
            <a:off x="4721112" y="5409385"/>
            <a:ext cx="778231" cy="778231"/>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13" id="13"/>
            <p:cNvSpPr txBox="true"/>
            <p:nvPr/>
          </p:nvSpPr>
          <p:spPr>
            <a:xfrm>
              <a:off x="76200" y="95250"/>
              <a:ext cx="660400" cy="641350"/>
            </a:xfrm>
            <a:prstGeom prst="rect">
              <a:avLst/>
            </a:prstGeom>
          </p:spPr>
          <p:txBody>
            <a:bodyPr anchor="ctr" rtlCol="false" tIns="50800" lIns="50800" bIns="50800" rIns="50800"/>
            <a:lstStyle/>
            <a:p>
              <a:pPr algn="ctr">
                <a:lnSpc>
                  <a:spcPts val="2179"/>
                </a:lnSpc>
              </a:pPr>
              <a:r>
                <a:rPr lang="en-US" sz="2476">
                  <a:solidFill>
                    <a:srgbClr val="000000"/>
                  </a:solidFill>
                  <a:latin typeface="Arial MT Pro"/>
                  <a:ea typeface="Arial MT Pro"/>
                  <a:cs typeface="Arial MT Pro"/>
                  <a:sym typeface="Arial MT Pro"/>
                </a:rPr>
                <a:t>2</a:t>
              </a:r>
            </a:p>
          </p:txBody>
        </p:sp>
      </p:grpSp>
      <p:grpSp>
        <p:nvGrpSpPr>
          <p:cNvPr name="Group 14" id="14"/>
          <p:cNvGrpSpPr/>
          <p:nvPr/>
        </p:nvGrpSpPr>
        <p:grpSpPr>
          <a:xfrm rot="0">
            <a:off x="13080253" y="1484619"/>
            <a:ext cx="778231" cy="778231"/>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16" id="16"/>
            <p:cNvSpPr txBox="true"/>
            <p:nvPr/>
          </p:nvSpPr>
          <p:spPr>
            <a:xfrm>
              <a:off x="76200" y="104775"/>
              <a:ext cx="660400" cy="631825"/>
            </a:xfrm>
            <a:prstGeom prst="rect">
              <a:avLst/>
            </a:prstGeom>
          </p:spPr>
          <p:txBody>
            <a:bodyPr anchor="ctr" rtlCol="false" tIns="50800" lIns="50800" bIns="50800" rIns="50800"/>
            <a:lstStyle/>
            <a:p>
              <a:pPr algn="ctr">
                <a:lnSpc>
                  <a:spcPts val="2619"/>
                </a:lnSpc>
              </a:pPr>
              <a:r>
                <a:rPr lang="en-US" sz="2976">
                  <a:solidFill>
                    <a:srgbClr val="202127"/>
                  </a:solidFill>
                  <a:latin typeface="Arial MT Pro"/>
                  <a:ea typeface="Arial MT Pro"/>
                  <a:cs typeface="Arial MT Pro"/>
                  <a:sym typeface="Arial MT Pro"/>
                </a:rPr>
                <a:t>1</a:t>
              </a:r>
            </a:p>
          </p:txBody>
        </p:sp>
      </p:grpSp>
      <p:sp>
        <p:nvSpPr>
          <p:cNvPr name="TextBox 17" id="17"/>
          <p:cNvSpPr txBox="true"/>
          <p:nvPr/>
        </p:nvSpPr>
        <p:spPr>
          <a:xfrm rot="0">
            <a:off x="1492410" y="1903659"/>
            <a:ext cx="7235633" cy="1775380"/>
          </a:xfrm>
          <a:prstGeom prst="rect">
            <a:avLst/>
          </a:prstGeom>
        </p:spPr>
        <p:txBody>
          <a:bodyPr anchor="t" rtlCol="false" tIns="0" lIns="0" bIns="0" rIns="0">
            <a:spAutoFit/>
          </a:bodyPr>
          <a:lstStyle/>
          <a:p>
            <a:pPr algn="l">
              <a:lnSpc>
                <a:spcPts val="11804"/>
              </a:lnSpc>
            </a:pPr>
            <a:r>
              <a:rPr lang="en-US" sz="11350" spc="-476" b="true">
                <a:solidFill>
                  <a:srgbClr val="FFFFFF"/>
                </a:solidFill>
                <a:latin typeface="Arial MT Pro Bold"/>
                <a:ea typeface="Arial MT Pro Bold"/>
                <a:cs typeface="Arial MT Pro Bold"/>
                <a:sym typeface="Arial MT Pro Bold"/>
              </a:rPr>
              <a:t>Tasks 1-2</a:t>
            </a:r>
          </a:p>
        </p:txBody>
      </p:sp>
      <p:sp>
        <p:nvSpPr>
          <p:cNvPr name="TextBox 18" id="18"/>
          <p:cNvSpPr txBox="true"/>
          <p:nvPr/>
        </p:nvSpPr>
        <p:spPr>
          <a:xfrm rot="0">
            <a:off x="1658024" y="6412621"/>
            <a:ext cx="7070020" cy="2055116"/>
          </a:xfrm>
          <a:prstGeom prst="rect">
            <a:avLst/>
          </a:prstGeom>
        </p:spPr>
        <p:txBody>
          <a:bodyPr anchor="t" rtlCol="false" tIns="0" lIns="0" bIns="0" rIns="0">
            <a:spAutoFit/>
          </a:bodyPr>
          <a:lstStyle/>
          <a:p>
            <a:pPr algn="l">
              <a:lnSpc>
                <a:spcPts val="2733"/>
              </a:lnSpc>
              <a:spcBef>
                <a:spcPct val="0"/>
              </a:spcBef>
            </a:pPr>
            <a:r>
              <a:rPr lang="en-US" b="true" sz="1952">
                <a:solidFill>
                  <a:srgbClr val="FFFFFF"/>
                </a:solidFill>
                <a:latin typeface="Arial MT Pro Bold"/>
                <a:ea typeface="Arial MT Pro Bold"/>
                <a:cs typeface="Arial MT Pro Bold"/>
                <a:sym typeface="Arial MT Pro Bold"/>
              </a:rPr>
              <a:t>C</a:t>
            </a:r>
            <a:r>
              <a:rPr lang="en-US" b="true" sz="1952">
                <a:solidFill>
                  <a:srgbClr val="FFFFFF"/>
                </a:solidFill>
                <a:latin typeface="Arial MT Pro Bold"/>
                <a:ea typeface="Arial MT Pro Bold"/>
                <a:cs typeface="Arial MT Pro Bold"/>
                <a:sym typeface="Arial MT Pro Bold"/>
              </a:rPr>
              <a:t>onverts date strings to datetime, extracts each calendar attribute using pandas' .dt accessor, computes the distance to the nearest National holiday by subtracting each transaction date from every holiday date and picking the minimum absolute difference. Saves the result as a new CSV with 8 additional columns.</a:t>
            </a:r>
          </a:p>
        </p:txBody>
      </p:sp>
      <p:sp>
        <p:nvSpPr>
          <p:cNvPr name="TextBox 19" id="19"/>
          <p:cNvSpPr txBox="true"/>
          <p:nvPr/>
        </p:nvSpPr>
        <p:spPr>
          <a:xfrm rot="0">
            <a:off x="10826463" y="2457546"/>
            <a:ext cx="5285811" cy="6246615"/>
          </a:xfrm>
          <a:prstGeom prst="rect">
            <a:avLst/>
          </a:prstGeom>
        </p:spPr>
        <p:txBody>
          <a:bodyPr anchor="t" rtlCol="false" tIns="0" lIns="0" bIns="0" rIns="0">
            <a:spAutoFit/>
          </a:bodyPr>
          <a:lstStyle/>
          <a:p>
            <a:pPr algn="l">
              <a:lnSpc>
                <a:spcPts val="2286"/>
              </a:lnSpc>
            </a:pPr>
            <a:r>
              <a:rPr lang="en-US" sz="1632" b="true">
                <a:solidFill>
                  <a:srgbClr val="FFFFFF"/>
                </a:solidFill>
                <a:latin typeface="Arial MT Pro Bold"/>
                <a:ea typeface="Arial MT Pro Bold"/>
                <a:cs typeface="Arial MT Pro Bold"/>
                <a:sym typeface="Arial MT Pro Bold"/>
              </a:rPr>
              <a:t>A) Counts total rows, counts NULLs in the price column, and calculates the percentage. One row of output, three numbers — the simplest possible data quality check.</a:t>
            </a:r>
          </a:p>
          <a:p>
            <a:pPr algn="l">
              <a:lnSpc>
                <a:spcPts val="2286"/>
              </a:lnSpc>
            </a:pPr>
            <a:r>
              <a:rPr lang="en-US" sz="1632" b="true">
                <a:solidFill>
                  <a:srgbClr val="FFFFFF"/>
                </a:solidFill>
                <a:latin typeface="Arial MT Pro Bold"/>
                <a:ea typeface="Arial MT Pro Bold"/>
                <a:cs typeface="Arial MT Pro Bold"/>
                <a:sym typeface="Arial MT Pro Bold"/>
              </a:rPr>
              <a:t>B)Same COUNT(*) - COUNT(column) pattern on all three columns: date, store_nbr, transactions. </a:t>
            </a:r>
          </a:p>
          <a:p>
            <a:pPr algn="l">
              <a:lnSpc>
                <a:spcPts val="2286"/>
              </a:lnSpc>
            </a:pPr>
            <a:r>
              <a:rPr lang="en-US" sz="1632" b="true">
                <a:solidFill>
                  <a:srgbClr val="FFFFFF"/>
                </a:solidFill>
                <a:latin typeface="Arial MT Pro Bold"/>
                <a:ea typeface="Arial MT Pro Bold"/>
                <a:cs typeface="Arial MT Pro Bold"/>
                <a:sym typeface="Arial MT Pro Bold"/>
              </a:rPr>
              <a:t>C) Checks all six columns for NULLs in one query. </a:t>
            </a:r>
          </a:p>
          <a:p>
            <a:pPr algn="l">
              <a:lnSpc>
                <a:spcPts val="2286"/>
              </a:lnSpc>
            </a:pPr>
            <a:r>
              <a:rPr lang="en-US" sz="1632" b="true">
                <a:solidFill>
                  <a:srgbClr val="FFFFFF"/>
                </a:solidFill>
                <a:latin typeface="Arial MT Pro Bold"/>
                <a:ea typeface="Arial MT Pro Bold"/>
                <a:cs typeface="Arial MT Pro Bold"/>
                <a:sym typeface="Arial MT Pro Bold"/>
              </a:rPr>
              <a:t>D) Creates a complete daily calendar with generate_series, LEFT JOINs the oil table onto it, and counts how many calendar days have no matching oil row — grouped by month. </a:t>
            </a:r>
          </a:p>
          <a:p>
            <a:pPr algn="l">
              <a:lnSpc>
                <a:spcPts val="2286"/>
              </a:lnSpc>
            </a:pPr>
            <a:r>
              <a:rPr lang="en-US" sz="1632" b="true">
                <a:solidFill>
                  <a:srgbClr val="FFFFFF"/>
                </a:solidFill>
                <a:latin typeface="Arial MT Pro Bold"/>
                <a:ea typeface="Arial MT Pro Bold"/>
                <a:cs typeface="Arial MT Pro Bold"/>
                <a:sym typeface="Arial MT Pro Bold"/>
              </a:rPr>
              <a:t>E) CROSS JOINs 54 stores with 1,688 calendar days to create the expected grid of 91,152 rows. LEFT JOINs actual transactions. Any row where the transaction is NULL is a missing store-date pair. Groups by store, orders by most missing first, shows top 20. </a:t>
            </a:r>
          </a:p>
          <a:p>
            <a:pPr algn="l">
              <a:lnSpc>
                <a:spcPts val="2286"/>
              </a:lnSpc>
              <a:spcBef>
                <a:spcPct val="0"/>
              </a:spcBef>
            </a:pPr>
            <a:r>
              <a:rPr lang="en-US" b="true" sz="1632">
                <a:solidFill>
                  <a:srgbClr val="FFFFFF"/>
                </a:solidFill>
                <a:latin typeface="Arial MT Pro Bold"/>
                <a:ea typeface="Arial MT Pro Bold"/>
                <a:cs typeface="Arial MT Pro Bold"/>
                <a:sym typeface="Arial MT Pro Bold"/>
              </a:rPr>
              <a:t>F) Groups all holiday rows by date, keeps only dates where more than one distinct type exists, and concatenates the types, locales, and descriptions into readable strings so you can see exactly what's conflicting.</a:t>
            </a:r>
          </a:p>
        </p:txBody>
      </p:sp>
    </p:spTree>
  </p:cSld>
  <p:clrMapOvr>
    <a:masterClrMapping/>
  </p:clrMapOvr>
</p:sld>
</file>

<file path=ppt/slides/slide4.xml><?xml version="1.0" encoding="utf-8"?>
<p:sld xmlns:p="http://schemas.openxmlformats.org/presentationml/2006/main" xmlns:a="http://schemas.openxmlformats.org/drawingml/2006/main">
  <p:cSld>
    <p:bg>
      <p:bgPr>
        <a:solidFill>
          <a:srgbClr val="141519"/>
        </a:solidFill>
      </p:bgPr>
    </p:bg>
    <p:spTree>
      <p:nvGrpSpPr>
        <p:cNvPr id="1" name=""/>
        <p:cNvGrpSpPr/>
        <p:nvPr/>
      </p:nvGrpSpPr>
      <p:grpSpPr>
        <a:xfrm>
          <a:off x="0" y="0"/>
          <a:ext cx="0" cy="0"/>
          <a:chOff x="0" y="0"/>
          <a:chExt cx="0" cy="0"/>
        </a:xfrm>
      </p:grpSpPr>
      <p:grpSp>
        <p:nvGrpSpPr>
          <p:cNvPr name="Group 2" id="2"/>
          <p:cNvGrpSpPr/>
          <p:nvPr/>
        </p:nvGrpSpPr>
        <p:grpSpPr>
          <a:xfrm rot="2803560">
            <a:off x="-3481901" y="-1737505"/>
            <a:ext cx="17403374" cy="18180272"/>
            <a:chOff x="0" y="0"/>
            <a:chExt cx="4583605" cy="4788220"/>
          </a:xfrm>
        </p:grpSpPr>
        <p:sp>
          <p:nvSpPr>
            <p:cNvPr name="Freeform 3" id="3"/>
            <p:cNvSpPr/>
            <p:nvPr/>
          </p:nvSpPr>
          <p:spPr>
            <a:xfrm flipH="false" flipV="false" rot="0">
              <a:off x="0" y="0"/>
              <a:ext cx="4583605" cy="4788220"/>
            </a:xfrm>
            <a:custGeom>
              <a:avLst/>
              <a:gdLst/>
              <a:ahLst/>
              <a:cxnLst/>
              <a:rect r="r" b="b" t="t" l="l"/>
              <a:pathLst>
                <a:path h="4788220" w="4583605">
                  <a:moveTo>
                    <a:pt x="0" y="0"/>
                  </a:moveTo>
                  <a:lnTo>
                    <a:pt x="4583605" y="0"/>
                  </a:lnTo>
                  <a:lnTo>
                    <a:pt x="4583605" y="4788220"/>
                  </a:lnTo>
                  <a:lnTo>
                    <a:pt x="0" y="4788220"/>
                  </a:lnTo>
                  <a:close/>
                </a:path>
              </a:pathLst>
            </a:custGeom>
            <a:gradFill rotWithShape="true">
              <a:gsLst>
                <a:gs pos="0">
                  <a:srgbClr val="27DDDF">
                    <a:alpha val="0"/>
                  </a:srgbClr>
                </a:gs>
                <a:gs pos="100000">
                  <a:srgbClr val="27DDDF">
                    <a:alpha val="14000"/>
                  </a:srgbClr>
                </a:gs>
              </a:gsLst>
              <a:lin ang="5400000"/>
            </a:gradFill>
          </p:spPr>
        </p:sp>
        <p:sp>
          <p:nvSpPr>
            <p:cNvPr name="TextBox 4" id="4"/>
            <p:cNvSpPr txBox="true"/>
            <p:nvPr/>
          </p:nvSpPr>
          <p:spPr>
            <a:xfrm>
              <a:off x="0" y="19050"/>
              <a:ext cx="4583605" cy="4769170"/>
            </a:xfrm>
            <a:prstGeom prst="rect">
              <a:avLst/>
            </a:prstGeom>
          </p:spPr>
          <p:txBody>
            <a:bodyPr anchor="ctr" rtlCol="false" tIns="50800" lIns="50800" bIns="50800" rIns="50800"/>
            <a:lstStyle/>
            <a:p>
              <a:pPr algn="ctr">
                <a:lnSpc>
                  <a:spcPts val="1387"/>
                </a:lnSpc>
              </a:pPr>
            </a:p>
          </p:txBody>
        </p:sp>
      </p:grpSp>
      <p:grpSp>
        <p:nvGrpSpPr>
          <p:cNvPr name="Group 5" id="5"/>
          <p:cNvGrpSpPr/>
          <p:nvPr/>
        </p:nvGrpSpPr>
        <p:grpSpPr>
          <a:xfrm rot="0">
            <a:off x="2054482" y="1206773"/>
            <a:ext cx="8071473" cy="8051527"/>
            <a:chOff x="0" y="0"/>
            <a:chExt cx="1834320" cy="1829788"/>
          </a:xfrm>
        </p:grpSpPr>
        <p:sp>
          <p:nvSpPr>
            <p:cNvPr name="Freeform 6" id="6"/>
            <p:cNvSpPr/>
            <p:nvPr/>
          </p:nvSpPr>
          <p:spPr>
            <a:xfrm flipH="false" flipV="false" rot="0">
              <a:off x="0" y="0"/>
              <a:ext cx="1834320" cy="1829788"/>
            </a:xfrm>
            <a:custGeom>
              <a:avLst/>
              <a:gdLst/>
              <a:ahLst/>
              <a:cxnLst/>
              <a:rect r="r" b="b" t="t" l="l"/>
              <a:pathLst>
                <a:path h="1829788" w="1834320">
                  <a:moveTo>
                    <a:pt x="48918" y="0"/>
                  </a:moveTo>
                  <a:lnTo>
                    <a:pt x="1785403" y="0"/>
                  </a:lnTo>
                  <a:cubicBezTo>
                    <a:pt x="1812419" y="0"/>
                    <a:pt x="1834320" y="21901"/>
                    <a:pt x="1834320" y="48918"/>
                  </a:cubicBezTo>
                  <a:lnTo>
                    <a:pt x="1834320" y="1780870"/>
                  </a:lnTo>
                  <a:cubicBezTo>
                    <a:pt x="1834320" y="1807886"/>
                    <a:pt x="1812419" y="1829788"/>
                    <a:pt x="1785403" y="1829788"/>
                  </a:cubicBezTo>
                  <a:lnTo>
                    <a:pt x="48918" y="1829788"/>
                  </a:lnTo>
                  <a:cubicBezTo>
                    <a:pt x="21901" y="1829788"/>
                    <a:pt x="0" y="1807886"/>
                    <a:pt x="0" y="1780870"/>
                  </a:cubicBezTo>
                  <a:lnTo>
                    <a:pt x="0" y="48918"/>
                  </a:lnTo>
                  <a:cubicBezTo>
                    <a:pt x="0" y="21901"/>
                    <a:pt x="21901" y="0"/>
                    <a:pt x="48918" y="0"/>
                  </a:cubicBezTo>
                  <a:close/>
                </a:path>
              </a:pathLst>
            </a:custGeom>
            <a:solidFill>
              <a:srgbClr val="202127"/>
            </a:solidFill>
            <a:ln w="38100" cap="rnd">
              <a:solidFill>
                <a:srgbClr val="FFFFFF"/>
              </a:solidFill>
              <a:prstDash val="solid"/>
              <a:round/>
            </a:ln>
          </p:spPr>
        </p:sp>
        <p:sp>
          <p:nvSpPr>
            <p:cNvPr name="TextBox 7" id="7"/>
            <p:cNvSpPr txBox="true"/>
            <p:nvPr/>
          </p:nvSpPr>
          <p:spPr>
            <a:xfrm>
              <a:off x="0" y="19050"/>
              <a:ext cx="1834320" cy="1810738"/>
            </a:xfrm>
            <a:prstGeom prst="rect">
              <a:avLst/>
            </a:prstGeom>
          </p:spPr>
          <p:txBody>
            <a:bodyPr anchor="ctr" rtlCol="false" tIns="50800" lIns="50800" bIns="50800" rIns="50800"/>
            <a:lstStyle/>
            <a:p>
              <a:pPr algn="ctr">
                <a:lnSpc>
                  <a:spcPts val="1387"/>
                </a:lnSpc>
              </a:pPr>
            </a:p>
          </p:txBody>
        </p:sp>
      </p:grpSp>
      <p:grpSp>
        <p:nvGrpSpPr>
          <p:cNvPr name="Group 8" id="8"/>
          <p:cNvGrpSpPr/>
          <p:nvPr/>
        </p:nvGrpSpPr>
        <p:grpSpPr>
          <a:xfrm rot="0">
            <a:off x="10579492" y="1206773"/>
            <a:ext cx="6297598" cy="2924089"/>
            <a:chOff x="0" y="0"/>
            <a:chExt cx="1417549" cy="658194"/>
          </a:xfrm>
        </p:grpSpPr>
        <p:sp>
          <p:nvSpPr>
            <p:cNvPr name="Freeform 9" id="9"/>
            <p:cNvSpPr/>
            <p:nvPr/>
          </p:nvSpPr>
          <p:spPr>
            <a:xfrm flipH="false" flipV="false" rot="0">
              <a:off x="0" y="0"/>
              <a:ext cx="1417549" cy="658194"/>
            </a:xfrm>
            <a:custGeom>
              <a:avLst/>
              <a:gdLst/>
              <a:ahLst/>
              <a:cxnLst/>
              <a:rect r="r" b="b" t="t" l="l"/>
              <a:pathLst>
                <a:path h="658194" w="1417549">
                  <a:moveTo>
                    <a:pt x="25816" y="0"/>
                  </a:moveTo>
                  <a:lnTo>
                    <a:pt x="1391733" y="0"/>
                  </a:lnTo>
                  <a:cubicBezTo>
                    <a:pt x="1405991" y="0"/>
                    <a:pt x="1417549" y="11558"/>
                    <a:pt x="1417549" y="25816"/>
                  </a:cubicBezTo>
                  <a:lnTo>
                    <a:pt x="1417549" y="632378"/>
                  </a:lnTo>
                  <a:cubicBezTo>
                    <a:pt x="1417549" y="639224"/>
                    <a:pt x="1414829" y="645791"/>
                    <a:pt x="1409988" y="650632"/>
                  </a:cubicBezTo>
                  <a:cubicBezTo>
                    <a:pt x="1405146" y="655474"/>
                    <a:pt x="1398580" y="658194"/>
                    <a:pt x="1391733" y="658194"/>
                  </a:cubicBezTo>
                  <a:lnTo>
                    <a:pt x="25816" y="658194"/>
                  </a:lnTo>
                  <a:cubicBezTo>
                    <a:pt x="18969" y="658194"/>
                    <a:pt x="12403" y="655474"/>
                    <a:pt x="7561" y="650632"/>
                  </a:cubicBezTo>
                  <a:cubicBezTo>
                    <a:pt x="2720" y="645791"/>
                    <a:pt x="0" y="639224"/>
                    <a:pt x="0" y="632378"/>
                  </a:cubicBezTo>
                  <a:lnTo>
                    <a:pt x="0" y="25816"/>
                  </a:lnTo>
                  <a:cubicBezTo>
                    <a:pt x="0" y="18969"/>
                    <a:pt x="2720" y="12403"/>
                    <a:pt x="7561" y="7561"/>
                  </a:cubicBezTo>
                  <a:cubicBezTo>
                    <a:pt x="12403" y="2720"/>
                    <a:pt x="18969" y="0"/>
                    <a:pt x="25816" y="0"/>
                  </a:cubicBezTo>
                  <a:close/>
                </a:path>
              </a:pathLst>
            </a:custGeom>
            <a:gradFill rotWithShape="true">
              <a:gsLst>
                <a:gs pos="0">
                  <a:srgbClr val="0C4A5B">
                    <a:alpha val="100000"/>
                  </a:srgbClr>
                </a:gs>
                <a:gs pos="100000">
                  <a:srgbClr val="27DDDF">
                    <a:alpha val="100000"/>
                  </a:srgbClr>
                </a:gs>
              </a:gsLst>
              <a:lin ang="2700000"/>
            </a:gradFill>
          </p:spPr>
        </p:sp>
        <p:sp>
          <p:nvSpPr>
            <p:cNvPr name="TextBox 10" id="10"/>
            <p:cNvSpPr txBox="true"/>
            <p:nvPr/>
          </p:nvSpPr>
          <p:spPr>
            <a:xfrm>
              <a:off x="0" y="19050"/>
              <a:ext cx="1417549" cy="639144"/>
            </a:xfrm>
            <a:prstGeom prst="rect">
              <a:avLst/>
            </a:prstGeom>
          </p:spPr>
          <p:txBody>
            <a:bodyPr anchor="ctr" rtlCol="false" tIns="50800" lIns="50800" bIns="50800" rIns="50800"/>
            <a:lstStyle/>
            <a:p>
              <a:pPr algn="ctr">
                <a:lnSpc>
                  <a:spcPts val="1387"/>
                </a:lnSpc>
              </a:pPr>
            </a:p>
          </p:txBody>
        </p:sp>
      </p:grpSp>
      <p:grpSp>
        <p:nvGrpSpPr>
          <p:cNvPr name="Group 11" id="11"/>
          <p:cNvGrpSpPr/>
          <p:nvPr/>
        </p:nvGrpSpPr>
        <p:grpSpPr>
          <a:xfrm rot="0">
            <a:off x="5459019" y="1348998"/>
            <a:ext cx="1071360" cy="1017717"/>
            <a:chOff x="0" y="0"/>
            <a:chExt cx="167211" cy="158839"/>
          </a:xfrm>
        </p:grpSpPr>
        <p:sp>
          <p:nvSpPr>
            <p:cNvPr name="Freeform 12" id="12"/>
            <p:cNvSpPr/>
            <p:nvPr/>
          </p:nvSpPr>
          <p:spPr>
            <a:xfrm flipH="false" flipV="false" rot="0">
              <a:off x="0" y="0"/>
              <a:ext cx="167211" cy="158839"/>
            </a:xfrm>
            <a:custGeom>
              <a:avLst/>
              <a:gdLst/>
              <a:ahLst/>
              <a:cxnLst/>
              <a:rect r="r" b="b" t="t" l="l"/>
              <a:pathLst>
                <a:path h="158839" w="167211">
                  <a:moveTo>
                    <a:pt x="79419" y="0"/>
                  </a:moveTo>
                  <a:lnTo>
                    <a:pt x="87792" y="0"/>
                  </a:lnTo>
                  <a:cubicBezTo>
                    <a:pt x="108855" y="0"/>
                    <a:pt x="129056" y="8367"/>
                    <a:pt x="143950" y="23261"/>
                  </a:cubicBezTo>
                  <a:cubicBezTo>
                    <a:pt x="158844" y="38155"/>
                    <a:pt x="167211" y="58356"/>
                    <a:pt x="167211" y="79419"/>
                  </a:cubicBezTo>
                  <a:lnTo>
                    <a:pt x="167211" y="79419"/>
                  </a:lnTo>
                  <a:cubicBezTo>
                    <a:pt x="167211" y="123282"/>
                    <a:pt x="131654" y="158839"/>
                    <a:pt x="87792" y="158839"/>
                  </a:cubicBezTo>
                  <a:lnTo>
                    <a:pt x="79419" y="158839"/>
                  </a:lnTo>
                  <a:cubicBezTo>
                    <a:pt x="35557" y="158839"/>
                    <a:pt x="0" y="123282"/>
                    <a:pt x="0" y="79419"/>
                  </a:cubicBezTo>
                  <a:lnTo>
                    <a:pt x="0" y="79419"/>
                  </a:lnTo>
                  <a:cubicBezTo>
                    <a:pt x="0" y="35557"/>
                    <a:pt x="35557" y="0"/>
                    <a:pt x="79419" y="0"/>
                  </a:cubicBezTo>
                  <a:close/>
                </a:path>
              </a:pathLst>
            </a:custGeom>
            <a:solidFill>
              <a:srgbClr val="FFFFFF"/>
            </a:solidFill>
            <a:ln w="38100" cap="rnd">
              <a:solidFill>
                <a:srgbClr val="141519"/>
              </a:solidFill>
              <a:prstDash val="solid"/>
              <a:round/>
            </a:ln>
          </p:spPr>
        </p:sp>
        <p:sp>
          <p:nvSpPr>
            <p:cNvPr name="TextBox 13" id="13"/>
            <p:cNvSpPr txBox="true"/>
            <p:nvPr/>
          </p:nvSpPr>
          <p:spPr>
            <a:xfrm>
              <a:off x="0" y="28575"/>
              <a:ext cx="167211" cy="130264"/>
            </a:xfrm>
            <a:prstGeom prst="rect">
              <a:avLst/>
            </a:prstGeom>
          </p:spPr>
          <p:txBody>
            <a:bodyPr anchor="ctr" rtlCol="false" tIns="50800" lIns="50800" bIns="50800" rIns="50800"/>
            <a:lstStyle/>
            <a:p>
              <a:pPr algn="ctr">
                <a:lnSpc>
                  <a:spcPts val="2443"/>
                </a:lnSpc>
              </a:pPr>
              <a:r>
                <a:rPr lang="en-US" sz="2776">
                  <a:solidFill>
                    <a:srgbClr val="202127"/>
                  </a:solidFill>
                  <a:latin typeface="Arial MT Pro"/>
                  <a:ea typeface="Arial MT Pro"/>
                  <a:cs typeface="Arial MT Pro"/>
                  <a:sym typeface="Arial MT Pro"/>
                </a:rPr>
                <a:t>3</a:t>
              </a:r>
            </a:p>
          </p:txBody>
        </p:sp>
      </p:grpSp>
      <p:sp>
        <p:nvSpPr>
          <p:cNvPr name="TextBox 14" id="14"/>
          <p:cNvSpPr txBox="true"/>
          <p:nvPr/>
        </p:nvSpPr>
        <p:spPr>
          <a:xfrm rot="0">
            <a:off x="3324509" y="2489999"/>
            <a:ext cx="5531418" cy="6192060"/>
          </a:xfrm>
          <a:prstGeom prst="rect">
            <a:avLst/>
          </a:prstGeom>
        </p:spPr>
        <p:txBody>
          <a:bodyPr anchor="t" rtlCol="false" tIns="0" lIns="0" bIns="0" rIns="0">
            <a:spAutoFit/>
          </a:bodyPr>
          <a:lstStyle/>
          <a:p>
            <a:pPr algn="l">
              <a:lnSpc>
                <a:spcPts val="2725"/>
              </a:lnSpc>
            </a:pPr>
            <a:r>
              <a:rPr lang="en-US" sz="1714" b="true">
                <a:solidFill>
                  <a:srgbClr val="FFFFFF"/>
                </a:solidFill>
                <a:latin typeface="Arial MT Pro Bold"/>
                <a:ea typeface="Arial MT Pro Bold"/>
                <a:cs typeface="Arial MT Pro Bold"/>
                <a:sym typeface="Arial MT Pro Bold"/>
              </a:rPr>
              <a:t>The code takes the source file</a:t>
            </a:r>
          </a:p>
          <a:p>
            <a:pPr algn="l">
              <a:lnSpc>
                <a:spcPts val="2725"/>
              </a:lnSpc>
            </a:pPr>
            <a:r>
              <a:rPr lang="en-US" sz="1714" b="true">
                <a:solidFill>
                  <a:srgbClr val="FFFFFF"/>
                </a:solidFill>
                <a:latin typeface="Arial MT Pro Bold"/>
                <a:ea typeface="Arial MT Pro Bold"/>
                <a:cs typeface="Arial MT Pro Bold"/>
                <a:sym typeface="Arial MT Pro Bold"/>
              </a:rPr>
              <a:t>1. Convert dates to date format</a:t>
            </a:r>
          </a:p>
          <a:p>
            <a:pPr algn="l">
              <a:lnSpc>
                <a:spcPts val="2725"/>
              </a:lnSpc>
            </a:pPr>
            <a:r>
              <a:rPr lang="en-US" sz="1714" b="true">
                <a:solidFill>
                  <a:srgbClr val="FFFFFF"/>
                </a:solidFill>
                <a:latin typeface="Arial MT Pro Bold"/>
                <a:ea typeface="Arial MT Pro Bold"/>
                <a:cs typeface="Arial MT Pro Bold"/>
                <a:sym typeface="Arial MT Pro Bold"/>
              </a:rPr>
              <a:t>2. Sort, add missing days</a:t>
            </a:r>
          </a:p>
          <a:p>
            <a:pPr algn="l">
              <a:lnSpc>
                <a:spcPts val="2725"/>
              </a:lnSpc>
            </a:pPr>
            <a:r>
              <a:rPr lang="en-US" sz="1714" b="true">
                <a:solidFill>
                  <a:srgbClr val="FFFFFF"/>
                </a:solidFill>
                <a:latin typeface="Arial MT Pro Bold"/>
                <a:ea typeface="Arial MT Pro Bold"/>
                <a:cs typeface="Arial MT Pro Bold"/>
                <a:sym typeface="Arial MT Pro Bold"/>
              </a:rPr>
              <a:t>3. Add linear interpolation for missing days and fill in leading and trailing blank</a:t>
            </a:r>
          </a:p>
          <a:p>
            <a:pPr algn="l">
              <a:lnSpc>
                <a:spcPts val="2725"/>
              </a:lnSpc>
            </a:pPr>
          </a:p>
          <a:p>
            <a:pPr algn="l">
              <a:lnSpc>
                <a:spcPts val="2725"/>
              </a:lnSpc>
            </a:pPr>
          </a:p>
          <a:p>
            <a:pPr algn="l">
              <a:lnSpc>
                <a:spcPts val="2725"/>
              </a:lnSpc>
            </a:pPr>
          </a:p>
          <a:p>
            <a:pPr algn="l">
              <a:lnSpc>
                <a:spcPts val="2725"/>
              </a:lnSpc>
            </a:pPr>
          </a:p>
          <a:p>
            <a:pPr algn="l">
              <a:lnSpc>
                <a:spcPts val="2725"/>
              </a:lnSpc>
            </a:pPr>
          </a:p>
          <a:p>
            <a:pPr algn="l">
              <a:lnSpc>
                <a:spcPts val="2725"/>
              </a:lnSpc>
            </a:pPr>
            <a:r>
              <a:rPr lang="en-US" sz="1714" b="true">
                <a:solidFill>
                  <a:srgbClr val="FFFFFF"/>
                </a:solidFill>
                <a:latin typeface="Arial MT Pro Bold"/>
                <a:ea typeface="Arial MT Pro Bold"/>
                <a:cs typeface="Arial MT Pro Bold"/>
                <a:sym typeface="Arial MT Pro Bold"/>
              </a:rPr>
              <a:t>The code takes a new file</a:t>
            </a:r>
          </a:p>
          <a:p>
            <a:pPr algn="l">
              <a:lnSpc>
                <a:spcPts val="2725"/>
              </a:lnSpc>
            </a:pPr>
            <a:r>
              <a:rPr lang="en-US" sz="1714" b="true">
                <a:solidFill>
                  <a:srgbClr val="FFFFFF"/>
                </a:solidFill>
                <a:latin typeface="Arial MT Pro Bold"/>
                <a:ea typeface="Arial MT Pro Bold"/>
                <a:cs typeface="Arial MT Pro Bold"/>
                <a:sym typeface="Arial MT Pro Bold"/>
              </a:rPr>
              <a:t>1. Change the true/false format to numeric</a:t>
            </a:r>
          </a:p>
          <a:p>
            <a:pPr algn="l">
              <a:lnSpc>
                <a:spcPts val="2725"/>
              </a:lnSpc>
            </a:pPr>
            <a:r>
              <a:rPr lang="en-US" sz="1714" b="true">
                <a:solidFill>
                  <a:srgbClr val="FFFFFF"/>
                </a:solidFill>
                <a:latin typeface="Arial MT Pro Bold"/>
                <a:ea typeface="Arial MT Pro Bold"/>
                <a:cs typeface="Arial MT Pro Bold"/>
                <a:sym typeface="Arial MT Pro Bold"/>
              </a:rPr>
              <a:t>2. Creates a new table without the postponed holidays and sorts by date</a:t>
            </a:r>
          </a:p>
          <a:p>
            <a:pPr algn="l">
              <a:lnSpc>
                <a:spcPts val="2725"/>
              </a:lnSpc>
            </a:pPr>
            <a:r>
              <a:rPr lang="en-US" sz="1714" b="true">
                <a:solidFill>
                  <a:srgbClr val="FFFFFF"/>
                </a:solidFill>
                <a:latin typeface="Arial MT Pro Bold"/>
                <a:ea typeface="Arial MT Pro Bold"/>
                <a:cs typeface="Arial MT Pro Bold"/>
                <a:sym typeface="Arial MT Pro Bold"/>
              </a:rPr>
              <a:t>3. Calculates the difference in days between holidays, fills in the columns</a:t>
            </a:r>
          </a:p>
          <a:p>
            <a:pPr algn="l">
              <a:lnSpc>
                <a:spcPts val="2725"/>
              </a:lnSpc>
            </a:pPr>
            <a:r>
              <a:rPr lang="en-US" sz="1714" b="true">
                <a:solidFill>
                  <a:srgbClr val="FFFFFF"/>
                </a:solidFill>
                <a:latin typeface="Arial MT Pro Bold"/>
                <a:ea typeface="Arial MT Pro Bold"/>
                <a:cs typeface="Arial MT Pro Bold"/>
                <a:sym typeface="Arial MT Pro Bold"/>
              </a:rPr>
              <a:t>4. Merge with the source table</a:t>
            </a:r>
          </a:p>
          <a:p>
            <a:pPr algn="l">
              <a:lnSpc>
                <a:spcPts val="2725"/>
              </a:lnSpc>
            </a:pPr>
          </a:p>
        </p:txBody>
      </p:sp>
      <p:grpSp>
        <p:nvGrpSpPr>
          <p:cNvPr name="Group 15" id="15"/>
          <p:cNvGrpSpPr/>
          <p:nvPr/>
        </p:nvGrpSpPr>
        <p:grpSpPr>
          <a:xfrm rot="0">
            <a:off x="5459019" y="4570865"/>
            <a:ext cx="1071360" cy="1017717"/>
            <a:chOff x="0" y="0"/>
            <a:chExt cx="167211" cy="158839"/>
          </a:xfrm>
        </p:grpSpPr>
        <p:sp>
          <p:nvSpPr>
            <p:cNvPr name="Freeform 16" id="16"/>
            <p:cNvSpPr/>
            <p:nvPr/>
          </p:nvSpPr>
          <p:spPr>
            <a:xfrm flipH="false" flipV="false" rot="0">
              <a:off x="0" y="0"/>
              <a:ext cx="167211" cy="158839"/>
            </a:xfrm>
            <a:custGeom>
              <a:avLst/>
              <a:gdLst/>
              <a:ahLst/>
              <a:cxnLst/>
              <a:rect r="r" b="b" t="t" l="l"/>
              <a:pathLst>
                <a:path h="158839" w="167211">
                  <a:moveTo>
                    <a:pt x="79419" y="0"/>
                  </a:moveTo>
                  <a:lnTo>
                    <a:pt x="87792" y="0"/>
                  </a:lnTo>
                  <a:cubicBezTo>
                    <a:pt x="108855" y="0"/>
                    <a:pt x="129056" y="8367"/>
                    <a:pt x="143950" y="23261"/>
                  </a:cubicBezTo>
                  <a:cubicBezTo>
                    <a:pt x="158844" y="38155"/>
                    <a:pt x="167211" y="58356"/>
                    <a:pt x="167211" y="79419"/>
                  </a:cubicBezTo>
                  <a:lnTo>
                    <a:pt x="167211" y="79419"/>
                  </a:lnTo>
                  <a:cubicBezTo>
                    <a:pt x="167211" y="123282"/>
                    <a:pt x="131654" y="158839"/>
                    <a:pt x="87792" y="158839"/>
                  </a:cubicBezTo>
                  <a:lnTo>
                    <a:pt x="79419" y="158839"/>
                  </a:lnTo>
                  <a:cubicBezTo>
                    <a:pt x="35557" y="158839"/>
                    <a:pt x="0" y="123282"/>
                    <a:pt x="0" y="79419"/>
                  </a:cubicBezTo>
                  <a:lnTo>
                    <a:pt x="0" y="79419"/>
                  </a:lnTo>
                  <a:cubicBezTo>
                    <a:pt x="0" y="35557"/>
                    <a:pt x="35557" y="0"/>
                    <a:pt x="79419" y="0"/>
                  </a:cubicBezTo>
                  <a:close/>
                </a:path>
              </a:pathLst>
            </a:custGeom>
            <a:solidFill>
              <a:srgbClr val="FFFFFF"/>
            </a:solidFill>
            <a:ln w="38100" cap="rnd">
              <a:solidFill>
                <a:srgbClr val="141519"/>
              </a:solidFill>
              <a:prstDash val="solid"/>
              <a:round/>
            </a:ln>
          </p:spPr>
        </p:sp>
        <p:sp>
          <p:nvSpPr>
            <p:cNvPr name="TextBox 17" id="17"/>
            <p:cNvSpPr txBox="true"/>
            <p:nvPr/>
          </p:nvSpPr>
          <p:spPr>
            <a:xfrm>
              <a:off x="0" y="28575"/>
              <a:ext cx="167211" cy="130264"/>
            </a:xfrm>
            <a:prstGeom prst="rect">
              <a:avLst/>
            </a:prstGeom>
          </p:spPr>
          <p:txBody>
            <a:bodyPr anchor="ctr" rtlCol="false" tIns="50800" lIns="50800" bIns="50800" rIns="50800"/>
            <a:lstStyle/>
            <a:p>
              <a:pPr algn="ctr">
                <a:lnSpc>
                  <a:spcPts val="2443"/>
                </a:lnSpc>
              </a:pPr>
              <a:r>
                <a:rPr lang="en-US" sz="2776">
                  <a:solidFill>
                    <a:srgbClr val="202127"/>
                  </a:solidFill>
                  <a:latin typeface="Arial MT Pro"/>
                  <a:ea typeface="Arial MT Pro"/>
                  <a:cs typeface="Arial MT Pro"/>
                  <a:sym typeface="Arial MT Pro"/>
                </a:rPr>
                <a:t>4</a:t>
              </a:r>
            </a:p>
          </p:txBody>
        </p:sp>
      </p:grpSp>
      <p:grpSp>
        <p:nvGrpSpPr>
          <p:cNvPr name="Group 18" id="18"/>
          <p:cNvGrpSpPr/>
          <p:nvPr/>
        </p:nvGrpSpPr>
        <p:grpSpPr>
          <a:xfrm rot="0">
            <a:off x="10579492" y="4388681"/>
            <a:ext cx="6211080" cy="4767834"/>
            <a:chOff x="0" y="0"/>
            <a:chExt cx="969387" cy="744134"/>
          </a:xfrm>
        </p:grpSpPr>
        <p:sp>
          <p:nvSpPr>
            <p:cNvPr name="Freeform 19" id="19"/>
            <p:cNvSpPr/>
            <p:nvPr/>
          </p:nvSpPr>
          <p:spPr>
            <a:xfrm flipH="false" flipV="false" rot="0">
              <a:off x="0" y="0"/>
              <a:ext cx="969387" cy="744134"/>
            </a:xfrm>
            <a:custGeom>
              <a:avLst/>
              <a:gdLst/>
              <a:ahLst/>
              <a:cxnLst/>
              <a:rect r="r" b="b" t="t" l="l"/>
              <a:pathLst>
                <a:path h="744134" w="969387">
                  <a:moveTo>
                    <a:pt x="58584" y="0"/>
                  </a:moveTo>
                  <a:lnTo>
                    <a:pt x="910803" y="0"/>
                  </a:lnTo>
                  <a:cubicBezTo>
                    <a:pt x="926340" y="0"/>
                    <a:pt x="941241" y="6172"/>
                    <a:pt x="952228" y="17159"/>
                  </a:cubicBezTo>
                  <a:cubicBezTo>
                    <a:pt x="963214" y="28146"/>
                    <a:pt x="969387" y="43047"/>
                    <a:pt x="969387" y="58584"/>
                  </a:cubicBezTo>
                  <a:lnTo>
                    <a:pt x="969387" y="685550"/>
                  </a:lnTo>
                  <a:cubicBezTo>
                    <a:pt x="969387" y="701087"/>
                    <a:pt x="963214" y="715988"/>
                    <a:pt x="952228" y="726975"/>
                  </a:cubicBezTo>
                  <a:cubicBezTo>
                    <a:pt x="941241" y="737962"/>
                    <a:pt x="926340" y="744134"/>
                    <a:pt x="910803" y="744134"/>
                  </a:cubicBezTo>
                  <a:lnTo>
                    <a:pt x="58584" y="744134"/>
                  </a:lnTo>
                  <a:cubicBezTo>
                    <a:pt x="43047" y="744134"/>
                    <a:pt x="28146" y="737962"/>
                    <a:pt x="17159" y="726975"/>
                  </a:cubicBezTo>
                  <a:cubicBezTo>
                    <a:pt x="6172" y="715988"/>
                    <a:pt x="0" y="701087"/>
                    <a:pt x="0" y="685550"/>
                  </a:cubicBezTo>
                  <a:lnTo>
                    <a:pt x="0" y="58584"/>
                  </a:lnTo>
                  <a:cubicBezTo>
                    <a:pt x="0" y="43047"/>
                    <a:pt x="6172" y="28146"/>
                    <a:pt x="17159" y="17159"/>
                  </a:cubicBezTo>
                  <a:cubicBezTo>
                    <a:pt x="28146" y="6172"/>
                    <a:pt x="43047" y="0"/>
                    <a:pt x="58584" y="0"/>
                  </a:cubicBezTo>
                  <a:close/>
                </a:path>
              </a:pathLst>
            </a:custGeom>
            <a:gradFill rotWithShape="true">
              <a:gsLst>
                <a:gs pos="0">
                  <a:srgbClr val="27DDDF">
                    <a:alpha val="0"/>
                  </a:srgbClr>
                </a:gs>
                <a:gs pos="100000">
                  <a:srgbClr val="27DDDF">
                    <a:alpha val="100000"/>
                  </a:srgbClr>
                </a:gs>
              </a:gsLst>
              <a:lin ang="5400000"/>
            </a:gradFill>
          </p:spPr>
        </p:sp>
        <p:sp>
          <p:nvSpPr>
            <p:cNvPr name="TextBox 20" id="20"/>
            <p:cNvSpPr txBox="true"/>
            <p:nvPr/>
          </p:nvSpPr>
          <p:spPr>
            <a:xfrm>
              <a:off x="0" y="19050"/>
              <a:ext cx="969387" cy="725084"/>
            </a:xfrm>
            <a:prstGeom prst="rect">
              <a:avLst/>
            </a:prstGeom>
          </p:spPr>
          <p:txBody>
            <a:bodyPr anchor="ctr" rtlCol="false" tIns="50800" lIns="50800" bIns="50800" rIns="50800"/>
            <a:lstStyle/>
            <a:p>
              <a:pPr algn="ctr">
                <a:lnSpc>
                  <a:spcPts val="1387"/>
                </a:lnSpc>
              </a:pPr>
            </a:p>
          </p:txBody>
        </p:sp>
      </p:grpSp>
      <p:sp>
        <p:nvSpPr>
          <p:cNvPr name="TextBox 21" id="21"/>
          <p:cNvSpPr txBox="true"/>
          <p:nvPr/>
        </p:nvSpPr>
        <p:spPr>
          <a:xfrm rot="0">
            <a:off x="10790686" y="2018695"/>
            <a:ext cx="5875209" cy="1493037"/>
          </a:xfrm>
          <a:prstGeom prst="rect">
            <a:avLst/>
          </a:prstGeom>
        </p:spPr>
        <p:txBody>
          <a:bodyPr anchor="t" rtlCol="false" tIns="0" lIns="0" bIns="0" rIns="0">
            <a:spAutoFit/>
          </a:bodyPr>
          <a:lstStyle/>
          <a:p>
            <a:pPr algn="l">
              <a:lnSpc>
                <a:spcPts val="9940"/>
              </a:lnSpc>
            </a:pPr>
            <a:r>
              <a:rPr lang="en-US" sz="9558" spc="-401" b="true">
                <a:solidFill>
                  <a:srgbClr val="FFFFFF"/>
                </a:solidFill>
                <a:latin typeface="Arial MT Pro Bold"/>
                <a:ea typeface="Arial MT Pro Bold"/>
                <a:cs typeface="Arial MT Pro Bold"/>
                <a:sym typeface="Arial MT Pro Bold"/>
              </a:rPr>
              <a:t>Tasks 3 - 4</a:t>
            </a:r>
          </a:p>
        </p:txBody>
      </p:sp>
    </p:spTree>
  </p:cSld>
  <p:clrMapOvr>
    <a:masterClrMapping/>
  </p:clrMapOvr>
</p:sld>
</file>

<file path=ppt/slides/slide5.xml><?xml version="1.0" encoding="utf-8"?>
<p:sld xmlns:p="http://schemas.openxmlformats.org/presentationml/2006/main" xmlns:a="http://schemas.openxmlformats.org/drawingml/2006/main">
  <p:cSld>
    <p:bg>
      <p:bgPr>
        <a:solidFill>
          <a:srgbClr val="141519"/>
        </a:solidFill>
      </p:bgPr>
    </p:bg>
    <p:spTree>
      <p:nvGrpSpPr>
        <p:cNvPr id="1" name=""/>
        <p:cNvGrpSpPr/>
        <p:nvPr/>
      </p:nvGrpSpPr>
      <p:grpSpPr>
        <a:xfrm>
          <a:off x="0" y="0"/>
          <a:ext cx="0" cy="0"/>
          <a:chOff x="0" y="0"/>
          <a:chExt cx="0" cy="0"/>
        </a:xfrm>
      </p:grpSpPr>
      <p:sp>
        <p:nvSpPr>
          <p:cNvPr name="TextBox 2" id="2"/>
          <p:cNvSpPr txBox="true"/>
          <p:nvPr/>
        </p:nvSpPr>
        <p:spPr>
          <a:xfrm rot="2700000">
            <a:off x="-3149143" y="4530892"/>
            <a:ext cx="16005423" cy="1566544"/>
          </a:xfrm>
          <a:prstGeom prst="rect">
            <a:avLst/>
          </a:prstGeom>
        </p:spPr>
        <p:txBody>
          <a:bodyPr anchor="t" rtlCol="false" tIns="0" lIns="0" bIns="0" rIns="0">
            <a:spAutoFit/>
          </a:bodyPr>
          <a:lstStyle/>
          <a:p>
            <a:pPr algn="ctr">
              <a:lnSpc>
                <a:spcPts val="12880"/>
              </a:lnSpc>
            </a:pPr>
            <a:r>
              <a:rPr lang="en-US" sz="9200" b="true">
                <a:solidFill>
                  <a:srgbClr val="FFFFFF">
                    <a:alpha val="46667"/>
                  </a:srgbClr>
                </a:solidFill>
                <a:latin typeface="Open Sans Bold"/>
                <a:ea typeface="Open Sans Bold"/>
                <a:cs typeface="Open Sans Bold"/>
                <a:sym typeface="Open Sans Bold"/>
              </a:rPr>
              <a:t>676767676767676767676767</a:t>
            </a:r>
          </a:p>
        </p:txBody>
      </p:sp>
      <p:grpSp>
        <p:nvGrpSpPr>
          <p:cNvPr name="Group 3" id="3"/>
          <p:cNvGrpSpPr/>
          <p:nvPr/>
        </p:nvGrpSpPr>
        <p:grpSpPr>
          <a:xfrm rot="0">
            <a:off x="865600" y="4715106"/>
            <a:ext cx="5171992" cy="4543194"/>
            <a:chOff x="0" y="0"/>
            <a:chExt cx="1096646" cy="963319"/>
          </a:xfrm>
        </p:grpSpPr>
        <p:sp>
          <p:nvSpPr>
            <p:cNvPr name="Freeform 4" id="4"/>
            <p:cNvSpPr/>
            <p:nvPr/>
          </p:nvSpPr>
          <p:spPr>
            <a:xfrm flipH="false" flipV="false" rot="0">
              <a:off x="0" y="0"/>
              <a:ext cx="1096646" cy="963319"/>
            </a:xfrm>
            <a:custGeom>
              <a:avLst/>
              <a:gdLst/>
              <a:ahLst/>
              <a:cxnLst/>
              <a:rect r="r" b="b" t="t" l="l"/>
              <a:pathLst>
                <a:path h="963319" w="1096646">
                  <a:moveTo>
                    <a:pt x="52391" y="0"/>
                  </a:moveTo>
                  <a:lnTo>
                    <a:pt x="1044255" y="0"/>
                  </a:lnTo>
                  <a:cubicBezTo>
                    <a:pt x="1058150" y="0"/>
                    <a:pt x="1071476" y="5520"/>
                    <a:pt x="1081301" y="15345"/>
                  </a:cubicBezTo>
                  <a:cubicBezTo>
                    <a:pt x="1091126" y="25170"/>
                    <a:pt x="1096646" y="38496"/>
                    <a:pt x="1096646" y="52391"/>
                  </a:cubicBezTo>
                  <a:lnTo>
                    <a:pt x="1096646" y="910927"/>
                  </a:lnTo>
                  <a:cubicBezTo>
                    <a:pt x="1096646" y="939862"/>
                    <a:pt x="1073190" y="963319"/>
                    <a:pt x="1044255" y="963319"/>
                  </a:cubicBezTo>
                  <a:lnTo>
                    <a:pt x="52391" y="963319"/>
                  </a:lnTo>
                  <a:cubicBezTo>
                    <a:pt x="23456" y="963319"/>
                    <a:pt x="0" y="939862"/>
                    <a:pt x="0" y="910927"/>
                  </a:cubicBezTo>
                  <a:lnTo>
                    <a:pt x="0" y="52391"/>
                  </a:lnTo>
                  <a:cubicBezTo>
                    <a:pt x="0" y="23456"/>
                    <a:pt x="23456" y="0"/>
                    <a:pt x="52391" y="0"/>
                  </a:cubicBezTo>
                  <a:close/>
                </a:path>
              </a:pathLst>
            </a:custGeom>
            <a:solidFill>
              <a:srgbClr val="202127"/>
            </a:solidFill>
            <a:ln w="38100" cap="rnd">
              <a:solidFill>
                <a:srgbClr val="FFFFFF"/>
              </a:solidFill>
              <a:prstDash val="solid"/>
              <a:round/>
            </a:ln>
          </p:spPr>
        </p:sp>
        <p:sp>
          <p:nvSpPr>
            <p:cNvPr name="TextBox 5" id="5"/>
            <p:cNvSpPr txBox="true"/>
            <p:nvPr/>
          </p:nvSpPr>
          <p:spPr>
            <a:xfrm>
              <a:off x="0" y="19050"/>
              <a:ext cx="1096646" cy="944269"/>
            </a:xfrm>
            <a:prstGeom prst="rect">
              <a:avLst/>
            </a:prstGeom>
          </p:spPr>
          <p:txBody>
            <a:bodyPr anchor="ctr" rtlCol="false" tIns="50800" lIns="50800" bIns="50800" rIns="50800"/>
            <a:lstStyle/>
            <a:p>
              <a:pPr algn="l">
                <a:lnSpc>
                  <a:spcPts val="1387"/>
                </a:lnSpc>
              </a:pPr>
            </a:p>
          </p:txBody>
        </p:sp>
      </p:grpSp>
      <p:sp>
        <p:nvSpPr>
          <p:cNvPr name="TextBox 6" id="6"/>
          <p:cNvSpPr txBox="true"/>
          <p:nvPr/>
        </p:nvSpPr>
        <p:spPr>
          <a:xfrm rot="2700000">
            <a:off x="6927581" y="2846620"/>
            <a:ext cx="16005423" cy="1566544"/>
          </a:xfrm>
          <a:prstGeom prst="rect">
            <a:avLst/>
          </a:prstGeom>
        </p:spPr>
        <p:txBody>
          <a:bodyPr anchor="t" rtlCol="false" tIns="0" lIns="0" bIns="0" rIns="0">
            <a:spAutoFit/>
          </a:bodyPr>
          <a:lstStyle/>
          <a:p>
            <a:pPr algn="ctr">
              <a:lnSpc>
                <a:spcPts val="12880"/>
              </a:lnSpc>
            </a:pPr>
            <a:r>
              <a:rPr lang="en-US" sz="9200" b="true">
                <a:solidFill>
                  <a:srgbClr val="FFFFFF">
                    <a:alpha val="46667"/>
                  </a:srgbClr>
                </a:solidFill>
                <a:latin typeface="Open Sans Bold"/>
                <a:ea typeface="Open Sans Bold"/>
                <a:cs typeface="Open Sans Bold"/>
                <a:sym typeface="Open Sans Bold"/>
              </a:rPr>
              <a:t>676767676767676767676767</a:t>
            </a:r>
          </a:p>
        </p:txBody>
      </p:sp>
      <p:grpSp>
        <p:nvGrpSpPr>
          <p:cNvPr name="Group 7" id="7"/>
          <p:cNvGrpSpPr/>
          <p:nvPr/>
        </p:nvGrpSpPr>
        <p:grpSpPr>
          <a:xfrm rot="0">
            <a:off x="865600" y="902559"/>
            <a:ext cx="13492447" cy="2926722"/>
            <a:chOff x="0" y="0"/>
            <a:chExt cx="3203168" cy="694817"/>
          </a:xfrm>
        </p:grpSpPr>
        <p:sp>
          <p:nvSpPr>
            <p:cNvPr name="Freeform 8" id="8"/>
            <p:cNvSpPr/>
            <p:nvPr/>
          </p:nvSpPr>
          <p:spPr>
            <a:xfrm flipH="false" flipV="false" rot="0">
              <a:off x="0" y="0"/>
              <a:ext cx="3203168" cy="694817"/>
            </a:xfrm>
            <a:custGeom>
              <a:avLst/>
              <a:gdLst/>
              <a:ahLst/>
              <a:cxnLst/>
              <a:rect r="r" b="b" t="t" l="l"/>
              <a:pathLst>
                <a:path h="694817" w="3203168">
                  <a:moveTo>
                    <a:pt x="20083" y="0"/>
                  </a:moveTo>
                  <a:lnTo>
                    <a:pt x="3183085" y="0"/>
                  </a:lnTo>
                  <a:cubicBezTo>
                    <a:pt x="3188412" y="0"/>
                    <a:pt x="3193520" y="2116"/>
                    <a:pt x="3197286" y="5882"/>
                  </a:cubicBezTo>
                  <a:cubicBezTo>
                    <a:pt x="3201052" y="9648"/>
                    <a:pt x="3203168" y="14757"/>
                    <a:pt x="3203168" y="20083"/>
                  </a:cubicBezTo>
                  <a:lnTo>
                    <a:pt x="3203168" y="674734"/>
                  </a:lnTo>
                  <a:cubicBezTo>
                    <a:pt x="3203168" y="680061"/>
                    <a:pt x="3201052" y="685169"/>
                    <a:pt x="3197286" y="688935"/>
                  </a:cubicBezTo>
                  <a:cubicBezTo>
                    <a:pt x="3193520" y="692701"/>
                    <a:pt x="3188412" y="694817"/>
                    <a:pt x="3183085" y="694817"/>
                  </a:cubicBezTo>
                  <a:lnTo>
                    <a:pt x="20083" y="694817"/>
                  </a:lnTo>
                  <a:cubicBezTo>
                    <a:pt x="14757" y="694817"/>
                    <a:pt x="9648" y="692701"/>
                    <a:pt x="5882" y="688935"/>
                  </a:cubicBezTo>
                  <a:cubicBezTo>
                    <a:pt x="2116" y="685169"/>
                    <a:pt x="0" y="680061"/>
                    <a:pt x="0" y="674734"/>
                  </a:cubicBezTo>
                  <a:lnTo>
                    <a:pt x="0" y="20083"/>
                  </a:lnTo>
                  <a:cubicBezTo>
                    <a:pt x="0" y="14757"/>
                    <a:pt x="2116" y="9648"/>
                    <a:pt x="5882" y="5882"/>
                  </a:cubicBezTo>
                  <a:cubicBezTo>
                    <a:pt x="9648" y="2116"/>
                    <a:pt x="14757" y="0"/>
                    <a:pt x="20083" y="0"/>
                  </a:cubicBezTo>
                  <a:close/>
                </a:path>
              </a:pathLst>
            </a:custGeom>
            <a:gradFill rotWithShape="true">
              <a:gsLst>
                <a:gs pos="0">
                  <a:srgbClr val="0C4A5B">
                    <a:alpha val="100000"/>
                  </a:srgbClr>
                </a:gs>
                <a:gs pos="100000">
                  <a:srgbClr val="27DDDF">
                    <a:alpha val="100000"/>
                  </a:srgbClr>
                </a:gs>
              </a:gsLst>
              <a:lin ang="2700000"/>
            </a:gradFill>
          </p:spPr>
        </p:sp>
        <p:sp>
          <p:nvSpPr>
            <p:cNvPr name="TextBox 9" id="9"/>
            <p:cNvSpPr txBox="true"/>
            <p:nvPr/>
          </p:nvSpPr>
          <p:spPr>
            <a:xfrm>
              <a:off x="0" y="19050"/>
              <a:ext cx="3203168" cy="675767"/>
            </a:xfrm>
            <a:prstGeom prst="rect">
              <a:avLst/>
            </a:prstGeom>
          </p:spPr>
          <p:txBody>
            <a:bodyPr anchor="ctr" rtlCol="false" tIns="50800" lIns="50800" bIns="50800" rIns="50800"/>
            <a:lstStyle/>
            <a:p>
              <a:pPr algn="l">
                <a:lnSpc>
                  <a:spcPts val="1387"/>
                </a:lnSpc>
              </a:pPr>
            </a:p>
          </p:txBody>
        </p:sp>
      </p:grpSp>
      <p:grpSp>
        <p:nvGrpSpPr>
          <p:cNvPr name="Group 10" id="10"/>
          <p:cNvGrpSpPr/>
          <p:nvPr/>
        </p:nvGrpSpPr>
        <p:grpSpPr>
          <a:xfrm rot="0">
            <a:off x="6155340" y="4715106"/>
            <a:ext cx="5191382" cy="4543194"/>
            <a:chOff x="0" y="0"/>
            <a:chExt cx="1112096" cy="973241"/>
          </a:xfrm>
        </p:grpSpPr>
        <p:sp>
          <p:nvSpPr>
            <p:cNvPr name="Freeform 11" id="11"/>
            <p:cNvSpPr/>
            <p:nvPr/>
          </p:nvSpPr>
          <p:spPr>
            <a:xfrm flipH="false" flipV="false" rot="0">
              <a:off x="0" y="0"/>
              <a:ext cx="1112096" cy="973241"/>
            </a:xfrm>
            <a:custGeom>
              <a:avLst/>
              <a:gdLst/>
              <a:ahLst/>
              <a:cxnLst/>
              <a:rect r="r" b="b" t="t" l="l"/>
              <a:pathLst>
                <a:path h="973241" w="1112096">
                  <a:moveTo>
                    <a:pt x="52196" y="0"/>
                  </a:moveTo>
                  <a:lnTo>
                    <a:pt x="1059900" y="0"/>
                  </a:lnTo>
                  <a:cubicBezTo>
                    <a:pt x="1088727" y="0"/>
                    <a:pt x="1112096" y="23369"/>
                    <a:pt x="1112096" y="52196"/>
                  </a:cubicBezTo>
                  <a:lnTo>
                    <a:pt x="1112096" y="921046"/>
                  </a:lnTo>
                  <a:cubicBezTo>
                    <a:pt x="1112096" y="949873"/>
                    <a:pt x="1088727" y="973241"/>
                    <a:pt x="1059900" y="973241"/>
                  </a:cubicBezTo>
                  <a:lnTo>
                    <a:pt x="52196" y="973241"/>
                  </a:lnTo>
                  <a:cubicBezTo>
                    <a:pt x="23369" y="973241"/>
                    <a:pt x="0" y="949873"/>
                    <a:pt x="0" y="921046"/>
                  </a:cubicBezTo>
                  <a:lnTo>
                    <a:pt x="0" y="52196"/>
                  </a:lnTo>
                  <a:cubicBezTo>
                    <a:pt x="0" y="23369"/>
                    <a:pt x="23369" y="0"/>
                    <a:pt x="52196" y="0"/>
                  </a:cubicBezTo>
                  <a:close/>
                </a:path>
              </a:pathLst>
            </a:custGeom>
            <a:solidFill>
              <a:srgbClr val="202127"/>
            </a:solidFill>
            <a:ln w="38100" cap="rnd">
              <a:solidFill>
                <a:srgbClr val="FFFFFF"/>
              </a:solidFill>
              <a:prstDash val="solid"/>
              <a:round/>
            </a:ln>
          </p:spPr>
        </p:sp>
        <p:sp>
          <p:nvSpPr>
            <p:cNvPr name="TextBox 12" id="12"/>
            <p:cNvSpPr txBox="true"/>
            <p:nvPr/>
          </p:nvSpPr>
          <p:spPr>
            <a:xfrm>
              <a:off x="0" y="19050"/>
              <a:ext cx="1112096" cy="954191"/>
            </a:xfrm>
            <a:prstGeom prst="rect">
              <a:avLst/>
            </a:prstGeom>
          </p:spPr>
          <p:txBody>
            <a:bodyPr anchor="ctr" rtlCol="false" tIns="50800" lIns="50800" bIns="50800" rIns="50800"/>
            <a:lstStyle/>
            <a:p>
              <a:pPr algn="l">
                <a:lnSpc>
                  <a:spcPts val="1387"/>
                </a:lnSpc>
              </a:pPr>
            </a:p>
          </p:txBody>
        </p:sp>
      </p:grpSp>
      <p:grpSp>
        <p:nvGrpSpPr>
          <p:cNvPr name="Group 13" id="13"/>
          <p:cNvGrpSpPr/>
          <p:nvPr/>
        </p:nvGrpSpPr>
        <p:grpSpPr>
          <a:xfrm rot="0">
            <a:off x="11461022" y="4783714"/>
            <a:ext cx="5425346" cy="4501957"/>
            <a:chOff x="0" y="0"/>
            <a:chExt cx="1210515" cy="1004486"/>
          </a:xfrm>
        </p:grpSpPr>
        <p:sp>
          <p:nvSpPr>
            <p:cNvPr name="Freeform 14" id="14"/>
            <p:cNvSpPr/>
            <p:nvPr/>
          </p:nvSpPr>
          <p:spPr>
            <a:xfrm flipH="false" flipV="false" rot="0">
              <a:off x="0" y="0"/>
              <a:ext cx="1210515" cy="1004486"/>
            </a:xfrm>
            <a:custGeom>
              <a:avLst/>
              <a:gdLst/>
              <a:ahLst/>
              <a:cxnLst/>
              <a:rect r="r" b="b" t="t" l="l"/>
              <a:pathLst>
                <a:path h="1004486" w="1210515">
                  <a:moveTo>
                    <a:pt x="49945" y="0"/>
                  </a:moveTo>
                  <a:lnTo>
                    <a:pt x="1160570" y="0"/>
                  </a:lnTo>
                  <a:cubicBezTo>
                    <a:pt x="1188154" y="0"/>
                    <a:pt x="1210515" y="22361"/>
                    <a:pt x="1210515" y="49945"/>
                  </a:cubicBezTo>
                  <a:lnTo>
                    <a:pt x="1210515" y="954542"/>
                  </a:lnTo>
                  <a:cubicBezTo>
                    <a:pt x="1210515" y="982125"/>
                    <a:pt x="1188154" y="1004486"/>
                    <a:pt x="1160570" y="1004486"/>
                  </a:cubicBezTo>
                  <a:lnTo>
                    <a:pt x="49945" y="1004486"/>
                  </a:lnTo>
                  <a:cubicBezTo>
                    <a:pt x="22361" y="1004486"/>
                    <a:pt x="0" y="982125"/>
                    <a:pt x="0" y="954542"/>
                  </a:cubicBezTo>
                  <a:lnTo>
                    <a:pt x="0" y="49945"/>
                  </a:lnTo>
                  <a:cubicBezTo>
                    <a:pt x="0" y="22361"/>
                    <a:pt x="22361" y="0"/>
                    <a:pt x="49945" y="0"/>
                  </a:cubicBezTo>
                  <a:close/>
                </a:path>
              </a:pathLst>
            </a:custGeom>
            <a:solidFill>
              <a:srgbClr val="202127"/>
            </a:solidFill>
            <a:ln w="38100" cap="rnd">
              <a:solidFill>
                <a:srgbClr val="FFFFFF"/>
              </a:solidFill>
              <a:prstDash val="solid"/>
              <a:round/>
            </a:ln>
          </p:spPr>
        </p:sp>
        <p:sp>
          <p:nvSpPr>
            <p:cNvPr name="TextBox 15" id="15"/>
            <p:cNvSpPr txBox="true"/>
            <p:nvPr/>
          </p:nvSpPr>
          <p:spPr>
            <a:xfrm>
              <a:off x="0" y="19050"/>
              <a:ext cx="1210515" cy="985436"/>
            </a:xfrm>
            <a:prstGeom prst="rect">
              <a:avLst/>
            </a:prstGeom>
          </p:spPr>
          <p:txBody>
            <a:bodyPr anchor="ctr" rtlCol="false" tIns="50800" lIns="50800" bIns="50800" rIns="50800"/>
            <a:lstStyle/>
            <a:p>
              <a:pPr algn="l">
                <a:lnSpc>
                  <a:spcPts val="1387"/>
                </a:lnSpc>
              </a:pPr>
            </a:p>
          </p:txBody>
        </p:sp>
      </p:grpSp>
      <p:sp>
        <p:nvSpPr>
          <p:cNvPr name="TextBox 16" id="16"/>
          <p:cNvSpPr txBox="true"/>
          <p:nvPr/>
        </p:nvSpPr>
        <p:spPr>
          <a:xfrm rot="0">
            <a:off x="1635687" y="1690548"/>
            <a:ext cx="7641890" cy="1309585"/>
          </a:xfrm>
          <a:prstGeom prst="rect">
            <a:avLst/>
          </a:prstGeom>
        </p:spPr>
        <p:txBody>
          <a:bodyPr anchor="t" rtlCol="false" tIns="0" lIns="0" bIns="0" rIns="0">
            <a:spAutoFit/>
          </a:bodyPr>
          <a:lstStyle/>
          <a:p>
            <a:pPr algn="l">
              <a:lnSpc>
                <a:spcPts val="8776"/>
              </a:lnSpc>
            </a:pPr>
            <a:r>
              <a:rPr lang="en-US" sz="8438" spc="-354" b="true">
                <a:solidFill>
                  <a:srgbClr val="FFFFFF"/>
                </a:solidFill>
                <a:latin typeface="Arial MT Pro Bold"/>
                <a:ea typeface="Arial MT Pro Bold"/>
                <a:cs typeface="Arial MT Pro Bold"/>
                <a:sym typeface="Arial MT Pro Bold"/>
              </a:rPr>
              <a:t>Tasks 5 - 7</a:t>
            </a:r>
          </a:p>
        </p:txBody>
      </p:sp>
      <p:sp>
        <p:nvSpPr>
          <p:cNvPr name="TextBox 17" id="17"/>
          <p:cNvSpPr txBox="true"/>
          <p:nvPr/>
        </p:nvSpPr>
        <p:spPr>
          <a:xfrm rot="0">
            <a:off x="1377746" y="5153060"/>
            <a:ext cx="3034459" cy="521613"/>
          </a:xfrm>
          <a:prstGeom prst="rect">
            <a:avLst/>
          </a:prstGeom>
        </p:spPr>
        <p:txBody>
          <a:bodyPr anchor="t" rtlCol="false" tIns="0" lIns="0" bIns="0" rIns="0">
            <a:spAutoFit/>
          </a:bodyPr>
          <a:lstStyle/>
          <a:p>
            <a:pPr algn="l">
              <a:lnSpc>
                <a:spcPts val="3498"/>
              </a:lnSpc>
            </a:pPr>
            <a:r>
              <a:rPr lang="en-US" sz="3364" spc="-141" b="true">
                <a:solidFill>
                  <a:srgbClr val="FFFFFF"/>
                </a:solidFill>
                <a:latin typeface="Arial MT Pro Bold"/>
                <a:ea typeface="Arial MT Pro Bold"/>
                <a:cs typeface="Arial MT Pro Bold"/>
                <a:sym typeface="Arial MT Pro Bold"/>
              </a:rPr>
              <a:t>5</a:t>
            </a:r>
          </a:p>
        </p:txBody>
      </p:sp>
      <p:sp>
        <p:nvSpPr>
          <p:cNvPr name="TextBox 18" id="18"/>
          <p:cNvSpPr txBox="true"/>
          <p:nvPr/>
        </p:nvSpPr>
        <p:spPr>
          <a:xfrm rot="0">
            <a:off x="6649442" y="5153060"/>
            <a:ext cx="2981217" cy="516392"/>
          </a:xfrm>
          <a:prstGeom prst="rect">
            <a:avLst/>
          </a:prstGeom>
        </p:spPr>
        <p:txBody>
          <a:bodyPr anchor="t" rtlCol="false" tIns="0" lIns="0" bIns="0" rIns="0">
            <a:spAutoFit/>
          </a:bodyPr>
          <a:lstStyle/>
          <a:p>
            <a:pPr algn="l">
              <a:lnSpc>
                <a:spcPts val="3462"/>
              </a:lnSpc>
            </a:pPr>
            <a:r>
              <a:rPr lang="en-US" sz="3329" spc="-139" b="true">
                <a:solidFill>
                  <a:srgbClr val="FFFFFF"/>
                </a:solidFill>
                <a:latin typeface="Arial MT Pro Bold"/>
                <a:ea typeface="Arial MT Pro Bold"/>
                <a:cs typeface="Arial MT Pro Bold"/>
                <a:sym typeface="Arial MT Pro Bold"/>
              </a:rPr>
              <a:t>6</a:t>
            </a:r>
          </a:p>
        </p:txBody>
      </p:sp>
      <p:sp>
        <p:nvSpPr>
          <p:cNvPr name="TextBox 19" id="19"/>
          <p:cNvSpPr txBox="true"/>
          <p:nvPr/>
        </p:nvSpPr>
        <p:spPr>
          <a:xfrm rot="0">
            <a:off x="1377746" y="5835987"/>
            <a:ext cx="4147699" cy="2882954"/>
          </a:xfrm>
          <a:prstGeom prst="rect">
            <a:avLst/>
          </a:prstGeom>
        </p:spPr>
        <p:txBody>
          <a:bodyPr anchor="t" rtlCol="false" tIns="0" lIns="0" bIns="0" rIns="0">
            <a:spAutoFit/>
          </a:bodyPr>
          <a:lstStyle/>
          <a:p>
            <a:pPr algn="l">
              <a:lnSpc>
                <a:spcPts val="2272"/>
              </a:lnSpc>
              <a:spcBef>
                <a:spcPct val="0"/>
              </a:spcBef>
            </a:pPr>
            <a:r>
              <a:rPr lang="en-US" b="true" sz="1622">
                <a:solidFill>
                  <a:srgbClr val="FFFFFF"/>
                </a:solidFill>
                <a:latin typeface="Arial MT Pro Bold"/>
                <a:ea typeface="Arial MT Pro Bold"/>
                <a:cs typeface="Arial MT Pro Bold"/>
                <a:sym typeface="Arial MT Pro Bold"/>
              </a:rPr>
              <a:t>JOIN two tables and use the window functions to find the parameters we need. We use window functions to make it easier to compare values and, if necessary, combine them with other tables. We use "PARTITION BY" to group by specific groups of data. To extract the year, we use "EXTRACT" with "::INT" since "EXTRACT" returns a real value, which cannot be the year</a:t>
            </a:r>
          </a:p>
        </p:txBody>
      </p:sp>
      <p:sp>
        <p:nvSpPr>
          <p:cNvPr name="TextBox 20" id="20"/>
          <p:cNvSpPr txBox="true"/>
          <p:nvPr/>
        </p:nvSpPr>
        <p:spPr>
          <a:xfrm rot="0">
            <a:off x="6649442" y="5836434"/>
            <a:ext cx="4543321" cy="2882954"/>
          </a:xfrm>
          <a:prstGeom prst="rect">
            <a:avLst/>
          </a:prstGeom>
        </p:spPr>
        <p:txBody>
          <a:bodyPr anchor="t" rtlCol="false" tIns="0" lIns="0" bIns="0" rIns="0">
            <a:spAutoFit/>
          </a:bodyPr>
          <a:lstStyle/>
          <a:p>
            <a:pPr algn="l">
              <a:lnSpc>
                <a:spcPts val="2105"/>
              </a:lnSpc>
              <a:spcBef>
                <a:spcPct val="0"/>
              </a:spcBef>
            </a:pPr>
            <a:r>
              <a:rPr lang="en-US" b="true" sz="1503">
                <a:solidFill>
                  <a:srgbClr val="FFFFFF"/>
                </a:solidFill>
                <a:latin typeface="Arial MT Pro Bold"/>
                <a:ea typeface="Arial MT Pro Bold"/>
                <a:cs typeface="Arial MT Pro Bold"/>
                <a:sym typeface="Arial MT Pro Bold"/>
              </a:rPr>
              <a:t>Again, we use window functions to preserve the original appearance of the table. Using "PARTITION BY", we divide the data into certain "store-family" ("store-item") groups in order to count the parameters without mixing different data. "BETWEEN" is used to create a specific time frame. We use "STDDEV_SAMP" because we have data for a specific sample and not for the entire "population". For the coefficient of variation, we use the "CASE" expression/method to eliminate division by zero errors</a:t>
            </a:r>
          </a:p>
        </p:txBody>
      </p:sp>
      <p:sp>
        <p:nvSpPr>
          <p:cNvPr name="TextBox 21" id="21"/>
          <p:cNvSpPr txBox="true"/>
          <p:nvPr/>
        </p:nvSpPr>
        <p:spPr>
          <a:xfrm rot="0">
            <a:off x="12100375" y="5112409"/>
            <a:ext cx="3061869" cy="505693"/>
          </a:xfrm>
          <a:prstGeom prst="rect">
            <a:avLst/>
          </a:prstGeom>
        </p:spPr>
        <p:txBody>
          <a:bodyPr anchor="t" rtlCol="false" tIns="0" lIns="0" bIns="0" rIns="0">
            <a:spAutoFit/>
          </a:bodyPr>
          <a:lstStyle/>
          <a:p>
            <a:pPr algn="l">
              <a:lnSpc>
                <a:spcPts val="3324"/>
              </a:lnSpc>
            </a:pPr>
            <a:r>
              <a:rPr lang="en-US" sz="3196" spc="-134" b="true">
                <a:solidFill>
                  <a:srgbClr val="FFFFFF"/>
                </a:solidFill>
                <a:latin typeface="Arial MT Pro Bold"/>
                <a:ea typeface="Arial MT Pro Bold"/>
                <a:cs typeface="Arial MT Pro Bold"/>
                <a:sym typeface="Arial MT Pro Bold"/>
              </a:rPr>
              <a:t>7</a:t>
            </a:r>
          </a:p>
        </p:txBody>
      </p:sp>
      <p:sp>
        <p:nvSpPr>
          <p:cNvPr name="TextBox 22" id="22"/>
          <p:cNvSpPr txBox="true"/>
          <p:nvPr/>
        </p:nvSpPr>
        <p:spPr>
          <a:xfrm rot="0">
            <a:off x="11684118" y="5836434"/>
            <a:ext cx="4338371" cy="2367531"/>
          </a:xfrm>
          <a:prstGeom prst="rect">
            <a:avLst/>
          </a:prstGeom>
        </p:spPr>
        <p:txBody>
          <a:bodyPr anchor="t" rtlCol="false" tIns="0" lIns="0" bIns="0" rIns="0">
            <a:spAutoFit/>
          </a:bodyPr>
          <a:lstStyle/>
          <a:p>
            <a:pPr algn="l">
              <a:lnSpc>
                <a:spcPts val="2356"/>
              </a:lnSpc>
              <a:spcBef>
                <a:spcPct val="0"/>
              </a:spcBef>
            </a:pPr>
            <a:r>
              <a:rPr lang="en-US" b="true" sz="1683">
                <a:solidFill>
                  <a:srgbClr val="FFFFFF"/>
                </a:solidFill>
                <a:latin typeface="Arial MT Pro Bold"/>
                <a:ea typeface="Arial MT Pro Bold"/>
                <a:cs typeface="Arial MT Pro Bold"/>
                <a:sym typeface="Arial MT Pro Bold"/>
              </a:rPr>
              <a:t>The percentage of change is also calculated using the "CASE" expression/method to remove division by zero errors and incorrect values in case of insufficient accumulation of days for counting. In the end, we paint separate windows so that the code looks less bulky and is more readable</a:t>
            </a:r>
          </a:p>
        </p:txBody>
      </p:sp>
    </p:spTree>
  </p:cSld>
  <p:clrMapOvr>
    <a:masterClrMapping/>
  </p:clrMapOvr>
</p:sld>
</file>

<file path=ppt/slides/slide6.xml><?xml version="1.0" encoding="utf-8"?>
<p:sld xmlns:p="http://schemas.openxmlformats.org/presentationml/2006/main" xmlns:a="http://schemas.openxmlformats.org/drawingml/2006/main">
  <p:cSld>
    <p:bg>
      <p:bgPr>
        <a:solidFill>
          <a:srgbClr val="141519"/>
        </a:solidFill>
      </p:bgPr>
    </p:bg>
    <p:spTree>
      <p:nvGrpSpPr>
        <p:cNvPr id="1" name=""/>
        <p:cNvGrpSpPr/>
        <p:nvPr/>
      </p:nvGrpSpPr>
      <p:grpSpPr>
        <a:xfrm>
          <a:off x="0" y="0"/>
          <a:ext cx="0" cy="0"/>
          <a:chOff x="0" y="0"/>
          <a:chExt cx="0" cy="0"/>
        </a:xfrm>
      </p:grpSpPr>
      <p:grpSp>
        <p:nvGrpSpPr>
          <p:cNvPr name="Group 2" id="2"/>
          <p:cNvGrpSpPr/>
          <p:nvPr/>
        </p:nvGrpSpPr>
        <p:grpSpPr>
          <a:xfrm rot="-4011154">
            <a:off x="1902118" y="-3044536"/>
            <a:ext cx="17403374" cy="18180272"/>
            <a:chOff x="0" y="0"/>
            <a:chExt cx="4583605" cy="4788220"/>
          </a:xfrm>
        </p:grpSpPr>
        <p:sp>
          <p:nvSpPr>
            <p:cNvPr name="Freeform 3" id="3"/>
            <p:cNvSpPr/>
            <p:nvPr/>
          </p:nvSpPr>
          <p:spPr>
            <a:xfrm flipH="false" flipV="false" rot="0">
              <a:off x="0" y="0"/>
              <a:ext cx="4583605" cy="4788220"/>
            </a:xfrm>
            <a:custGeom>
              <a:avLst/>
              <a:gdLst/>
              <a:ahLst/>
              <a:cxnLst/>
              <a:rect r="r" b="b" t="t" l="l"/>
              <a:pathLst>
                <a:path h="4788220" w="4583605">
                  <a:moveTo>
                    <a:pt x="0" y="0"/>
                  </a:moveTo>
                  <a:lnTo>
                    <a:pt x="4583605" y="0"/>
                  </a:lnTo>
                  <a:lnTo>
                    <a:pt x="4583605" y="4788220"/>
                  </a:lnTo>
                  <a:lnTo>
                    <a:pt x="0" y="4788220"/>
                  </a:lnTo>
                  <a:close/>
                </a:path>
              </a:pathLst>
            </a:custGeom>
            <a:gradFill rotWithShape="true">
              <a:gsLst>
                <a:gs pos="0">
                  <a:srgbClr val="27DDDF">
                    <a:alpha val="0"/>
                  </a:srgbClr>
                </a:gs>
                <a:gs pos="100000">
                  <a:srgbClr val="27DDDF">
                    <a:alpha val="100000"/>
                  </a:srgbClr>
                </a:gs>
              </a:gsLst>
              <a:lin ang="5400000"/>
            </a:gradFill>
          </p:spPr>
        </p:sp>
        <p:sp>
          <p:nvSpPr>
            <p:cNvPr name="TextBox 4" id="4"/>
            <p:cNvSpPr txBox="true"/>
            <p:nvPr/>
          </p:nvSpPr>
          <p:spPr>
            <a:xfrm>
              <a:off x="0" y="19050"/>
              <a:ext cx="4583605" cy="4769170"/>
            </a:xfrm>
            <a:prstGeom prst="rect">
              <a:avLst/>
            </a:prstGeom>
          </p:spPr>
          <p:txBody>
            <a:bodyPr anchor="ctr" rtlCol="false" tIns="50800" lIns="50800" bIns="50800" rIns="50800"/>
            <a:lstStyle/>
            <a:p>
              <a:pPr algn="ctr">
                <a:lnSpc>
                  <a:spcPts val="1387"/>
                </a:lnSpc>
              </a:pPr>
            </a:p>
          </p:txBody>
        </p:sp>
      </p:grpSp>
      <p:grpSp>
        <p:nvGrpSpPr>
          <p:cNvPr name="Group 5" id="5"/>
          <p:cNvGrpSpPr/>
          <p:nvPr/>
        </p:nvGrpSpPr>
        <p:grpSpPr>
          <a:xfrm rot="0">
            <a:off x="0" y="7724775"/>
            <a:ext cx="18288000" cy="6686550"/>
            <a:chOff x="0" y="0"/>
            <a:chExt cx="4816593" cy="1761067"/>
          </a:xfrm>
        </p:grpSpPr>
        <p:sp>
          <p:nvSpPr>
            <p:cNvPr name="Freeform 6" id="6"/>
            <p:cNvSpPr/>
            <p:nvPr/>
          </p:nvSpPr>
          <p:spPr>
            <a:xfrm flipH="false" flipV="false" rot="0">
              <a:off x="0" y="0"/>
              <a:ext cx="4816592" cy="1761067"/>
            </a:xfrm>
            <a:custGeom>
              <a:avLst/>
              <a:gdLst/>
              <a:ahLst/>
              <a:cxnLst/>
              <a:rect r="r" b="b" t="t" l="l"/>
              <a:pathLst>
                <a:path h="1761067" w="4816592">
                  <a:moveTo>
                    <a:pt x="0" y="0"/>
                  </a:moveTo>
                  <a:lnTo>
                    <a:pt x="4816592" y="0"/>
                  </a:lnTo>
                  <a:lnTo>
                    <a:pt x="4816592" y="1761067"/>
                  </a:lnTo>
                  <a:lnTo>
                    <a:pt x="0" y="1761067"/>
                  </a:lnTo>
                  <a:close/>
                </a:path>
              </a:pathLst>
            </a:custGeom>
            <a:gradFill rotWithShape="true">
              <a:gsLst>
                <a:gs pos="0">
                  <a:srgbClr val="2D2E34">
                    <a:alpha val="0"/>
                  </a:srgbClr>
                </a:gs>
                <a:gs pos="100000">
                  <a:srgbClr val="2D2E34">
                    <a:alpha val="100000"/>
                  </a:srgbClr>
                </a:gs>
              </a:gsLst>
              <a:lin ang="5400000"/>
            </a:gradFill>
          </p:spPr>
        </p:sp>
        <p:sp>
          <p:nvSpPr>
            <p:cNvPr name="TextBox 7" id="7"/>
            <p:cNvSpPr txBox="true"/>
            <p:nvPr/>
          </p:nvSpPr>
          <p:spPr>
            <a:xfrm>
              <a:off x="0" y="19050"/>
              <a:ext cx="4816593" cy="1742017"/>
            </a:xfrm>
            <a:prstGeom prst="rect">
              <a:avLst/>
            </a:prstGeom>
          </p:spPr>
          <p:txBody>
            <a:bodyPr anchor="ctr" rtlCol="false" tIns="50800" lIns="50800" bIns="50800" rIns="50800"/>
            <a:lstStyle/>
            <a:p>
              <a:pPr algn="ctr">
                <a:lnSpc>
                  <a:spcPts val="1387"/>
                </a:lnSpc>
              </a:pPr>
            </a:p>
          </p:txBody>
        </p:sp>
      </p:grpSp>
      <p:grpSp>
        <p:nvGrpSpPr>
          <p:cNvPr name="Group 8" id="8"/>
          <p:cNvGrpSpPr/>
          <p:nvPr/>
        </p:nvGrpSpPr>
        <p:grpSpPr>
          <a:xfrm rot="0">
            <a:off x="1028700" y="664277"/>
            <a:ext cx="3997217" cy="2412851"/>
            <a:chOff x="0" y="0"/>
            <a:chExt cx="1052765" cy="635483"/>
          </a:xfrm>
        </p:grpSpPr>
        <p:sp>
          <p:nvSpPr>
            <p:cNvPr name="Freeform 9" id="9"/>
            <p:cNvSpPr/>
            <p:nvPr/>
          </p:nvSpPr>
          <p:spPr>
            <a:xfrm flipH="false" flipV="false" rot="0">
              <a:off x="0" y="0"/>
              <a:ext cx="1052765" cy="635483"/>
            </a:xfrm>
            <a:custGeom>
              <a:avLst/>
              <a:gdLst/>
              <a:ahLst/>
              <a:cxnLst/>
              <a:rect r="r" b="b" t="t" l="l"/>
              <a:pathLst>
                <a:path h="635483" w="1052765">
                  <a:moveTo>
                    <a:pt x="54231" y="0"/>
                  </a:moveTo>
                  <a:lnTo>
                    <a:pt x="998534" y="0"/>
                  </a:lnTo>
                  <a:cubicBezTo>
                    <a:pt x="1028485" y="0"/>
                    <a:pt x="1052765" y="24280"/>
                    <a:pt x="1052765" y="54231"/>
                  </a:cubicBezTo>
                  <a:lnTo>
                    <a:pt x="1052765" y="581252"/>
                  </a:lnTo>
                  <a:cubicBezTo>
                    <a:pt x="1052765" y="595635"/>
                    <a:pt x="1047051" y="609429"/>
                    <a:pt x="1036881" y="619599"/>
                  </a:cubicBezTo>
                  <a:cubicBezTo>
                    <a:pt x="1026711" y="629770"/>
                    <a:pt x="1012917" y="635483"/>
                    <a:pt x="998534" y="635483"/>
                  </a:cubicBezTo>
                  <a:lnTo>
                    <a:pt x="54231" y="635483"/>
                  </a:lnTo>
                  <a:cubicBezTo>
                    <a:pt x="24280" y="635483"/>
                    <a:pt x="0" y="611203"/>
                    <a:pt x="0" y="581252"/>
                  </a:cubicBezTo>
                  <a:lnTo>
                    <a:pt x="0" y="54231"/>
                  </a:lnTo>
                  <a:cubicBezTo>
                    <a:pt x="0" y="24280"/>
                    <a:pt x="24280" y="0"/>
                    <a:pt x="54231" y="0"/>
                  </a:cubicBezTo>
                  <a:close/>
                </a:path>
              </a:pathLst>
            </a:custGeom>
            <a:gradFill rotWithShape="true">
              <a:gsLst>
                <a:gs pos="0">
                  <a:srgbClr val="0C4A5B">
                    <a:alpha val="100000"/>
                  </a:srgbClr>
                </a:gs>
                <a:gs pos="100000">
                  <a:srgbClr val="27DDDF">
                    <a:alpha val="100000"/>
                  </a:srgbClr>
                </a:gs>
              </a:gsLst>
              <a:lin ang="2700000"/>
            </a:gradFill>
          </p:spPr>
        </p:sp>
        <p:sp>
          <p:nvSpPr>
            <p:cNvPr name="TextBox 10" id="10"/>
            <p:cNvSpPr txBox="true"/>
            <p:nvPr/>
          </p:nvSpPr>
          <p:spPr>
            <a:xfrm>
              <a:off x="0" y="19050"/>
              <a:ext cx="1052765" cy="616433"/>
            </a:xfrm>
            <a:prstGeom prst="rect">
              <a:avLst/>
            </a:prstGeom>
          </p:spPr>
          <p:txBody>
            <a:bodyPr anchor="ctr" rtlCol="false" tIns="50800" lIns="50800" bIns="50800" rIns="50800"/>
            <a:lstStyle/>
            <a:p>
              <a:pPr algn="ctr">
                <a:lnSpc>
                  <a:spcPts val="1387"/>
                </a:lnSpc>
              </a:pPr>
            </a:p>
          </p:txBody>
        </p:sp>
      </p:grpSp>
      <p:grpSp>
        <p:nvGrpSpPr>
          <p:cNvPr name="Group 11" id="11"/>
          <p:cNvGrpSpPr/>
          <p:nvPr/>
        </p:nvGrpSpPr>
        <p:grpSpPr>
          <a:xfrm rot="0">
            <a:off x="1028700" y="3275620"/>
            <a:ext cx="7553191" cy="5632809"/>
            <a:chOff x="0" y="0"/>
            <a:chExt cx="1989318" cy="1483538"/>
          </a:xfrm>
        </p:grpSpPr>
        <p:sp>
          <p:nvSpPr>
            <p:cNvPr name="Freeform 12" id="12"/>
            <p:cNvSpPr/>
            <p:nvPr/>
          </p:nvSpPr>
          <p:spPr>
            <a:xfrm flipH="false" flipV="false" rot="0">
              <a:off x="0" y="0"/>
              <a:ext cx="1989318" cy="1483538"/>
            </a:xfrm>
            <a:custGeom>
              <a:avLst/>
              <a:gdLst/>
              <a:ahLst/>
              <a:cxnLst/>
              <a:rect r="r" b="b" t="t" l="l"/>
              <a:pathLst>
                <a:path h="1483538" w="1989318">
                  <a:moveTo>
                    <a:pt x="28700" y="0"/>
                  </a:moveTo>
                  <a:lnTo>
                    <a:pt x="1960618" y="0"/>
                  </a:lnTo>
                  <a:cubicBezTo>
                    <a:pt x="1976469" y="0"/>
                    <a:pt x="1989318" y="12849"/>
                    <a:pt x="1989318" y="28700"/>
                  </a:cubicBezTo>
                  <a:lnTo>
                    <a:pt x="1989318" y="1454839"/>
                  </a:lnTo>
                  <a:cubicBezTo>
                    <a:pt x="1989318" y="1462450"/>
                    <a:pt x="1986294" y="1469750"/>
                    <a:pt x="1980912" y="1475132"/>
                  </a:cubicBezTo>
                  <a:cubicBezTo>
                    <a:pt x="1975530" y="1480515"/>
                    <a:pt x="1968230" y="1483538"/>
                    <a:pt x="1960618" y="1483538"/>
                  </a:cubicBezTo>
                  <a:lnTo>
                    <a:pt x="28700" y="1483538"/>
                  </a:lnTo>
                  <a:cubicBezTo>
                    <a:pt x="12849" y="1483538"/>
                    <a:pt x="0" y="1470689"/>
                    <a:pt x="0" y="1454839"/>
                  </a:cubicBezTo>
                  <a:lnTo>
                    <a:pt x="0" y="28700"/>
                  </a:lnTo>
                  <a:cubicBezTo>
                    <a:pt x="0" y="21088"/>
                    <a:pt x="3024" y="13788"/>
                    <a:pt x="8406" y="8406"/>
                  </a:cubicBezTo>
                  <a:cubicBezTo>
                    <a:pt x="13788" y="3024"/>
                    <a:pt x="21088" y="0"/>
                    <a:pt x="28700" y="0"/>
                  </a:cubicBezTo>
                  <a:close/>
                </a:path>
              </a:pathLst>
            </a:custGeom>
            <a:solidFill>
              <a:srgbClr val="202127"/>
            </a:solidFill>
            <a:ln w="38100" cap="rnd">
              <a:solidFill>
                <a:srgbClr val="FFFFFF"/>
              </a:solidFill>
              <a:prstDash val="solid"/>
              <a:round/>
            </a:ln>
          </p:spPr>
        </p:sp>
        <p:sp>
          <p:nvSpPr>
            <p:cNvPr name="TextBox 13" id="13"/>
            <p:cNvSpPr txBox="true"/>
            <p:nvPr/>
          </p:nvSpPr>
          <p:spPr>
            <a:xfrm>
              <a:off x="0" y="19050"/>
              <a:ext cx="1989318" cy="1464488"/>
            </a:xfrm>
            <a:prstGeom prst="rect">
              <a:avLst/>
            </a:prstGeom>
          </p:spPr>
          <p:txBody>
            <a:bodyPr anchor="ctr" rtlCol="false" tIns="50800" lIns="50800" bIns="50800" rIns="50800"/>
            <a:lstStyle/>
            <a:p>
              <a:pPr algn="ctr">
                <a:lnSpc>
                  <a:spcPts val="1387"/>
                </a:lnSpc>
              </a:pPr>
            </a:p>
          </p:txBody>
        </p:sp>
      </p:grpSp>
      <p:sp>
        <p:nvSpPr>
          <p:cNvPr name="TextBox 14" id="14"/>
          <p:cNvSpPr txBox="true"/>
          <p:nvPr/>
        </p:nvSpPr>
        <p:spPr>
          <a:xfrm rot="0">
            <a:off x="1535312" y="1590800"/>
            <a:ext cx="2983993" cy="672050"/>
          </a:xfrm>
          <a:prstGeom prst="rect">
            <a:avLst/>
          </a:prstGeom>
        </p:spPr>
        <p:txBody>
          <a:bodyPr anchor="t" rtlCol="false" tIns="0" lIns="0" bIns="0" rIns="0">
            <a:spAutoFit/>
          </a:bodyPr>
          <a:lstStyle/>
          <a:p>
            <a:pPr algn="l">
              <a:lnSpc>
                <a:spcPts val="4475"/>
              </a:lnSpc>
            </a:pPr>
            <a:r>
              <a:rPr lang="en-US" sz="4303" spc="-180" b="true">
                <a:solidFill>
                  <a:srgbClr val="FFFFFF"/>
                </a:solidFill>
                <a:latin typeface="Arial MT Pro Bold"/>
                <a:ea typeface="Arial MT Pro Bold"/>
                <a:cs typeface="Arial MT Pro Bold"/>
                <a:sym typeface="Arial MT Pro Bold"/>
              </a:rPr>
              <a:t>Tasks 8 - 9</a:t>
            </a:r>
          </a:p>
        </p:txBody>
      </p:sp>
      <p:sp>
        <p:nvSpPr>
          <p:cNvPr name="TextBox 15" id="15"/>
          <p:cNvSpPr txBox="true"/>
          <p:nvPr/>
        </p:nvSpPr>
        <p:spPr>
          <a:xfrm rot="0">
            <a:off x="1509742" y="3767907"/>
            <a:ext cx="6465237" cy="4545860"/>
          </a:xfrm>
          <a:prstGeom prst="rect">
            <a:avLst/>
          </a:prstGeom>
        </p:spPr>
        <p:txBody>
          <a:bodyPr anchor="t" rtlCol="false" tIns="0" lIns="0" bIns="0" rIns="0">
            <a:spAutoFit/>
          </a:bodyPr>
          <a:lstStyle/>
          <a:p>
            <a:pPr algn="l">
              <a:lnSpc>
                <a:spcPts val="1776"/>
              </a:lnSpc>
            </a:pPr>
            <a:r>
              <a:rPr lang="en-US" sz="1708" spc="-71" b="true">
                <a:solidFill>
                  <a:srgbClr val="FFFFFF"/>
                </a:solidFill>
                <a:latin typeface="Arial MT Pro Bold"/>
                <a:ea typeface="Arial MT Pro Bold"/>
                <a:cs typeface="Arial MT Pro Bold"/>
                <a:sym typeface="Arial MT Pro Bold"/>
              </a:rPr>
              <a:t>Step 1: Connecting to the Database and Loading Data</a:t>
            </a:r>
          </a:p>
          <a:p>
            <a:pPr algn="l">
              <a:lnSpc>
                <a:spcPts val="1776"/>
              </a:lnSpc>
            </a:pPr>
            <a:r>
              <a:rPr lang="en-US" sz="1708" spc="-71" b="true">
                <a:solidFill>
                  <a:srgbClr val="FFFFFF"/>
                </a:solidFill>
                <a:latin typeface="Arial MT Pro Bold"/>
                <a:ea typeface="Arial MT Pro Bold"/>
                <a:cs typeface="Arial MT Pro Bold"/>
                <a:sym typeface="Arial MT Pro Bold"/>
              </a:rPr>
              <a:t>A connection is established to PostgreSQL, where transaction data is loaded from a pandas DataFrame. A table is created with the following columns: date, store number, and number of transactions.</a:t>
            </a:r>
          </a:p>
          <a:p>
            <a:pPr algn="l">
              <a:lnSpc>
                <a:spcPts val="1776"/>
              </a:lnSpc>
            </a:pPr>
            <a:r>
              <a:rPr lang="en-US" sz="1708" spc="-71" b="true">
                <a:solidFill>
                  <a:srgbClr val="FFFFFF"/>
                </a:solidFill>
                <a:latin typeface="Arial MT Pro Bold"/>
                <a:ea typeface="Arial MT Pro Bold"/>
                <a:cs typeface="Arial MT Pro Bold"/>
                <a:sym typeface="Arial MT Pro Bold"/>
              </a:rPr>
              <a:t>Step 2: Calculating Moving Averages</a:t>
            </a:r>
          </a:p>
          <a:p>
            <a:pPr algn="l">
              <a:lnSpc>
                <a:spcPts val="1776"/>
              </a:lnSpc>
            </a:pPr>
            <a:r>
              <a:rPr lang="en-US" sz="1708" spc="-71" b="true">
                <a:solidFill>
                  <a:srgbClr val="FFFFFF"/>
                </a:solidFill>
                <a:latin typeface="Arial MT Pro Bold"/>
                <a:ea typeface="Arial MT Pro Bold"/>
                <a:cs typeface="Arial MT Pro Bold"/>
                <a:sym typeface="Arial MT Pro Bold"/>
              </a:rPr>
              <a:t>For each store, the following are calculated using SQL window functions</a:t>
            </a:r>
          </a:p>
          <a:p>
            <a:pPr algn="l">
              <a:lnSpc>
                <a:spcPts val="1776"/>
              </a:lnSpc>
            </a:pPr>
          </a:p>
          <a:p>
            <a:pPr algn="l">
              <a:lnSpc>
                <a:spcPts val="1776"/>
              </a:lnSpc>
            </a:pPr>
            <a:r>
              <a:rPr lang="en-US" sz="1708" spc="-71" b="true">
                <a:solidFill>
                  <a:srgbClr val="FFFFFF"/>
                </a:solidFill>
                <a:latin typeface="Arial MT Pro Bold"/>
                <a:ea typeface="Arial MT Pro Bold"/>
                <a:cs typeface="Arial MT Pro Bold"/>
                <a:sym typeface="Arial MT Pro Bold"/>
              </a:rPr>
              <a:t>7-day moving average – average for the current day and the previous 6 days</a:t>
            </a:r>
          </a:p>
          <a:p>
            <a:pPr algn="l">
              <a:lnSpc>
                <a:spcPts val="1776"/>
              </a:lnSpc>
            </a:pPr>
            <a:r>
              <a:rPr lang="en-US" sz="1708" spc="-71" b="true">
                <a:solidFill>
                  <a:srgbClr val="FFFFFF"/>
                </a:solidFill>
                <a:latin typeface="Arial MT Pro Bold"/>
                <a:ea typeface="Arial MT Pro Bold"/>
                <a:cs typeface="Arial MT Pro Bold"/>
                <a:sym typeface="Arial MT Pro Bold"/>
              </a:rPr>
              <a:t>30-day moving average – average for the current day and the previous 29 days</a:t>
            </a:r>
          </a:p>
          <a:p>
            <a:pPr algn="l">
              <a:lnSpc>
                <a:spcPts val="1776"/>
              </a:lnSpc>
            </a:pPr>
          </a:p>
          <a:p>
            <a:pPr algn="l">
              <a:lnSpc>
                <a:spcPts val="1776"/>
              </a:lnSpc>
            </a:pPr>
            <a:r>
              <a:rPr lang="en-US" sz="1708" spc="-71" b="true">
                <a:solidFill>
                  <a:srgbClr val="FFFFFF"/>
                </a:solidFill>
                <a:latin typeface="Arial MT Pro Bold"/>
                <a:ea typeface="Arial MT Pro Bold"/>
                <a:cs typeface="Arial MT Pro Bold"/>
                <a:sym typeface="Arial MT Pro Bold"/>
              </a:rPr>
              <a:t>S</a:t>
            </a:r>
            <a:r>
              <a:rPr lang="en-US" sz="1708" spc="-71" b="true">
                <a:solidFill>
                  <a:srgbClr val="FFFFFF"/>
                </a:solidFill>
                <a:latin typeface="Arial MT Pro Bold"/>
                <a:ea typeface="Arial MT Pro Bold"/>
                <a:cs typeface="Arial MT Pro Bold"/>
                <a:sym typeface="Arial MT Pro Bold"/>
              </a:rPr>
              <a:t>tep 3: Merging and Returning Data</a:t>
            </a:r>
          </a:p>
          <a:p>
            <a:pPr algn="l">
              <a:lnSpc>
                <a:spcPts val="1776"/>
              </a:lnSpc>
            </a:pPr>
            <a:r>
              <a:rPr lang="en-US" sz="1708" spc="-71" b="true">
                <a:solidFill>
                  <a:srgbClr val="FFFFFF"/>
                </a:solidFill>
                <a:latin typeface="Arial MT Pro Bold"/>
                <a:ea typeface="Arial MT Pro Bold"/>
                <a:cs typeface="Arial MT Pro Bold"/>
                <a:sym typeface="Arial MT Pro Bold"/>
              </a:rPr>
              <a:t>The calculated metrics are saved in a separate table and then appended to the original date and store data. The result is retrieved from the database and converted back to a pandas DataFrame.</a:t>
            </a:r>
          </a:p>
          <a:p>
            <a:pPr algn="l">
              <a:lnSpc>
                <a:spcPts val="1776"/>
              </a:lnSpc>
            </a:pPr>
          </a:p>
          <a:p>
            <a:pPr algn="l">
              <a:lnSpc>
                <a:spcPts val="1776"/>
              </a:lnSpc>
            </a:pPr>
            <a:r>
              <a:rPr lang="en-US" sz="1708" spc="-71" b="true">
                <a:solidFill>
                  <a:srgbClr val="FFFFFF"/>
                </a:solidFill>
                <a:latin typeface="Arial MT Pro Bold"/>
                <a:ea typeface="Arial MT Pro Bold"/>
                <a:cs typeface="Arial MT Pro Bold"/>
                <a:sym typeface="Arial MT Pro Bold"/>
              </a:rPr>
              <a:t>Result: The output is a DataFrame with the date, store number, and two moving averages for each record.</a:t>
            </a:r>
          </a:p>
        </p:txBody>
      </p:sp>
      <p:grpSp>
        <p:nvGrpSpPr>
          <p:cNvPr name="Group 16" id="16"/>
          <p:cNvGrpSpPr/>
          <p:nvPr/>
        </p:nvGrpSpPr>
        <p:grpSpPr>
          <a:xfrm rot="0">
            <a:off x="9001025" y="397838"/>
            <a:ext cx="8574444" cy="6394411"/>
            <a:chOff x="0" y="0"/>
            <a:chExt cx="1989318" cy="1483538"/>
          </a:xfrm>
        </p:grpSpPr>
        <p:sp>
          <p:nvSpPr>
            <p:cNvPr name="Freeform 17" id="17"/>
            <p:cNvSpPr/>
            <p:nvPr/>
          </p:nvSpPr>
          <p:spPr>
            <a:xfrm flipH="false" flipV="false" rot="0">
              <a:off x="0" y="0"/>
              <a:ext cx="1989318" cy="1483538"/>
            </a:xfrm>
            <a:custGeom>
              <a:avLst/>
              <a:gdLst/>
              <a:ahLst/>
              <a:cxnLst/>
              <a:rect r="r" b="b" t="t" l="l"/>
              <a:pathLst>
                <a:path h="1483538" w="1989318">
                  <a:moveTo>
                    <a:pt x="25281" y="0"/>
                  </a:moveTo>
                  <a:lnTo>
                    <a:pt x="1964037" y="0"/>
                  </a:lnTo>
                  <a:cubicBezTo>
                    <a:pt x="1977999" y="0"/>
                    <a:pt x="1989318" y="11319"/>
                    <a:pt x="1989318" y="25281"/>
                  </a:cubicBezTo>
                  <a:lnTo>
                    <a:pt x="1989318" y="1458257"/>
                  </a:lnTo>
                  <a:cubicBezTo>
                    <a:pt x="1989318" y="1464962"/>
                    <a:pt x="1986654" y="1471392"/>
                    <a:pt x="1981913" y="1476134"/>
                  </a:cubicBezTo>
                  <a:cubicBezTo>
                    <a:pt x="1977172" y="1480875"/>
                    <a:pt x="1970742" y="1483538"/>
                    <a:pt x="1964037" y="1483538"/>
                  </a:cubicBezTo>
                  <a:lnTo>
                    <a:pt x="25281" y="1483538"/>
                  </a:lnTo>
                  <a:cubicBezTo>
                    <a:pt x="11319" y="1483538"/>
                    <a:pt x="0" y="1472219"/>
                    <a:pt x="0" y="1458257"/>
                  </a:cubicBezTo>
                  <a:lnTo>
                    <a:pt x="0" y="25281"/>
                  </a:lnTo>
                  <a:cubicBezTo>
                    <a:pt x="0" y="11319"/>
                    <a:pt x="11319" y="0"/>
                    <a:pt x="25281" y="0"/>
                  </a:cubicBezTo>
                  <a:close/>
                </a:path>
              </a:pathLst>
            </a:custGeom>
            <a:solidFill>
              <a:srgbClr val="202127"/>
            </a:solidFill>
            <a:ln w="38100" cap="rnd">
              <a:solidFill>
                <a:srgbClr val="FFFFFF"/>
              </a:solidFill>
              <a:prstDash val="solid"/>
              <a:round/>
            </a:ln>
          </p:spPr>
        </p:sp>
        <p:sp>
          <p:nvSpPr>
            <p:cNvPr name="TextBox 18" id="18"/>
            <p:cNvSpPr txBox="true"/>
            <p:nvPr/>
          </p:nvSpPr>
          <p:spPr>
            <a:xfrm>
              <a:off x="0" y="19050"/>
              <a:ext cx="1989318" cy="1464488"/>
            </a:xfrm>
            <a:prstGeom prst="rect">
              <a:avLst/>
            </a:prstGeom>
          </p:spPr>
          <p:txBody>
            <a:bodyPr anchor="ctr" rtlCol="false" tIns="50800" lIns="50800" bIns="50800" rIns="50800"/>
            <a:lstStyle/>
            <a:p>
              <a:pPr algn="ctr">
                <a:lnSpc>
                  <a:spcPts val="1387"/>
                </a:lnSpc>
              </a:pPr>
            </a:p>
          </p:txBody>
        </p:sp>
      </p:grpSp>
      <p:sp>
        <p:nvSpPr>
          <p:cNvPr name="TextBox 19" id="19"/>
          <p:cNvSpPr txBox="true"/>
          <p:nvPr/>
        </p:nvSpPr>
        <p:spPr>
          <a:xfrm rot="0">
            <a:off x="9441653" y="659677"/>
            <a:ext cx="7693188" cy="5468327"/>
          </a:xfrm>
          <a:prstGeom prst="rect">
            <a:avLst/>
          </a:prstGeom>
        </p:spPr>
        <p:txBody>
          <a:bodyPr anchor="t" rtlCol="false" tIns="0" lIns="0" bIns="0" rIns="0">
            <a:spAutoFit/>
          </a:bodyPr>
          <a:lstStyle/>
          <a:p>
            <a:pPr algn="l">
              <a:lnSpc>
                <a:spcPts val="2122"/>
              </a:lnSpc>
              <a:spcBef>
                <a:spcPct val="0"/>
              </a:spcBef>
            </a:pPr>
            <a:r>
              <a:rPr lang="en-US" b="true" sz="1515">
                <a:solidFill>
                  <a:srgbClr val="FFFFFF"/>
                </a:solidFill>
                <a:latin typeface="Arial MT Pro Bold"/>
                <a:ea typeface="Arial MT Pro Bold"/>
                <a:cs typeface="Arial MT Pro Bold"/>
                <a:sym typeface="Arial MT Pro Bold"/>
              </a:rPr>
              <a:t>Key technical elements:</a:t>
            </a:r>
          </a:p>
          <a:p>
            <a:pPr algn="l">
              <a:lnSpc>
                <a:spcPts val="2122"/>
              </a:lnSpc>
              <a:spcBef>
                <a:spcPct val="0"/>
              </a:spcBef>
            </a:pPr>
            <a:r>
              <a:rPr lang="en-US" b="true" sz="1515">
                <a:solidFill>
                  <a:srgbClr val="FFFFFF"/>
                </a:solidFill>
                <a:latin typeface="Arial MT Pro Bold"/>
                <a:ea typeface="Arial MT Pro Bold"/>
                <a:cs typeface="Arial MT Pro Bold"/>
                <a:sym typeface="Arial MT Pro Bold"/>
              </a:rPr>
              <a:t>Data preparation: We extract day-of-week (EXTRACT(DOW)) and week-of-year (EXTRACT(WEEK)) from dates to capture temporal patterns.</a:t>
            </a:r>
          </a:p>
          <a:p>
            <a:pPr algn="l">
              <a:lnSpc>
                <a:spcPts val="2122"/>
              </a:lnSpc>
              <a:spcBef>
                <a:spcPct val="0"/>
              </a:spcBef>
            </a:pPr>
            <a:r>
              <a:rPr lang="en-US" b="true" sz="1515">
                <a:solidFill>
                  <a:srgbClr val="FFFFFF"/>
                </a:solidFill>
                <a:latin typeface="Arial MT Pro Bold"/>
                <a:ea typeface="Arial MT Pro Bold"/>
                <a:cs typeface="Arial MT Pro Bold"/>
                <a:sym typeface="Arial MT Pro Bold"/>
              </a:rPr>
              <a:t>Profile calculation using aggregation: Using GROUP BY with PARTITION BY logic, we calculate three types of averages for each "store-family" combination:</a:t>
            </a:r>
          </a:p>
          <a:p>
            <a:pPr algn="l">
              <a:lnSpc>
                <a:spcPts val="2122"/>
              </a:lnSpc>
              <a:spcBef>
                <a:spcPct val="0"/>
              </a:spcBef>
            </a:pPr>
            <a:r>
              <a:rPr lang="en-US" b="true" sz="1515">
                <a:solidFill>
                  <a:srgbClr val="FFFFFF"/>
                </a:solidFill>
                <a:latin typeface="Arial MT Pro Bold"/>
                <a:ea typeface="Arial MT Pro Bold"/>
                <a:cs typeface="Arial MT Pro Bold"/>
                <a:sym typeface="Arial MT Pro Bold"/>
              </a:rPr>
              <a:t>avg_sales_by_dow — average sales for each specific day of the week</a:t>
            </a:r>
          </a:p>
          <a:p>
            <a:pPr algn="l">
              <a:lnSpc>
                <a:spcPts val="2122"/>
              </a:lnSpc>
              <a:spcBef>
                <a:spcPct val="0"/>
              </a:spcBef>
            </a:pPr>
            <a:r>
              <a:rPr lang="en-US" b="true" sz="1515">
                <a:solidFill>
                  <a:srgbClr val="FFFFFF"/>
                </a:solidFill>
                <a:latin typeface="Arial MT Pro Bold"/>
                <a:ea typeface="Arial MT Pro Bold"/>
                <a:cs typeface="Arial MT Pro Bold"/>
                <a:sym typeface="Arial MT Pro Bold"/>
              </a:rPr>
              <a:t>avg_sales_by_woy — average sales for each week of the year (seasonal profile)</a:t>
            </a:r>
          </a:p>
          <a:p>
            <a:pPr algn="l">
              <a:lnSpc>
                <a:spcPts val="2122"/>
              </a:lnSpc>
              <a:spcBef>
                <a:spcPct val="0"/>
              </a:spcBef>
            </a:pPr>
            <a:r>
              <a:rPr lang="en-US" b="true" sz="1515">
                <a:solidFill>
                  <a:srgbClr val="FFFFFF"/>
                </a:solidFill>
                <a:latin typeface="Arial MT Pro Bold"/>
                <a:ea typeface="Arial MT Pro Bold"/>
                <a:cs typeface="Arial MT Pro Bold"/>
                <a:sym typeface="Arial MT Pro Bold"/>
              </a:rPr>
              <a:t>avg_sales_overall — global average as baseline</a:t>
            </a:r>
          </a:p>
          <a:p>
            <a:pPr algn="l">
              <a:lnSpc>
                <a:spcPts val="2122"/>
              </a:lnSpc>
              <a:spcBef>
                <a:spcPct val="0"/>
              </a:spcBef>
            </a:pPr>
            <a:r>
              <a:rPr lang="en-US" b="true" sz="1515">
                <a:solidFill>
                  <a:srgbClr val="FFFFFF"/>
                </a:solidFill>
                <a:latin typeface="Arial MT Pro Bold"/>
                <a:ea typeface="Arial MT Pro Bold"/>
                <a:cs typeface="Arial MT Pro Bold"/>
                <a:sym typeface="Arial MT Pro Bold"/>
              </a:rPr>
              <a:t>Deviation features: We create multiple deviation metrics by subtracting expected seasonal values from actual sales:</a:t>
            </a:r>
          </a:p>
          <a:p>
            <a:pPr algn="l">
              <a:lnSpc>
                <a:spcPts val="2122"/>
              </a:lnSpc>
              <a:spcBef>
                <a:spcPct val="0"/>
              </a:spcBef>
            </a:pPr>
            <a:r>
              <a:rPr lang="en-US" b="true" sz="1515">
                <a:solidFill>
                  <a:srgbClr val="FFFFFF"/>
                </a:solidFill>
                <a:latin typeface="Arial MT Pro Bold"/>
                <a:ea typeface="Arial MT Pro Bold"/>
                <a:cs typeface="Arial MT Pro Bold"/>
                <a:sym typeface="Arial MT Pro Bold"/>
              </a:rPr>
              <a:t>sales_minus_dow_avg — deviation from day-of-week pattern</a:t>
            </a:r>
          </a:p>
          <a:p>
            <a:pPr algn="l">
              <a:lnSpc>
                <a:spcPts val="2122"/>
              </a:lnSpc>
              <a:spcBef>
                <a:spcPct val="0"/>
              </a:spcBef>
            </a:pPr>
            <a:r>
              <a:rPr lang="en-US" b="true" sz="1515">
                <a:solidFill>
                  <a:srgbClr val="FFFFFF"/>
                </a:solidFill>
                <a:latin typeface="Arial MT Pro Bold"/>
                <a:ea typeface="Arial MT Pro Bold"/>
                <a:cs typeface="Arial MT Pro Bold"/>
                <a:sym typeface="Arial MT Pro Bold"/>
              </a:rPr>
              <a:t>sales_minus_woy_avg — deviation from annual seasonal pattern</a:t>
            </a:r>
          </a:p>
          <a:p>
            <a:pPr algn="l">
              <a:lnSpc>
                <a:spcPts val="2122"/>
              </a:lnSpc>
              <a:spcBef>
                <a:spcPct val="0"/>
              </a:spcBef>
            </a:pPr>
            <a:r>
              <a:rPr lang="en-US" b="true" sz="1515">
                <a:solidFill>
                  <a:srgbClr val="FFFFFF"/>
                </a:solidFill>
                <a:latin typeface="Arial MT Pro Bold"/>
                <a:ea typeface="Arial MT Pro Bold"/>
                <a:cs typeface="Arial MT Pro Bold"/>
                <a:sym typeface="Arial MT Pro Bold"/>
              </a:rPr>
              <a:t>sales_minus_overall_avg — deviation from global average</a:t>
            </a:r>
          </a:p>
          <a:p>
            <a:pPr algn="l">
              <a:lnSpc>
                <a:spcPts val="2122"/>
              </a:lnSpc>
              <a:spcBef>
                <a:spcPct val="0"/>
              </a:spcBef>
            </a:pPr>
            <a:r>
              <a:rPr lang="en-US" b="true" sz="1515">
                <a:solidFill>
                  <a:srgbClr val="FFFFFF"/>
                </a:solidFill>
                <a:latin typeface="Arial MT Pro Bold"/>
                <a:ea typeface="Arial MT Pro Bold"/>
                <a:cs typeface="Arial MT Pro Bold"/>
                <a:sym typeface="Arial MT Pro Bold"/>
              </a:rPr>
              <a:t>avg_sales_seasonal_blend — blended seasonal value (combination of day-of-week and week-of-year)</a:t>
            </a:r>
          </a:p>
          <a:p>
            <a:pPr algn="l">
              <a:lnSpc>
                <a:spcPts val="2122"/>
              </a:lnSpc>
              <a:spcBef>
                <a:spcPct val="0"/>
              </a:spcBef>
            </a:pPr>
            <a:r>
              <a:rPr lang="en-US" b="true" sz="1515">
                <a:solidFill>
                  <a:srgbClr val="FFFFFF"/>
                </a:solidFill>
                <a:latin typeface="Arial MT Pro Bold"/>
                <a:ea typeface="Arial MT Pro Bold"/>
                <a:cs typeface="Arial MT Pro Bold"/>
                <a:sym typeface="Arial MT Pro Bold"/>
              </a:rPr>
              <a:t>sales_minus_seasonal_blend — deviation from blended seasonal value</a:t>
            </a:r>
          </a:p>
          <a:p>
            <a:pPr algn="l">
              <a:lnSpc>
                <a:spcPts val="2122"/>
              </a:lnSpc>
              <a:spcBef>
                <a:spcPct val="0"/>
              </a:spcBef>
            </a:pPr>
            <a:r>
              <a:rPr lang="en-US" b="true" sz="1515">
                <a:solidFill>
                  <a:srgbClr val="FFFFFF"/>
                </a:solidFill>
                <a:latin typeface="Arial MT Pro Bold"/>
                <a:ea typeface="Arial MT Pro Bold"/>
                <a:cs typeface="Arial MT Pro Bold"/>
                <a:sym typeface="Arial MT Pro Bold"/>
              </a:rPr>
              <a:t>Applying profiles to test data: Using LEFT JOIN with the same keys (store, family, day_of_week, week_of_year), we transfer the learned seasonal patterns to the test dataset without data leakage.</a:t>
            </a:r>
          </a:p>
          <a:p>
            <a:pPr algn="l">
              <a:lnSpc>
                <a:spcPts val="2122"/>
              </a:lnSpc>
              <a:spcBef>
                <a:spcPct val="0"/>
              </a:spcBef>
            </a:pPr>
            <a:r>
              <a:rPr lang="en-US" b="true" sz="1515">
                <a:solidFill>
                  <a:srgbClr val="FFFFFF"/>
                </a:solidFill>
                <a:latin typeface="Arial MT Pro Bold"/>
                <a:ea typeface="Arial MT Pro Bold"/>
                <a:cs typeface="Arial MT Pro Bold"/>
                <a:sym typeface="Arial MT Pro Bold"/>
              </a:rPr>
              <a:t>Quality control: We check for missing combinations where historical data is insufficient, which appear as NULL values in the test features.</a:t>
            </a:r>
          </a:p>
        </p:txBody>
      </p:sp>
    </p:spTree>
  </p:cSld>
  <p:clrMapOvr>
    <a:masterClrMapping/>
  </p:clrMapOvr>
</p:sld>
</file>

<file path=ppt/slides/slide7.xml><?xml version="1.0" encoding="utf-8"?>
<p:sld xmlns:p="http://schemas.openxmlformats.org/presentationml/2006/main" xmlns:a="http://schemas.openxmlformats.org/drawingml/2006/main">
  <p:cSld>
    <p:bg>
      <p:bgPr>
        <a:solidFill>
          <a:srgbClr val="141519"/>
        </a:solidFill>
      </p:bgPr>
    </p:bg>
    <p:spTree>
      <p:nvGrpSpPr>
        <p:cNvPr id="1" name=""/>
        <p:cNvGrpSpPr/>
        <p:nvPr/>
      </p:nvGrpSpPr>
      <p:grpSpPr>
        <a:xfrm>
          <a:off x="0" y="0"/>
          <a:ext cx="0" cy="0"/>
          <a:chOff x="0" y="0"/>
          <a:chExt cx="0" cy="0"/>
        </a:xfrm>
      </p:grpSpPr>
      <p:grpSp>
        <p:nvGrpSpPr>
          <p:cNvPr name="Group 2" id="2"/>
          <p:cNvGrpSpPr/>
          <p:nvPr/>
        </p:nvGrpSpPr>
        <p:grpSpPr>
          <a:xfrm rot="374770">
            <a:off x="-1666180" y="6478089"/>
            <a:ext cx="20251759" cy="18180272"/>
            <a:chOff x="0" y="0"/>
            <a:chExt cx="5333797" cy="4788220"/>
          </a:xfrm>
        </p:grpSpPr>
        <p:sp>
          <p:nvSpPr>
            <p:cNvPr name="Freeform 3" id="3"/>
            <p:cNvSpPr/>
            <p:nvPr/>
          </p:nvSpPr>
          <p:spPr>
            <a:xfrm flipH="false" flipV="false" rot="0">
              <a:off x="0" y="0"/>
              <a:ext cx="5333797" cy="4788220"/>
            </a:xfrm>
            <a:custGeom>
              <a:avLst/>
              <a:gdLst/>
              <a:ahLst/>
              <a:cxnLst/>
              <a:rect r="r" b="b" t="t" l="l"/>
              <a:pathLst>
                <a:path h="4788220" w="5333797">
                  <a:moveTo>
                    <a:pt x="0" y="0"/>
                  </a:moveTo>
                  <a:lnTo>
                    <a:pt x="5333797" y="0"/>
                  </a:lnTo>
                  <a:lnTo>
                    <a:pt x="5333797" y="4788220"/>
                  </a:lnTo>
                  <a:lnTo>
                    <a:pt x="0" y="4788220"/>
                  </a:lnTo>
                  <a:close/>
                </a:path>
              </a:pathLst>
            </a:custGeom>
            <a:gradFill rotWithShape="true">
              <a:gsLst>
                <a:gs pos="0">
                  <a:srgbClr val="27DDDF">
                    <a:alpha val="0"/>
                  </a:srgbClr>
                </a:gs>
                <a:gs pos="100000">
                  <a:srgbClr val="27DDDF">
                    <a:alpha val="100000"/>
                  </a:srgbClr>
                </a:gs>
              </a:gsLst>
              <a:lin ang="5400000"/>
            </a:gradFill>
          </p:spPr>
        </p:sp>
        <p:sp>
          <p:nvSpPr>
            <p:cNvPr name="TextBox 4" id="4"/>
            <p:cNvSpPr txBox="true"/>
            <p:nvPr/>
          </p:nvSpPr>
          <p:spPr>
            <a:xfrm>
              <a:off x="0" y="19050"/>
              <a:ext cx="5333797" cy="4769170"/>
            </a:xfrm>
            <a:prstGeom prst="rect">
              <a:avLst/>
            </a:prstGeom>
          </p:spPr>
          <p:txBody>
            <a:bodyPr anchor="ctr" rtlCol="false" tIns="50800" lIns="50800" bIns="50800" rIns="50800"/>
            <a:lstStyle/>
            <a:p>
              <a:pPr algn="ctr">
                <a:lnSpc>
                  <a:spcPts val="1387"/>
                </a:lnSpc>
              </a:pPr>
            </a:p>
          </p:txBody>
        </p:sp>
      </p:grpSp>
      <p:sp>
        <p:nvSpPr>
          <p:cNvPr name="TextBox 5" id="5"/>
          <p:cNvSpPr txBox="true"/>
          <p:nvPr/>
        </p:nvSpPr>
        <p:spPr>
          <a:xfrm rot="0">
            <a:off x="1557549" y="3753043"/>
            <a:ext cx="15455384" cy="2439862"/>
          </a:xfrm>
          <a:prstGeom prst="rect">
            <a:avLst/>
          </a:prstGeom>
        </p:spPr>
        <p:txBody>
          <a:bodyPr anchor="t" rtlCol="false" tIns="0" lIns="0" bIns="0" rIns="0">
            <a:spAutoFit/>
          </a:bodyPr>
          <a:lstStyle/>
          <a:p>
            <a:pPr algn="ctr">
              <a:lnSpc>
                <a:spcPts val="16248"/>
              </a:lnSpc>
            </a:pPr>
            <a:r>
              <a:rPr lang="en-US" b="true" sz="15623" spc="-656">
                <a:solidFill>
                  <a:srgbClr val="FFFFFF"/>
                </a:solidFill>
                <a:latin typeface="Arial MT Pro Bold"/>
                <a:ea typeface="Arial MT Pro Bold"/>
                <a:cs typeface="Arial MT Pro Bold"/>
                <a:sym typeface="Arial MT Pro Bold"/>
              </a:rPr>
              <a:t>thank you &lt;3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DAHEa5EjHuo</dc:identifier>
  <dcterms:modified xsi:type="dcterms:W3CDTF">2011-08-01T06:04:30Z</dcterms:modified>
  <cp:revision>1</cp:revision>
  <dc:title>Black and Green Modern Finance Business Report Presentation</dc:title>
</cp:coreProperties>
</file>