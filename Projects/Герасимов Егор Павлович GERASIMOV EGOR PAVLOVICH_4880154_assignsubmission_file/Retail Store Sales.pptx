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3151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0553" y="1339280"/>
            <a:ext cx="10647446" cy="894434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9848" y="0"/>
            <a:ext cx="15168152" cy="1028700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32965" y="2424146"/>
            <a:ext cx="8347075" cy="323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5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5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3151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497893"/>
            <a:ext cx="18288000" cy="47891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5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8699" y="664276"/>
            <a:ext cx="3996284" cy="241285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28699" y="3275619"/>
            <a:ext cx="7547609" cy="5633085"/>
          </a:xfrm>
          <a:custGeom>
            <a:avLst/>
            <a:gdLst/>
            <a:ahLst/>
            <a:cxnLst/>
            <a:rect l="l" t="t" r="r" b="b"/>
            <a:pathLst>
              <a:path w="7547609" h="5633084">
                <a:moveTo>
                  <a:pt x="7286492" y="5632809"/>
                </a:moveTo>
                <a:lnTo>
                  <a:pt x="266700" y="5632809"/>
                </a:lnTo>
                <a:lnTo>
                  <a:pt x="218760" y="5628512"/>
                </a:lnTo>
                <a:lnTo>
                  <a:pt x="173639" y="5616124"/>
                </a:lnTo>
                <a:lnTo>
                  <a:pt x="132091" y="5596397"/>
                </a:lnTo>
                <a:lnTo>
                  <a:pt x="94868" y="5570085"/>
                </a:lnTo>
                <a:lnTo>
                  <a:pt x="62724" y="5537941"/>
                </a:lnTo>
                <a:lnTo>
                  <a:pt x="36412" y="5500718"/>
                </a:lnTo>
                <a:lnTo>
                  <a:pt x="16685" y="5459170"/>
                </a:lnTo>
                <a:lnTo>
                  <a:pt x="4296" y="5414049"/>
                </a:lnTo>
                <a:lnTo>
                  <a:pt x="0" y="5366109"/>
                </a:lnTo>
                <a:lnTo>
                  <a:pt x="0" y="266700"/>
                </a:lnTo>
                <a:lnTo>
                  <a:pt x="4296" y="218760"/>
                </a:lnTo>
                <a:lnTo>
                  <a:pt x="16685" y="173639"/>
                </a:lnTo>
                <a:lnTo>
                  <a:pt x="36412" y="132091"/>
                </a:lnTo>
                <a:lnTo>
                  <a:pt x="62724" y="94868"/>
                </a:lnTo>
                <a:lnTo>
                  <a:pt x="94868" y="62724"/>
                </a:lnTo>
                <a:lnTo>
                  <a:pt x="132091" y="36412"/>
                </a:lnTo>
                <a:lnTo>
                  <a:pt x="173639" y="16685"/>
                </a:lnTo>
                <a:lnTo>
                  <a:pt x="218760" y="4296"/>
                </a:lnTo>
                <a:lnTo>
                  <a:pt x="266700" y="0"/>
                </a:lnTo>
                <a:lnTo>
                  <a:pt x="7286492" y="0"/>
                </a:lnTo>
                <a:lnTo>
                  <a:pt x="7334431" y="4296"/>
                </a:lnTo>
                <a:lnTo>
                  <a:pt x="7379552" y="16685"/>
                </a:lnTo>
                <a:lnTo>
                  <a:pt x="7421100" y="36412"/>
                </a:lnTo>
                <a:lnTo>
                  <a:pt x="7458323" y="62724"/>
                </a:lnTo>
                <a:lnTo>
                  <a:pt x="7490467" y="94868"/>
                </a:lnTo>
                <a:lnTo>
                  <a:pt x="7516779" y="132091"/>
                </a:lnTo>
                <a:lnTo>
                  <a:pt x="7536506" y="173639"/>
                </a:lnTo>
                <a:lnTo>
                  <a:pt x="7547084" y="212166"/>
                </a:lnTo>
                <a:lnTo>
                  <a:pt x="7547084" y="5420643"/>
                </a:lnTo>
                <a:lnTo>
                  <a:pt x="7536506" y="5459170"/>
                </a:lnTo>
                <a:lnTo>
                  <a:pt x="7516779" y="5500718"/>
                </a:lnTo>
                <a:lnTo>
                  <a:pt x="7490467" y="5537941"/>
                </a:lnTo>
                <a:lnTo>
                  <a:pt x="7458323" y="5570085"/>
                </a:lnTo>
                <a:lnTo>
                  <a:pt x="7421100" y="5596397"/>
                </a:lnTo>
                <a:lnTo>
                  <a:pt x="7379552" y="5616124"/>
                </a:lnTo>
                <a:lnTo>
                  <a:pt x="7334431" y="5628512"/>
                </a:lnTo>
                <a:lnTo>
                  <a:pt x="7286492" y="5632809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028699" y="3275613"/>
            <a:ext cx="7553325" cy="5629275"/>
          </a:xfrm>
          <a:custGeom>
            <a:avLst/>
            <a:gdLst/>
            <a:ahLst/>
            <a:cxnLst/>
            <a:rect l="l" t="t" r="r" b="b"/>
            <a:pathLst>
              <a:path w="7553325" h="5629275">
                <a:moveTo>
                  <a:pt x="227266" y="5629264"/>
                </a:moveTo>
                <a:lnTo>
                  <a:pt x="173648" y="5616133"/>
                </a:lnTo>
                <a:lnTo>
                  <a:pt x="132081" y="5596395"/>
                </a:lnTo>
                <a:lnTo>
                  <a:pt x="94845" y="5570067"/>
                </a:lnTo>
                <a:lnTo>
                  <a:pt x="62694" y="5537903"/>
                </a:lnTo>
                <a:lnTo>
                  <a:pt x="36382" y="5500659"/>
                </a:lnTo>
                <a:lnTo>
                  <a:pt x="16662" y="5459091"/>
                </a:lnTo>
                <a:lnTo>
                  <a:pt x="4287" y="5413953"/>
                </a:lnTo>
                <a:lnTo>
                  <a:pt x="0" y="5366007"/>
                </a:lnTo>
                <a:lnTo>
                  <a:pt x="1" y="266694"/>
                </a:lnTo>
                <a:lnTo>
                  <a:pt x="4302" y="218744"/>
                </a:lnTo>
                <a:lnTo>
                  <a:pt x="16699" y="173616"/>
                </a:lnTo>
                <a:lnTo>
                  <a:pt x="36435" y="132063"/>
                </a:lnTo>
                <a:lnTo>
                  <a:pt x="62758" y="94840"/>
                </a:lnTo>
                <a:lnTo>
                  <a:pt x="94912" y="62698"/>
                </a:lnTo>
                <a:lnTo>
                  <a:pt x="132144" y="36392"/>
                </a:lnTo>
                <a:lnTo>
                  <a:pt x="173699" y="16674"/>
                </a:lnTo>
                <a:lnTo>
                  <a:pt x="218822" y="4296"/>
                </a:lnTo>
                <a:lnTo>
                  <a:pt x="266761" y="0"/>
                </a:lnTo>
                <a:lnTo>
                  <a:pt x="7286412" y="5"/>
                </a:lnTo>
                <a:lnTo>
                  <a:pt x="7334357" y="4282"/>
                </a:lnTo>
                <a:lnTo>
                  <a:pt x="7379486" y="16659"/>
                </a:lnTo>
                <a:lnTo>
                  <a:pt x="7421045" y="36379"/>
                </a:lnTo>
                <a:lnTo>
                  <a:pt x="7458281" y="62688"/>
                </a:lnTo>
                <a:lnTo>
                  <a:pt x="7490438" y="94833"/>
                </a:lnTo>
                <a:lnTo>
                  <a:pt x="7516762" y="132062"/>
                </a:lnTo>
                <a:lnTo>
                  <a:pt x="7536499" y="173620"/>
                </a:lnTo>
                <a:lnTo>
                  <a:pt x="7548893" y="218754"/>
                </a:lnTo>
                <a:lnTo>
                  <a:pt x="7553191" y="266700"/>
                </a:lnTo>
                <a:lnTo>
                  <a:pt x="7553200" y="5366016"/>
                </a:lnTo>
                <a:lnTo>
                  <a:pt x="7548916" y="5413975"/>
                </a:lnTo>
                <a:lnTo>
                  <a:pt x="7536532" y="5459118"/>
                </a:lnTo>
                <a:lnTo>
                  <a:pt x="7516802" y="5500689"/>
                </a:lnTo>
                <a:lnTo>
                  <a:pt x="7490480" y="5537932"/>
                </a:lnTo>
                <a:lnTo>
                  <a:pt x="7458320" y="5570091"/>
                </a:lnTo>
                <a:lnTo>
                  <a:pt x="7421076" y="5596413"/>
                </a:lnTo>
                <a:lnTo>
                  <a:pt x="7379505" y="5616141"/>
                </a:lnTo>
                <a:lnTo>
                  <a:pt x="7334396" y="5628393"/>
                </a:lnTo>
                <a:lnTo>
                  <a:pt x="7334362" y="5628523"/>
                </a:lnTo>
                <a:lnTo>
                  <a:pt x="7325915" y="5629162"/>
                </a:lnTo>
              </a:path>
            </a:pathLst>
          </a:custGeom>
          <a:ln w="7619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315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777986" y="1824662"/>
            <a:ext cx="5722619" cy="1482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514350" rIns="0" bIns="0" rtlCol="0" vert="horz">
            <a:spAutoFit/>
          </a:bodyPr>
          <a:lstStyle/>
          <a:p>
            <a:pPr marL="12700" marR="5080">
              <a:lnSpc>
                <a:spcPct val="73100"/>
              </a:lnSpc>
              <a:spcBef>
                <a:spcPts val="4050"/>
              </a:spcBef>
            </a:pPr>
            <a:r>
              <a:rPr dirty="0" sz="12150" spc="-110"/>
              <a:t>Retail</a:t>
            </a:r>
            <a:r>
              <a:rPr dirty="0" sz="12150" spc="-710"/>
              <a:t> </a:t>
            </a:r>
            <a:r>
              <a:rPr dirty="0" sz="12150" spc="-145"/>
              <a:t>Store </a:t>
            </a:r>
            <a:r>
              <a:rPr dirty="0" sz="12150" spc="-10"/>
              <a:t>Sales</a:t>
            </a:r>
            <a:endParaRPr sz="12150"/>
          </a:p>
        </p:txBody>
      </p:sp>
      <p:sp>
        <p:nvSpPr>
          <p:cNvPr id="3" name="object 3"/>
          <p:cNvSpPr txBox="1"/>
          <p:nvPr/>
        </p:nvSpPr>
        <p:spPr>
          <a:xfrm>
            <a:off x="2142734" y="6626553"/>
            <a:ext cx="5297805" cy="71056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2700" marR="5080">
              <a:lnSpc>
                <a:spcPct val="72100"/>
              </a:lnSpc>
              <a:spcBef>
                <a:spcPts val="990"/>
              </a:spcBef>
            </a:pPr>
            <a:r>
              <a:rPr dirty="0" sz="2600">
                <a:solidFill>
                  <a:srgbClr val="FFFFFF"/>
                </a:solidFill>
                <a:latin typeface="Arial"/>
                <a:cs typeface="Arial"/>
              </a:rPr>
              <a:t>Bass</a:t>
            </a:r>
            <a:r>
              <a:rPr dirty="0" sz="2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FFFFFF"/>
                </a:solidFill>
                <a:latin typeface="Arial"/>
                <a:cs typeface="Arial"/>
              </a:rPr>
              <a:t>Egor,</a:t>
            </a:r>
            <a:r>
              <a:rPr dirty="0" sz="2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FFFFFF"/>
                </a:solidFill>
                <a:latin typeface="Arial"/>
                <a:cs typeface="Arial"/>
              </a:rPr>
              <a:t>Komogorov</a:t>
            </a:r>
            <a:r>
              <a:rPr dirty="0" sz="2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FFFFFF"/>
                </a:solidFill>
                <a:latin typeface="Arial"/>
                <a:cs typeface="Arial"/>
              </a:rPr>
              <a:t>Anton,</a:t>
            </a:r>
            <a:r>
              <a:rPr dirty="0" sz="2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Arial"/>
                <a:cs typeface="Arial"/>
              </a:rPr>
              <a:t>Egor </a:t>
            </a:r>
            <a:r>
              <a:rPr dirty="0" sz="2600">
                <a:solidFill>
                  <a:srgbClr val="FFFFFF"/>
                </a:solidFill>
                <a:latin typeface="Arial"/>
                <a:cs typeface="Arial"/>
              </a:rPr>
              <a:t>Gerasimov,</a:t>
            </a:r>
            <a:r>
              <a:rPr dirty="0" sz="26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FFFFFF"/>
                </a:solidFill>
                <a:latin typeface="Arial"/>
                <a:cs typeface="Arial"/>
              </a:rPr>
              <a:t>Grigoriy</a:t>
            </a:r>
            <a:r>
              <a:rPr dirty="0" sz="26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Arial"/>
                <a:cs typeface="Arial"/>
              </a:rPr>
              <a:t>Proshunin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45969" y="6497191"/>
            <a:ext cx="5939790" cy="1085850"/>
          </a:xfrm>
          <a:custGeom>
            <a:avLst/>
            <a:gdLst/>
            <a:ahLst/>
            <a:cxnLst/>
            <a:rect l="l" t="t" r="r" b="b"/>
            <a:pathLst>
              <a:path w="5939790" h="1085850">
                <a:moveTo>
                  <a:pt x="514541" y="1085849"/>
                </a:moveTo>
                <a:lnTo>
                  <a:pt x="469929" y="1080351"/>
                </a:lnTo>
                <a:lnTo>
                  <a:pt x="423525" y="1070746"/>
                </a:lnTo>
                <a:lnTo>
                  <a:pt x="378616" y="1057582"/>
                </a:lnTo>
                <a:lnTo>
                  <a:pt x="335372" y="1041022"/>
                </a:lnTo>
                <a:lnTo>
                  <a:pt x="293962" y="1021230"/>
                </a:lnTo>
                <a:lnTo>
                  <a:pt x="254558" y="998370"/>
                </a:lnTo>
                <a:lnTo>
                  <a:pt x="217329" y="972603"/>
                </a:lnTo>
                <a:lnTo>
                  <a:pt x="182445" y="944095"/>
                </a:lnTo>
                <a:lnTo>
                  <a:pt x="150076" y="913007"/>
                </a:lnTo>
                <a:lnTo>
                  <a:pt x="120392" y="879504"/>
                </a:lnTo>
                <a:lnTo>
                  <a:pt x="93564" y="843748"/>
                </a:lnTo>
                <a:lnTo>
                  <a:pt x="69761" y="805904"/>
                </a:lnTo>
                <a:lnTo>
                  <a:pt x="49154" y="766134"/>
                </a:lnTo>
                <a:lnTo>
                  <a:pt x="31912" y="724601"/>
                </a:lnTo>
                <a:lnTo>
                  <a:pt x="18205" y="681470"/>
                </a:lnTo>
                <a:lnTo>
                  <a:pt x="8204" y="636903"/>
                </a:lnTo>
                <a:lnTo>
                  <a:pt x="2079" y="591063"/>
                </a:lnTo>
                <a:lnTo>
                  <a:pt x="0" y="544115"/>
                </a:lnTo>
                <a:lnTo>
                  <a:pt x="2079" y="497167"/>
                </a:lnTo>
                <a:lnTo>
                  <a:pt x="8204" y="451327"/>
                </a:lnTo>
                <a:lnTo>
                  <a:pt x="18205" y="406760"/>
                </a:lnTo>
                <a:lnTo>
                  <a:pt x="31912" y="363629"/>
                </a:lnTo>
                <a:lnTo>
                  <a:pt x="49154" y="322096"/>
                </a:lnTo>
                <a:lnTo>
                  <a:pt x="69761" y="282326"/>
                </a:lnTo>
                <a:lnTo>
                  <a:pt x="93564" y="244482"/>
                </a:lnTo>
                <a:lnTo>
                  <a:pt x="120393" y="208726"/>
                </a:lnTo>
                <a:lnTo>
                  <a:pt x="150076" y="175223"/>
                </a:lnTo>
                <a:lnTo>
                  <a:pt x="182445" y="144136"/>
                </a:lnTo>
                <a:lnTo>
                  <a:pt x="217329" y="115627"/>
                </a:lnTo>
                <a:lnTo>
                  <a:pt x="254558" y="89861"/>
                </a:lnTo>
                <a:lnTo>
                  <a:pt x="293963" y="67000"/>
                </a:lnTo>
                <a:lnTo>
                  <a:pt x="335372" y="47208"/>
                </a:lnTo>
                <a:lnTo>
                  <a:pt x="378616" y="30649"/>
                </a:lnTo>
                <a:lnTo>
                  <a:pt x="423525" y="17485"/>
                </a:lnTo>
                <a:lnTo>
                  <a:pt x="469929" y="7880"/>
                </a:lnTo>
                <a:lnTo>
                  <a:pt x="517658" y="1997"/>
                </a:lnTo>
                <a:lnTo>
                  <a:pt x="566541" y="0"/>
                </a:lnTo>
                <a:lnTo>
                  <a:pt x="5373028" y="0"/>
                </a:lnTo>
                <a:lnTo>
                  <a:pt x="5421911" y="1997"/>
                </a:lnTo>
                <a:lnTo>
                  <a:pt x="5469640" y="7879"/>
                </a:lnTo>
                <a:lnTo>
                  <a:pt x="5516044" y="17485"/>
                </a:lnTo>
                <a:lnTo>
                  <a:pt x="5560953" y="30648"/>
                </a:lnTo>
                <a:lnTo>
                  <a:pt x="5604197" y="47208"/>
                </a:lnTo>
                <a:lnTo>
                  <a:pt x="5645606" y="67000"/>
                </a:lnTo>
                <a:lnTo>
                  <a:pt x="5685011" y="89860"/>
                </a:lnTo>
                <a:lnTo>
                  <a:pt x="5722240" y="115627"/>
                </a:lnTo>
                <a:lnTo>
                  <a:pt x="5757124" y="144135"/>
                </a:lnTo>
                <a:lnTo>
                  <a:pt x="5789493" y="175223"/>
                </a:lnTo>
                <a:lnTo>
                  <a:pt x="5819177" y="208726"/>
                </a:lnTo>
                <a:lnTo>
                  <a:pt x="5846005" y="244482"/>
                </a:lnTo>
                <a:lnTo>
                  <a:pt x="5869808" y="282326"/>
                </a:lnTo>
                <a:lnTo>
                  <a:pt x="5890415" y="322096"/>
                </a:lnTo>
                <a:lnTo>
                  <a:pt x="5907658" y="363629"/>
                </a:lnTo>
                <a:lnTo>
                  <a:pt x="5921364" y="406760"/>
                </a:lnTo>
                <a:lnTo>
                  <a:pt x="5931365" y="451327"/>
                </a:lnTo>
                <a:lnTo>
                  <a:pt x="5937490" y="497167"/>
                </a:lnTo>
                <a:lnTo>
                  <a:pt x="5939570" y="544115"/>
                </a:lnTo>
                <a:lnTo>
                  <a:pt x="5937490" y="591063"/>
                </a:lnTo>
                <a:lnTo>
                  <a:pt x="5931365" y="636903"/>
                </a:lnTo>
                <a:lnTo>
                  <a:pt x="5921364" y="681470"/>
                </a:lnTo>
                <a:lnTo>
                  <a:pt x="5907658" y="724601"/>
                </a:lnTo>
                <a:lnTo>
                  <a:pt x="5890416" y="766134"/>
                </a:lnTo>
                <a:lnTo>
                  <a:pt x="5869808" y="805904"/>
                </a:lnTo>
                <a:lnTo>
                  <a:pt x="5846005" y="843748"/>
                </a:lnTo>
                <a:lnTo>
                  <a:pt x="5819177" y="879504"/>
                </a:lnTo>
                <a:lnTo>
                  <a:pt x="5789493" y="913007"/>
                </a:lnTo>
                <a:lnTo>
                  <a:pt x="5757124" y="944095"/>
                </a:lnTo>
                <a:lnTo>
                  <a:pt x="5722240" y="972603"/>
                </a:lnTo>
                <a:lnTo>
                  <a:pt x="5685011" y="998370"/>
                </a:lnTo>
                <a:lnTo>
                  <a:pt x="5645607" y="1021231"/>
                </a:lnTo>
                <a:lnTo>
                  <a:pt x="5604197" y="1041022"/>
                </a:lnTo>
                <a:lnTo>
                  <a:pt x="5560953" y="1057582"/>
                </a:lnTo>
                <a:lnTo>
                  <a:pt x="5516044" y="1070746"/>
                </a:lnTo>
                <a:lnTo>
                  <a:pt x="5469640" y="1080351"/>
                </a:lnTo>
                <a:lnTo>
                  <a:pt x="5425028" y="1085849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74881" y="0"/>
            <a:ext cx="5313117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4481" y="4949018"/>
            <a:ext cx="5784421" cy="395941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324603" y="799268"/>
            <a:ext cx="5434330" cy="705485"/>
          </a:xfrm>
          <a:custGeom>
            <a:avLst/>
            <a:gdLst/>
            <a:ahLst/>
            <a:cxnLst/>
            <a:rect l="l" t="t" r="r" b="b"/>
            <a:pathLst>
              <a:path w="5434330" h="705485">
                <a:moveTo>
                  <a:pt x="5234025" y="705218"/>
                </a:moveTo>
                <a:lnTo>
                  <a:pt x="200024" y="705218"/>
                </a:lnTo>
                <a:lnTo>
                  <a:pt x="160819" y="701339"/>
                </a:lnTo>
                <a:lnTo>
                  <a:pt x="123478" y="689992"/>
                </a:lnTo>
                <a:lnTo>
                  <a:pt x="89051" y="671611"/>
                </a:lnTo>
                <a:lnTo>
                  <a:pt x="58586" y="646632"/>
                </a:lnTo>
                <a:lnTo>
                  <a:pt x="33606" y="616167"/>
                </a:lnTo>
                <a:lnTo>
                  <a:pt x="15225" y="581739"/>
                </a:lnTo>
                <a:lnTo>
                  <a:pt x="3878" y="544398"/>
                </a:lnTo>
                <a:lnTo>
                  <a:pt x="0" y="505193"/>
                </a:lnTo>
                <a:lnTo>
                  <a:pt x="0" y="200024"/>
                </a:lnTo>
                <a:lnTo>
                  <a:pt x="3878" y="160819"/>
                </a:lnTo>
                <a:lnTo>
                  <a:pt x="15225" y="123478"/>
                </a:lnTo>
                <a:lnTo>
                  <a:pt x="33606" y="89051"/>
                </a:lnTo>
                <a:lnTo>
                  <a:pt x="58586" y="58586"/>
                </a:lnTo>
                <a:lnTo>
                  <a:pt x="89051" y="33606"/>
                </a:lnTo>
                <a:lnTo>
                  <a:pt x="123478" y="15225"/>
                </a:lnTo>
                <a:lnTo>
                  <a:pt x="160819" y="3878"/>
                </a:lnTo>
                <a:lnTo>
                  <a:pt x="200024" y="0"/>
                </a:lnTo>
                <a:lnTo>
                  <a:pt x="5234025" y="0"/>
                </a:lnTo>
                <a:lnTo>
                  <a:pt x="5273230" y="3878"/>
                </a:lnTo>
                <a:lnTo>
                  <a:pt x="5310571" y="15225"/>
                </a:lnTo>
                <a:lnTo>
                  <a:pt x="5344998" y="33606"/>
                </a:lnTo>
                <a:lnTo>
                  <a:pt x="5375463" y="58586"/>
                </a:lnTo>
                <a:lnTo>
                  <a:pt x="5400443" y="89051"/>
                </a:lnTo>
                <a:lnTo>
                  <a:pt x="5418824" y="123478"/>
                </a:lnTo>
                <a:lnTo>
                  <a:pt x="5430171" y="160819"/>
                </a:lnTo>
                <a:lnTo>
                  <a:pt x="5434050" y="200024"/>
                </a:lnTo>
                <a:lnTo>
                  <a:pt x="5434050" y="505193"/>
                </a:lnTo>
                <a:lnTo>
                  <a:pt x="5430171" y="544398"/>
                </a:lnTo>
                <a:lnTo>
                  <a:pt x="5418824" y="581739"/>
                </a:lnTo>
                <a:lnTo>
                  <a:pt x="5400443" y="616167"/>
                </a:lnTo>
                <a:lnTo>
                  <a:pt x="5375463" y="646632"/>
                </a:lnTo>
                <a:lnTo>
                  <a:pt x="5344998" y="671611"/>
                </a:lnTo>
                <a:lnTo>
                  <a:pt x="5310571" y="689992"/>
                </a:lnTo>
                <a:lnTo>
                  <a:pt x="5273230" y="701339"/>
                </a:lnTo>
                <a:lnTo>
                  <a:pt x="5234025" y="705218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324603" y="1790366"/>
            <a:ext cx="5434330" cy="705485"/>
          </a:xfrm>
          <a:custGeom>
            <a:avLst/>
            <a:gdLst/>
            <a:ahLst/>
            <a:cxnLst/>
            <a:rect l="l" t="t" r="r" b="b"/>
            <a:pathLst>
              <a:path w="5434330" h="705485">
                <a:moveTo>
                  <a:pt x="5234025" y="705218"/>
                </a:moveTo>
                <a:lnTo>
                  <a:pt x="200024" y="705218"/>
                </a:lnTo>
                <a:lnTo>
                  <a:pt x="160819" y="701339"/>
                </a:lnTo>
                <a:lnTo>
                  <a:pt x="123478" y="689992"/>
                </a:lnTo>
                <a:lnTo>
                  <a:pt x="89051" y="671611"/>
                </a:lnTo>
                <a:lnTo>
                  <a:pt x="58586" y="646632"/>
                </a:lnTo>
                <a:lnTo>
                  <a:pt x="33606" y="616167"/>
                </a:lnTo>
                <a:lnTo>
                  <a:pt x="15225" y="581739"/>
                </a:lnTo>
                <a:lnTo>
                  <a:pt x="3878" y="544398"/>
                </a:lnTo>
                <a:lnTo>
                  <a:pt x="0" y="505193"/>
                </a:lnTo>
                <a:lnTo>
                  <a:pt x="0" y="200024"/>
                </a:lnTo>
                <a:lnTo>
                  <a:pt x="3878" y="160819"/>
                </a:lnTo>
                <a:lnTo>
                  <a:pt x="15225" y="123478"/>
                </a:lnTo>
                <a:lnTo>
                  <a:pt x="33606" y="89051"/>
                </a:lnTo>
                <a:lnTo>
                  <a:pt x="58586" y="58586"/>
                </a:lnTo>
                <a:lnTo>
                  <a:pt x="89051" y="33606"/>
                </a:lnTo>
                <a:lnTo>
                  <a:pt x="123478" y="15226"/>
                </a:lnTo>
                <a:lnTo>
                  <a:pt x="160819" y="3878"/>
                </a:lnTo>
                <a:lnTo>
                  <a:pt x="200024" y="0"/>
                </a:lnTo>
                <a:lnTo>
                  <a:pt x="5234025" y="0"/>
                </a:lnTo>
                <a:lnTo>
                  <a:pt x="5273230" y="3878"/>
                </a:lnTo>
                <a:lnTo>
                  <a:pt x="5310571" y="15226"/>
                </a:lnTo>
                <a:lnTo>
                  <a:pt x="5344998" y="33606"/>
                </a:lnTo>
                <a:lnTo>
                  <a:pt x="5375463" y="58586"/>
                </a:lnTo>
                <a:lnTo>
                  <a:pt x="5400443" y="89051"/>
                </a:lnTo>
                <a:lnTo>
                  <a:pt x="5418824" y="123478"/>
                </a:lnTo>
                <a:lnTo>
                  <a:pt x="5430171" y="160819"/>
                </a:lnTo>
                <a:lnTo>
                  <a:pt x="5434050" y="200024"/>
                </a:lnTo>
                <a:lnTo>
                  <a:pt x="5434050" y="505193"/>
                </a:lnTo>
                <a:lnTo>
                  <a:pt x="5430171" y="544398"/>
                </a:lnTo>
                <a:lnTo>
                  <a:pt x="5418824" y="581739"/>
                </a:lnTo>
                <a:lnTo>
                  <a:pt x="5400443" y="616167"/>
                </a:lnTo>
                <a:lnTo>
                  <a:pt x="5375463" y="646632"/>
                </a:lnTo>
                <a:lnTo>
                  <a:pt x="5344998" y="671611"/>
                </a:lnTo>
                <a:lnTo>
                  <a:pt x="5310571" y="689992"/>
                </a:lnTo>
                <a:lnTo>
                  <a:pt x="5273230" y="701339"/>
                </a:lnTo>
                <a:lnTo>
                  <a:pt x="5234025" y="705218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324603" y="2780219"/>
            <a:ext cx="5434330" cy="705485"/>
          </a:xfrm>
          <a:custGeom>
            <a:avLst/>
            <a:gdLst/>
            <a:ahLst/>
            <a:cxnLst/>
            <a:rect l="l" t="t" r="r" b="b"/>
            <a:pathLst>
              <a:path w="5434330" h="705485">
                <a:moveTo>
                  <a:pt x="5234025" y="705218"/>
                </a:moveTo>
                <a:lnTo>
                  <a:pt x="200024" y="705218"/>
                </a:lnTo>
                <a:lnTo>
                  <a:pt x="160819" y="701339"/>
                </a:lnTo>
                <a:lnTo>
                  <a:pt x="123478" y="689992"/>
                </a:lnTo>
                <a:lnTo>
                  <a:pt x="89051" y="671611"/>
                </a:lnTo>
                <a:lnTo>
                  <a:pt x="58586" y="646632"/>
                </a:lnTo>
                <a:lnTo>
                  <a:pt x="33606" y="616167"/>
                </a:lnTo>
                <a:lnTo>
                  <a:pt x="15225" y="581739"/>
                </a:lnTo>
                <a:lnTo>
                  <a:pt x="3878" y="544398"/>
                </a:lnTo>
                <a:lnTo>
                  <a:pt x="0" y="505193"/>
                </a:lnTo>
                <a:lnTo>
                  <a:pt x="0" y="200024"/>
                </a:lnTo>
                <a:lnTo>
                  <a:pt x="3878" y="160819"/>
                </a:lnTo>
                <a:lnTo>
                  <a:pt x="15225" y="123478"/>
                </a:lnTo>
                <a:lnTo>
                  <a:pt x="33606" y="89051"/>
                </a:lnTo>
                <a:lnTo>
                  <a:pt x="58586" y="58586"/>
                </a:lnTo>
                <a:lnTo>
                  <a:pt x="89051" y="33606"/>
                </a:lnTo>
                <a:lnTo>
                  <a:pt x="123478" y="15226"/>
                </a:lnTo>
                <a:lnTo>
                  <a:pt x="160819" y="3878"/>
                </a:lnTo>
                <a:lnTo>
                  <a:pt x="200024" y="0"/>
                </a:lnTo>
                <a:lnTo>
                  <a:pt x="5234025" y="0"/>
                </a:lnTo>
                <a:lnTo>
                  <a:pt x="5273230" y="3878"/>
                </a:lnTo>
                <a:lnTo>
                  <a:pt x="5310571" y="15226"/>
                </a:lnTo>
                <a:lnTo>
                  <a:pt x="5344998" y="33606"/>
                </a:lnTo>
                <a:lnTo>
                  <a:pt x="5375463" y="58586"/>
                </a:lnTo>
                <a:lnTo>
                  <a:pt x="5400443" y="89051"/>
                </a:lnTo>
                <a:lnTo>
                  <a:pt x="5418824" y="123478"/>
                </a:lnTo>
                <a:lnTo>
                  <a:pt x="5430171" y="160819"/>
                </a:lnTo>
                <a:lnTo>
                  <a:pt x="5434050" y="200024"/>
                </a:lnTo>
                <a:lnTo>
                  <a:pt x="5434050" y="505193"/>
                </a:lnTo>
                <a:lnTo>
                  <a:pt x="5430171" y="544398"/>
                </a:lnTo>
                <a:lnTo>
                  <a:pt x="5418824" y="581739"/>
                </a:lnTo>
                <a:lnTo>
                  <a:pt x="5400443" y="616167"/>
                </a:lnTo>
                <a:lnTo>
                  <a:pt x="5375463" y="646632"/>
                </a:lnTo>
                <a:lnTo>
                  <a:pt x="5344998" y="671611"/>
                </a:lnTo>
                <a:lnTo>
                  <a:pt x="5310571" y="689992"/>
                </a:lnTo>
                <a:lnTo>
                  <a:pt x="5273230" y="701339"/>
                </a:lnTo>
                <a:lnTo>
                  <a:pt x="5234025" y="705218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324603" y="3770071"/>
            <a:ext cx="5434330" cy="705485"/>
          </a:xfrm>
          <a:custGeom>
            <a:avLst/>
            <a:gdLst/>
            <a:ahLst/>
            <a:cxnLst/>
            <a:rect l="l" t="t" r="r" b="b"/>
            <a:pathLst>
              <a:path w="5434330" h="705485">
                <a:moveTo>
                  <a:pt x="5234025" y="705218"/>
                </a:moveTo>
                <a:lnTo>
                  <a:pt x="200024" y="705218"/>
                </a:lnTo>
                <a:lnTo>
                  <a:pt x="160819" y="701339"/>
                </a:lnTo>
                <a:lnTo>
                  <a:pt x="123478" y="689992"/>
                </a:lnTo>
                <a:lnTo>
                  <a:pt x="89051" y="671611"/>
                </a:lnTo>
                <a:lnTo>
                  <a:pt x="58586" y="646632"/>
                </a:lnTo>
                <a:lnTo>
                  <a:pt x="33606" y="616167"/>
                </a:lnTo>
                <a:lnTo>
                  <a:pt x="15225" y="581739"/>
                </a:lnTo>
                <a:lnTo>
                  <a:pt x="3878" y="544398"/>
                </a:lnTo>
                <a:lnTo>
                  <a:pt x="0" y="505193"/>
                </a:lnTo>
                <a:lnTo>
                  <a:pt x="0" y="200024"/>
                </a:lnTo>
                <a:lnTo>
                  <a:pt x="3878" y="160819"/>
                </a:lnTo>
                <a:lnTo>
                  <a:pt x="15225" y="123478"/>
                </a:lnTo>
                <a:lnTo>
                  <a:pt x="33606" y="89050"/>
                </a:lnTo>
                <a:lnTo>
                  <a:pt x="58586" y="58585"/>
                </a:lnTo>
                <a:lnTo>
                  <a:pt x="89051" y="33606"/>
                </a:lnTo>
                <a:lnTo>
                  <a:pt x="123478" y="15225"/>
                </a:lnTo>
                <a:lnTo>
                  <a:pt x="160819" y="3878"/>
                </a:lnTo>
                <a:lnTo>
                  <a:pt x="200024" y="0"/>
                </a:lnTo>
                <a:lnTo>
                  <a:pt x="5234025" y="0"/>
                </a:lnTo>
                <a:lnTo>
                  <a:pt x="5273230" y="3878"/>
                </a:lnTo>
                <a:lnTo>
                  <a:pt x="5310571" y="15225"/>
                </a:lnTo>
                <a:lnTo>
                  <a:pt x="5344998" y="33606"/>
                </a:lnTo>
                <a:lnTo>
                  <a:pt x="5375463" y="58585"/>
                </a:lnTo>
                <a:lnTo>
                  <a:pt x="5400443" y="89050"/>
                </a:lnTo>
                <a:lnTo>
                  <a:pt x="5418824" y="123478"/>
                </a:lnTo>
                <a:lnTo>
                  <a:pt x="5430171" y="160819"/>
                </a:lnTo>
                <a:lnTo>
                  <a:pt x="5434050" y="200024"/>
                </a:lnTo>
                <a:lnTo>
                  <a:pt x="5434050" y="505193"/>
                </a:lnTo>
                <a:lnTo>
                  <a:pt x="5430171" y="544398"/>
                </a:lnTo>
                <a:lnTo>
                  <a:pt x="5418824" y="581739"/>
                </a:lnTo>
                <a:lnTo>
                  <a:pt x="5400443" y="616167"/>
                </a:lnTo>
                <a:lnTo>
                  <a:pt x="5375463" y="646632"/>
                </a:lnTo>
                <a:lnTo>
                  <a:pt x="5344998" y="671611"/>
                </a:lnTo>
                <a:lnTo>
                  <a:pt x="5310571" y="689992"/>
                </a:lnTo>
                <a:lnTo>
                  <a:pt x="5273230" y="701339"/>
                </a:lnTo>
                <a:lnTo>
                  <a:pt x="5234025" y="705218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324603" y="4759923"/>
            <a:ext cx="5434330" cy="705485"/>
          </a:xfrm>
          <a:custGeom>
            <a:avLst/>
            <a:gdLst/>
            <a:ahLst/>
            <a:cxnLst/>
            <a:rect l="l" t="t" r="r" b="b"/>
            <a:pathLst>
              <a:path w="5434330" h="705485">
                <a:moveTo>
                  <a:pt x="5234025" y="705218"/>
                </a:moveTo>
                <a:lnTo>
                  <a:pt x="200024" y="705218"/>
                </a:lnTo>
                <a:lnTo>
                  <a:pt x="160819" y="701339"/>
                </a:lnTo>
                <a:lnTo>
                  <a:pt x="123478" y="689992"/>
                </a:lnTo>
                <a:lnTo>
                  <a:pt x="89051" y="671611"/>
                </a:lnTo>
                <a:lnTo>
                  <a:pt x="58586" y="646632"/>
                </a:lnTo>
                <a:lnTo>
                  <a:pt x="33606" y="616167"/>
                </a:lnTo>
                <a:lnTo>
                  <a:pt x="15225" y="581739"/>
                </a:lnTo>
                <a:lnTo>
                  <a:pt x="3878" y="544398"/>
                </a:lnTo>
                <a:lnTo>
                  <a:pt x="0" y="505193"/>
                </a:lnTo>
                <a:lnTo>
                  <a:pt x="0" y="200024"/>
                </a:lnTo>
                <a:lnTo>
                  <a:pt x="3878" y="160819"/>
                </a:lnTo>
                <a:lnTo>
                  <a:pt x="15225" y="123478"/>
                </a:lnTo>
                <a:lnTo>
                  <a:pt x="33606" y="89050"/>
                </a:lnTo>
                <a:lnTo>
                  <a:pt x="58586" y="58585"/>
                </a:lnTo>
                <a:lnTo>
                  <a:pt x="89051" y="33606"/>
                </a:lnTo>
                <a:lnTo>
                  <a:pt x="123478" y="15225"/>
                </a:lnTo>
                <a:lnTo>
                  <a:pt x="160819" y="3878"/>
                </a:lnTo>
                <a:lnTo>
                  <a:pt x="200024" y="0"/>
                </a:lnTo>
                <a:lnTo>
                  <a:pt x="5234025" y="0"/>
                </a:lnTo>
                <a:lnTo>
                  <a:pt x="5273230" y="3878"/>
                </a:lnTo>
                <a:lnTo>
                  <a:pt x="5310571" y="15225"/>
                </a:lnTo>
                <a:lnTo>
                  <a:pt x="5344998" y="33606"/>
                </a:lnTo>
                <a:lnTo>
                  <a:pt x="5375463" y="58585"/>
                </a:lnTo>
                <a:lnTo>
                  <a:pt x="5400443" y="89050"/>
                </a:lnTo>
                <a:lnTo>
                  <a:pt x="5418824" y="123478"/>
                </a:lnTo>
                <a:lnTo>
                  <a:pt x="5430171" y="160819"/>
                </a:lnTo>
                <a:lnTo>
                  <a:pt x="5434050" y="200024"/>
                </a:lnTo>
                <a:lnTo>
                  <a:pt x="5434050" y="505193"/>
                </a:lnTo>
                <a:lnTo>
                  <a:pt x="5430171" y="544398"/>
                </a:lnTo>
                <a:lnTo>
                  <a:pt x="5418824" y="581739"/>
                </a:lnTo>
                <a:lnTo>
                  <a:pt x="5400443" y="616167"/>
                </a:lnTo>
                <a:lnTo>
                  <a:pt x="5375463" y="646632"/>
                </a:lnTo>
                <a:lnTo>
                  <a:pt x="5344998" y="671611"/>
                </a:lnTo>
                <a:lnTo>
                  <a:pt x="5310571" y="689992"/>
                </a:lnTo>
                <a:lnTo>
                  <a:pt x="5273230" y="701339"/>
                </a:lnTo>
                <a:lnTo>
                  <a:pt x="5234025" y="705218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324603" y="5749776"/>
            <a:ext cx="5434330" cy="705485"/>
          </a:xfrm>
          <a:custGeom>
            <a:avLst/>
            <a:gdLst/>
            <a:ahLst/>
            <a:cxnLst/>
            <a:rect l="l" t="t" r="r" b="b"/>
            <a:pathLst>
              <a:path w="5434330" h="705485">
                <a:moveTo>
                  <a:pt x="5234025" y="705217"/>
                </a:moveTo>
                <a:lnTo>
                  <a:pt x="200024" y="705217"/>
                </a:lnTo>
                <a:lnTo>
                  <a:pt x="160819" y="701338"/>
                </a:lnTo>
                <a:lnTo>
                  <a:pt x="123478" y="689991"/>
                </a:lnTo>
                <a:lnTo>
                  <a:pt x="89051" y="671611"/>
                </a:lnTo>
                <a:lnTo>
                  <a:pt x="58586" y="646632"/>
                </a:lnTo>
                <a:lnTo>
                  <a:pt x="33606" y="616167"/>
                </a:lnTo>
                <a:lnTo>
                  <a:pt x="15225" y="581739"/>
                </a:lnTo>
                <a:lnTo>
                  <a:pt x="3878" y="544398"/>
                </a:lnTo>
                <a:lnTo>
                  <a:pt x="0" y="505192"/>
                </a:lnTo>
                <a:lnTo>
                  <a:pt x="0" y="200024"/>
                </a:lnTo>
                <a:lnTo>
                  <a:pt x="3878" y="160819"/>
                </a:lnTo>
                <a:lnTo>
                  <a:pt x="15225" y="123478"/>
                </a:lnTo>
                <a:lnTo>
                  <a:pt x="33606" y="89051"/>
                </a:lnTo>
                <a:lnTo>
                  <a:pt x="58586" y="58585"/>
                </a:lnTo>
                <a:lnTo>
                  <a:pt x="89051" y="33606"/>
                </a:lnTo>
                <a:lnTo>
                  <a:pt x="123478" y="15226"/>
                </a:lnTo>
                <a:lnTo>
                  <a:pt x="160819" y="3878"/>
                </a:lnTo>
                <a:lnTo>
                  <a:pt x="200024" y="0"/>
                </a:lnTo>
                <a:lnTo>
                  <a:pt x="5234025" y="0"/>
                </a:lnTo>
                <a:lnTo>
                  <a:pt x="5273230" y="3878"/>
                </a:lnTo>
                <a:lnTo>
                  <a:pt x="5310571" y="15226"/>
                </a:lnTo>
                <a:lnTo>
                  <a:pt x="5344998" y="33606"/>
                </a:lnTo>
                <a:lnTo>
                  <a:pt x="5375463" y="58585"/>
                </a:lnTo>
                <a:lnTo>
                  <a:pt x="5400443" y="89051"/>
                </a:lnTo>
                <a:lnTo>
                  <a:pt x="5418824" y="123478"/>
                </a:lnTo>
                <a:lnTo>
                  <a:pt x="5430171" y="160819"/>
                </a:lnTo>
                <a:lnTo>
                  <a:pt x="5434050" y="200024"/>
                </a:lnTo>
                <a:lnTo>
                  <a:pt x="5434050" y="505192"/>
                </a:lnTo>
                <a:lnTo>
                  <a:pt x="5430171" y="544398"/>
                </a:lnTo>
                <a:lnTo>
                  <a:pt x="5418824" y="581739"/>
                </a:lnTo>
                <a:lnTo>
                  <a:pt x="5400443" y="616167"/>
                </a:lnTo>
                <a:lnTo>
                  <a:pt x="5375463" y="646632"/>
                </a:lnTo>
                <a:lnTo>
                  <a:pt x="5344998" y="671611"/>
                </a:lnTo>
                <a:lnTo>
                  <a:pt x="5310571" y="689991"/>
                </a:lnTo>
                <a:lnTo>
                  <a:pt x="5273230" y="701338"/>
                </a:lnTo>
                <a:lnTo>
                  <a:pt x="5234025" y="705217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383232" y="6740745"/>
            <a:ext cx="5434330" cy="705485"/>
          </a:xfrm>
          <a:custGeom>
            <a:avLst/>
            <a:gdLst/>
            <a:ahLst/>
            <a:cxnLst/>
            <a:rect l="l" t="t" r="r" b="b"/>
            <a:pathLst>
              <a:path w="5434330" h="705484">
                <a:moveTo>
                  <a:pt x="5234025" y="705218"/>
                </a:moveTo>
                <a:lnTo>
                  <a:pt x="200024" y="705218"/>
                </a:lnTo>
                <a:lnTo>
                  <a:pt x="160819" y="701339"/>
                </a:lnTo>
                <a:lnTo>
                  <a:pt x="123478" y="689992"/>
                </a:lnTo>
                <a:lnTo>
                  <a:pt x="89051" y="671611"/>
                </a:lnTo>
                <a:lnTo>
                  <a:pt x="58586" y="646631"/>
                </a:lnTo>
                <a:lnTo>
                  <a:pt x="33606" y="616166"/>
                </a:lnTo>
                <a:lnTo>
                  <a:pt x="15226" y="581739"/>
                </a:lnTo>
                <a:lnTo>
                  <a:pt x="3878" y="544398"/>
                </a:lnTo>
                <a:lnTo>
                  <a:pt x="0" y="505193"/>
                </a:lnTo>
                <a:lnTo>
                  <a:pt x="0" y="200024"/>
                </a:lnTo>
                <a:lnTo>
                  <a:pt x="3878" y="160819"/>
                </a:lnTo>
                <a:lnTo>
                  <a:pt x="15226" y="123478"/>
                </a:lnTo>
                <a:lnTo>
                  <a:pt x="33606" y="89050"/>
                </a:lnTo>
                <a:lnTo>
                  <a:pt x="58586" y="58586"/>
                </a:lnTo>
                <a:lnTo>
                  <a:pt x="89051" y="33606"/>
                </a:lnTo>
                <a:lnTo>
                  <a:pt x="123478" y="15225"/>
                </a:lnTo>
                <a:lnTo>
                  <a:pt x="160819" y="3878"/>
                </a:lnTo>
                <a:lnTo>
                  <a:pt x="200024" y="0"/>
                </a:lnTo>
                <a:lnTo>
                  <a:pt x="5234025" y="0"/>
                </a:lnTo>
                <a:lnTo>
                  <a:pt x="5273230" y="3878"/>
                </a:lnTo>
                <a:lnTo>
                  <a:pt x="5310571" y="15225"/>
                </a:lnTo>
                <a:lnTo>
                  <a:pt x="5344999" y="33606"/>
                </a:lnTo>
                <a:lnTo>
                  <a:pt x="5375464" y="58586"/>
                </a:lnTo>
                <a:lnTo>
                  <a:pt x="5400443" y="89050"/>
                </a:lnTo>
                <a:lnTo>
                  <a:pt x="5418824" y="123478"/>
                </a:lnTo>
                <a:lnTo>
                  <a:pt x="5430171" y="160819"/>
                </a:lnTo>
                <a:lnTo>
                  <a:pt x="5434050" y="200024"/>
                </a:lnTo>
                <a:lnTo>
                  <a:pt x="5434050" y="505193"/>
                </a:lnTo>
                <a:lnTo>
                  <a:pt x="5430171" y="544398"/>
                </a:lnTo>
                <a:lnTo>
                  <a:pt x="5418824" y="581739"/>
                </a:lnTo>
                <a:lnTo>
                  <a:pt x="5400443" y="616166"/>
                </a:lnTo>
                <a:lnTo>
                  <a:pt x="5375464" y="646631"/>
                </a:lnTo>
                <a:lnTo>
                  <a:pt x="5344999" y="671611"/>
                </a:lnTo>
                <a:lnTo>
                  <a:pt x="5310571" y="689992"/>
                </a:lnTo>
                <a:lnTo>
                  <a:pt x="5273230" y="701339"/>
                </a:lnTo>
                <a:lnTo>
                  <a:pt x="5234025" y="705218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383232" y="7731713"/>
            <a:ext cx="5434330" cy="705485"/>
          </a:xfrm>
          <a:custGeom>
            <a:avLst/>
            <a:gdLst/>
            <a:ahLst/>
            <a:cxnLst/>
            <a:rect l="l" t="t" r="r" b="b"/>
            <a:pathLst>
              <a:path w="5434330" h="705484">
                <a:moveTo>
                  <a:pt x="5234025" y="705218"/>
                </a:moveTo>
                <a:lnTo>
                  <a:pt x="200024" y="705218"/>
                </a:lnTo>
                <a:lnTo>
                  <a:pt x="160819" y="701339"/>
                </a:lnTo>
                <a:lnTo>
                  <a:pt x="123478" y="689992"/>
                </a:lnTo>
                <a:lnTo>
                  <a:pt x="89051" y="671611"/>
                </a:lnTo>
                <a:lnTo>
                  <a:pt x="58586" y="646631"/>
                </a:lnTo>
                <a:lnTo>
                  <a:pt x="33606" y="616166"/>
                </a:lnTo>
                <a:lnTo>
                  <a:pt x="15226" y="581739"/>
                </a:lnTo>
                <a:lnTo>
                  <a:pt x="3878" y="544398"/>
                </a:lnTo>
                <a:lnTo>
                  <a:pt x="0" y="505193"/>
                </a:lnTo>
                <a:lnTo>
                  <a:pt x="0" y="200024"/>
                </a:lnTo>
                <a:lnTo>
                  <a:pt x="3878" y="160819"/>
                </a:lnTo>
                <a:lnTo>
                  <a:pt x="15226" y="123478"/>
                </a:lnTo>
                <a:lnTo>
                  <a:pt x="33606" y="89050"/>
                </a:lnTo>
                <a:lnTo>
                  <a:pt x="58586" y="58586"/>
                </a:lnTo>
                <a:lnTo>
                  <a:pt x="89051" y="33606"/>
                </a:lnTo>
                <a:lnTo>
                  <a:pt x="123478" y="15225"/>
                </a:lnTo>
                <a:lnTo>
                  <a:pt x="160819" y="3878"/>
                </a:lnTo>
                <a:lnTo>
                  <a:pt x="200024" y="0"/>
                </a:lnTo>
                <a:lnTo>
                  <a:pt x="5234025" y="0"/>
                </a:lnTo>
                <a:lnTo>
                  <a:pt x="5273230" y="3878"/>
                </a:lnTo>
                <a:lnTo>
                  <a:pt x="5310571" y="15225"/>
                </a:lnTo>
                <a:lnTo>
                  <a:pt x="5344999" y="33606"/>
                </a:lnTo>
                <a:lnTo>
                  <a:pt x="5375464" y="58586"/>
                </a:lnTo>
                <a:lnTo>
                  <a:pt x="5400443" y="89050"/>
                </a:lnTo>
                <a:lnTo>
                  <a:pt x="5418824" y="123478"/>
                </a:lnTo>
                <a:lnTo>
                  <a:pt x="5430171" y="160819"/>
                </a:lnTo>
                <a:lnTo>
                  <a:pt x="5434050" y="200024"/>
                </a:lnTo>
                <a:lnTo>
                  <a:pt x="5434050" y="505193"/>
                </a:lnTo>
                <a:lnTo>
                  <a:pt x="5430171" y="544398"/>
                </a:lnTo>
                <a:lnTo>
                  <a:pt x="5418824" y="581739"/>
                </a:lnTo>
                <a:lnTo>
                  <a:pt x="5400443" y="616166"/>
                </a:lnTo>
                <a:lnTo>
                  <a:pt x="5375464" y="646631"/>
                </a:lnTo>
                <a:lnTo>
                  <a:pt x="5344999" y="671611"/>
                </a:lnTo>
                <a:lnTo>
                  <a:pt x="5310571" y="689992"/>
                </a:lnTo>
                <a:lnTo>
                  <a:pt x="5273230" y="701339"/>
                </a:lnTo>
                <a:lnTo>
                  <a:pt x="5234025" y="705218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383232" y="8722682"/>
            <a:ext cx="5434330" cy="705485"/>
          </a:xfrm>
          <a:custGeom>
            <a:avLst/>
            <a:gdLst/>
            <a:ahLst/>
            <a:cxnLst/>
            <a:rect l="l" t="t" r="r" b="b"/>
            <a:pathLst>
              <a:path w="5434330" h="705484">
                <a:moveTo>
                  <a:pt x="5234025" y="705218"/>
                </a:moveTo>
                <a:lnTo>
                  <a:pt x="200024" y="705218"/>
                </a:lnTo>
                <a:lnTo>
                  <a:pt x="160819" y="701339"/>
                </a:lnTo>
                <a:lnTo>
                  <a:pt x="123478" y="689992"/>
                </a:lnTo>
                <a:lnTo>
                  <a:pt x="89051" y="671611"/>
                </a:lnTo>
                <a:lnTo>
                  <a:pt x="58586" y="646631"/>
                </a:lnTo>
                <a:lnTo>
                  <a:pt x="33606" y="616166"/>
                </a:lnTo>
                <a:lnTo>
                  <a:pt x="15226" y="581739"/>
                </a:lnTo>
                <a:lnTo>
                  <a:pt x="3878" y="544398"/>
                </a:lnTo>
                <a:lnTo>
                  <a:pt x="0" y="505193"/>
                </a:lnTo>
                <a:lnTo>
                  <a:pt x="0" y="200024"/>
                </a:lnTo>
                <a:lnTo>
                  <a:pt x="3878" y="160819"/>
                </a:lnTo>
                <a:lnTo>
                  <a:pt x="15226" y="123478"/>
                </a:lnTo>
                <a:lnTo>
                  <a:pt x="33606" y="89050"/>
                </a:lnTo>
                <a:lnTo>
                  <a:pt x="58586" y="58586"/>
                </a:lnTo>
                <a:lnTo>
                  <a:pt x="89051" y="33606"/>
                </a:lnTo>
                <a:lnTo>
                  <a:pt x="123478" y="15225"/>
                </a:lnTo>
                <a:lnTo>
                  <a:pt x="160819" y="3878"/>
                </a:lnTo>
                <a:lnTo>
                  <a:pt x="200024" y="0"/>
                </a:lnTo>
                <a:lnTo>
                  <a:pt x="5234025" y="0"/>
                </a:lnTo>
                <a:lnTo>
                  <a:pt x="5273230" y="3878"/>
                </a:lnTo>
                <a:lnTo>
                  <a:pt x="5310571" y="15225"/>
                </a:lnTo>
                <a:lnTo>
                  <a:pt x="5344999" y="33606"/>
                </a:lnTo>
                <a:lnTo>
                  <a:pt x="5375464" y="58586"/>
                </a:lnTo>
                <a:lnTo>
                  <a:pt x="5400443" y="89050"/>
                </a:lnTo>
                <a:lnTo>
                  <a:pt x="5418824" y="123478"/>
                </a:lnTo>
                <a:lnTo>
                  <a:pt x="5430171" y="160819"/>
                </a:lnTo>
                <a:lnTo>
                  <a:pt x="5434050" y="200024"/>
                </a:lnTo>
                <a:lnTo>
                  <a:pt x="5434050" y="505193"/>
                </a:lnTo>
                <a:lnTo>
                  <a:pt x="5430171" y="544398"/>
                </a:lnTo>
                <a:lnTo>
                  <a:pt x="5418824" y="581739"/>
                </a:lnTo>
                <a:lnTo>
                  <a:pt x="5400443" y="616166"/>
                </a:lnTo>
                <a:lnTo>
                  <a:pt x="5375464" y="646631"/>
                </a:lnTo>
                <a:lnTo>
                  <a:pt x="5344999" y="671611"/>
                </a:lnTo>
                <a:lnTo>
                  <a:pt x="5310571" y="689992"/>
                </a:lnTo>
                <a:lnTo>
                  <a:pt x="5273230" y="701339"/>
                </a:lnTo>
                <a:lnTo>
                  <a:pt x="5234025" y="705218"/>
                </a:lnTo>
                <a:close/>
              </a:path>
            </a:pathLst>
          </a:custGeom>
          <a:solidFill>
            <a:srgbClr val="20202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990600" y="1939120"/>
            <a:ext cx="6577965" cy="7169150"/>
            <a:chOff x="990600" y="1939120"/>
            <a:chExt cx="6577965" cy="716915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3913" y="1939120"/>
              <a:ext cx="5934074" cy="61817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28700" y="5983497"/>
              <a:ext cx="5374005" cy="3086100"/>
            </a:xfrm>
            <a:custGeom>
              <a:avLst/>
              <a:gdLst/>
              <a:ahLst/>
              <a:cxnLst/>
              <a:rect l="l" t="t" r="r" b="b"/>
              <a:pathLst>
                <a:path w="5374005" h="3086100">
                  <a:moveTo>
                    <a:pt x="5373763" y="3086099"/>
                  </a:moveTo>
                  <a:lnTo>
                    <a:pt x="0" y="3086099"/>
                  </a:lnTo>
                  <a:lnTo>
                    <a:pt x="0" y="0"/>
                  </a:lnTo>
                  <a:lnTo>
                    <a:pt x="5373763" y="0"/>
                  </a:lnTo>
                  <a:lnTo>
                    <a:pt x="5373763" y="3086099"/>
                  </a:lnTo>
                  <a:close/>
                </a:path>
              </a:pathLst>
            </a:custGeom>
            <a:solidFill>
              <a:srgbClr val="2020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28699" y="5983505"/>
              <a:ext cx="5374005" cy="3086100"/>
            </a:xfrm>
            <a:custGeom>
              <a:avLst/>
              <a:gdLst/>
              <a:ahLst/>
              <a:cxnLst/>
              <a:rect l="l" t="t" r="r" b="b"/>
              <a:pathLst>
                <a:path w="5374005" h="3086100">
                  <a:moveTo>
                    <a:pt x="0" y="0"/>
                  </a:moveTo>
                  <a:lnTo>
                    <a:pt x="5373736" y="0"/>
                  </a:lnTo>
                  <a:lnTo>
                    <a:pt x="5373736" y="3086084"/>
                  </a:lnTo>
                  <a:lnTo>
                    <a:pt x="0" y="3086084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9802380" y="963065"/>
            <a:ext cx="1592580" cy="33591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00" b="0">
                <a:latin typeface="Arial"/>
                <a:cs typeface="Arial"/>
              </a:rPr>
              <a:t>SQL</a:t>
            </a:r>
            <a:r>
              <a:rPr dirty="0" sz="2000" spc="35" b="0">
                <a:latin typeface="Arial"/>
                <a:cs typeface="Arial"/>
              </a:rPr>
              <a:t> </a:t>
            </a:r>
            <a:r>
              <a:rPr dirty="0" sz="2000" b="0">
                <a:latin typeface="Arial"/>
                <a:cs typeface="Arial"/>
              </a:rPr>
              <a:t>-</a:t>
            </a:r>
            <a:r>
              <a:rPr dirty="0" sz="2000" spc="40" b="0">
                <a:latin typeface="Arial"/>
                <a:cs typeface="Arial"/>
              </a:rPr>
              <a:t> </a:t>
            </a:r>
            <a:r>
              <a:rPr dirty="0" sz="2000" b="0">
                <a:latin typeface="Arial"/>
                <a:cs typeface="Arial"/>
              </a:rPr>
              <a:t>Egor</a:t>
            </a:r>
            <a:r>
              <a:rPr dirty="0" sz="2000" spc="40" b="0">
                <a:latin typeface="Arial"/>
                <a:cs typeface="Arial"/>
              </a:rPr>
              <a:t> </a:t>
            </a:r>
            <a:r>
              <a:rPr dirty="0" sz="2000" spc="-50" b="0"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66800" y="6240965"/>
            <a:ext cx="5335905" cy="2338705"/>
          </a:xfrm>
          <a:prstGeom prst="rect">
            <a:avLst/>
          </a:prstGeom>
        </p:spPr>
        <p:txBody>
          <a:bodyPr wrap="square" lIns="0" tIns="372745" rIns="0" bIns="0" rtlCol="0" vert="horz">
            <a:spAutoFit/>
          </a:bodyPr>
          <a:lstStyle/>
          <a:p>
            <a:pPr marL="701675" marR="1141730">
              <a:lnSpc>
                <a:spcPct val="73200"/>
              </a:lnSpc>
              <a:spcBef>
                <a:spcPts val="2935"/>
              </a:spcBef>
            </a:pPr>
            <a:r>
              <a:rPr dirty="0" sz="8750" spc="-65" b="1">
                <a:solidFill>
                  <a:srgbClr val="FFFFFF"/>
                </a:solidFill>
                <a:latin typeface="Arial"/>
                <a:cs typeface="Arial"/>
              </a:rPr>
              <a:t>Total</a:t>
            </a:r>
            <a:r>
              <a:rPr dirty="0" sz="8750" spc="-5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750" spc="-50" b="1">
                <a:solidFill>
                  <a:srgbClr val="FFFFFF"/>
                </a:solidFill>
                <a:latin typeface="Arial"/>
                <a:cs typeface="Arial"/>
              </a:rPr>
              <a:t>9 </a:t>
            </a:r>
            <a:r>
              <a:rPr dirty="0" sz="8750" spc="-10" b="1">
                <a:solidFill>
                  <a:srgbClr val="FFFFFF"/>
                </a:solidFill>
                <a:latin typeface="Arial"/>
                <a:cs typeface="Arial"/>
              </a:rPr>
              <a:t>tasks</a:t>
            </a:r>
            <a:endParaRPr sz="87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802380" y="1954163"/>
            <a:ext cx="1519555" cy="4262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PD</a:t>
            </a:r>
            <a:r>
              <a:rPr dirty="0" sz="200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0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Egor</a:t>
            </a:r>
            <a:r>
              <a:rPr dirty="0" sz="20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  <a:p>
            <a:pPr algn="just" marL="12700" marR="5080">
              <a:lnSpc>
                <a:spcPct val="320600"/>
              </a:lnSpc>
              <a:spcBef>
                <a:spcPts val="145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PD</a:t>
            </a:r>
            <a:r>
              <a:rPr dirty="0" sz="200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0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Grigoriy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PD</a:t>
            </a:r>
            <a:r>
              <a:rPr dirty="0" sz="200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0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Grigoriy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dirty="0" sz="20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00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Anton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dirty="0" sz="20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00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Anton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802380" y="6871203"/>
            <a:ext cx="1448435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dirty="0" sz="20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00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Anton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802380" y="7861814"/>
            <a:ext cx="1563370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dirty="0" sz="20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00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Egor</a:t>
            </a:r>
            <a:r>
              <a:rPr dirty="0" sz="200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802380" y="8853140"/>
            <a:ext cx="1563370" cy="3359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dirty="0" sz="20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00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Egor</a:t>
            </a:r>
            <a:r>
              <a:rPr dirty="0" sz="200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0600" y="0"/>
            <a:ext cx="17297400" cy="10287000"/>
            <a:chOff x="990600" y="0"/>
            <a:chExt cx="172974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1937" y="0"/>
              <a:ext cx="15656061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28700" y="5007844"/>
              <a:ext cx="8163559" cy="4140200"/>
            </a:xfrm>
            <a:custGeom>
              <a:avLst/>
              <a:gdLst/>
              <a:ahLst/>
              <a:cxnLst/>
              <a:rect l="l" t="t" r="r" b="b"/>
              <a:pathLst>
                <a:path w="8163559" h="4140200">
                  <a:moveTo>
                    <a:pt x="7801103" y="4139819"/>
                  </a:moveTo>
                  <a:lnTo>
                    <a:pt x="361950" y="4139819"/>
                  </a:lnTo>
                  <a:lnTo>
                    <a:pt x="314373" y="4136679"/>
                  </a:lnTo>
                  <a:lnTo>
                    <a:pt x="268015" y="4127418"/>
                  </a:lnTo>
                  <a:lnTo>
                    <a:pt x="223437" y="4112266"/>
                  </a:lnTo>
                  <a:lnTo>
                    <a:pt x="181202" y="4091458"/>
                  </a:lnTo>
                  <a:lnTo>
                    <a:pt x="141873" y="4065227"/>
                  </a:lnTo>
                  <a:lnTo>
                    <a:pt x="106012" y="4033805"/>
                  </a:lnTo>
                  <a:lnTo>
                    <a:pt x="74590" y="3997944"/>
                  </a:lnTo>
                  <a:lnTo>
                    <a:pt x="48359" y="3958615"/>
                  </a:lnTo>
                  <a:lnTo>
                    <a:pt x="27551" y="3916380"/>
                  </a:lnTo>
                  <a:lnTo>
                    <a:pt x="12400" y="3871803"/>
                  </a:lnTo>
                  <a:lnTo>
                    <a:pt x="3138" y="3825444"/>
                  </a:lnTo>
                  <a:lnTo>
                    <a:pt x="0" y="3777869"/>
                  </a:lnTo>
                  <a:lnTo>
                    <a:pt x="0" y="361949"/>
                  </a:lnTo>
                  <a:lnTo>
                    <a:pt x="3138" y="314373"/>
                  </a:lnTo>
                  <a:lnTo>
                    <a:pt x="12400" y="268015"/>
                  </a:lnTo>
                  <a:lnTo>
                    <a:pt x="27551" y="223437"/>
                  </a:lnTo>
                  <a:lnTo>
                    <a:pt x="48359" y="181202"/>
                  </a:lnTo>
                  <a:lnTo>
                    <a:pt x="74590" y="141873"/>
                  </a:lnTo>
                  <a:lnTo>
                    <a:pt x="106012" y="106012"/>
                  </a:lnTo>
                  <a:lnTo>
                    <a:pt x="141873" y="74590"/>
                  </a:lnTo>
                  <a:lnTo>
                    <a:pt x="181202" y="48359"/>
                  </a:lnTo>
                  <a:lnTo>
                    <a:pt x="223437" y="27551"/>
                  </a:lnTo>
                  <a:lnTo>
                    <a:pt x="268015" y="12400"/>
                  </a:lnTo>
                  <a:lnTo>
                    <a:pt x="314373" y="3138"/>
                  </a:lnTo>
                  <a:lnTo>
                    <a:pt x="361950" y="0"/>
                  </a:lnTo>
                  <a:lnTo>
                    <a:pt x="7801103" y="0"/>
                  </a:lnTo>
                  <a:lnTo>
                    <a:pt x="7848679" y="3138"/>
                  </a:lnTo>
                  <a:lnTo>
                    <a:pt x="7895038" y="12400"/>
                  </a:lnTo>
                  <a:lnTo>
                    <a:pt x="7939615" y="27551"/>
                  </a:lnTo>
                  <a:lnTo>
                    <a:pt x="7981850" y="48359"/>
                  </a:lnTo>
                  <a:lnTo>
                    <a:pt x="8021179" y="74590"/>
                  </a:lnTo>
                  <a:lnTo>
                    <a:pt x="8057040" y="106012"/>
                  </a:lnTo>
                  <a:lnTo>
                    <a:pt x="8088462" y="141873"/>
                  </a:lnTo>
                  <a:lnTo>
                    <a:pt x="8114693" y="181202"/>
                  </a:lnTo>
                  <a:lnTo>
                    <a:pt x="8135501" y="223437"/>
                  </a:lnTo>
                  <a:lnTo>
                    <a:pt x="8150652" y="268015"/>
                  </a:lnTo>
                  <a:lnTo>
                    <a:pt x="8159914" y="314373"/>
                  </a:lnTo>
                  <a:lnTo>
                    <a:pt x="8163053" y="361949"/>
                  </a:lnTo>
                  <a:lnTo>
                    <a:pt x="8163053" y="3777869"/>
                  </a:lnTo>
                  <a:lnTo>
                    <a:pt x="8159914" y="3825444"/>
                  </a:lnTo>
                  <a:lnTo>
                    <a:pt x="8150652" y="3871803"/>
                  </a:lnTo>
                  <a:lnTo>
                    <a:pt x="8135501" y="3916380"/>
                  </a:lnTo>
                  <a:lnTo>
                    <a:pt x="8114693" y="3958615"/>
                  </a:lnTo>
                  <a:lnTo>
                    <a:pt x="8088462" y="3997944"/>
                  </a:lnTo>
                  <a:lnTo>
                    <a:pt x="8057040" y="4033805"/>
                  </a:lnTo>
                  <a:lnTo>
                    <a:pt x="8021179" y="4065227"/>
                  </a:lnTo>
                  <a:lnTo>
                    <a:pt x="7981850" y="4091458"/>
                  </a:lnTo>
                  <a:lnTo>
                    <a:pt x="7939615" y="4112266"/>
                  </a:lnTo>
                  <a:lnTo>
                    <a:pt x="7895038" y="4127418"/>
                  </a:lnTo>
                  <a:lnTo>
                    <a:pt x="7848679" y="4136679"/>
                  </a:lnTo>
                  <a:lnTo>
                    <a:pt x="7801103" y="4139819"/>
                  </a:lnTo>
                  <a:close/>
                </a:path>
              </a:pathLst>
            </a:custGeom>
            <a:solidFill>
              <a:srgbClr val="2020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28700" y="5007868"/>
              <a:ext cx="8162925" cy="4140200"/>
            </a:xfrm>
            <a:custGeom>
              <a:avLst/>
              <a:gdLst/>
              <a:ahLst/>
              <a:cxnLst/>
              <a:rect l="l" t="t" r="r" b="b"/>
              <a:pathLst>
                <a:path w="8162925" h="4140200">
                  <a:moveTo>
                    <a:pt x="361944" y="0"/>
                  </a:moveTo>
                  <a:lnTo>
                    <a:pt x="7800981" y="0"/>
                  </a:lnTo>
                  <a:lnTo>
                    <a:pt x="7848556" y="3138"/>
                  </a:lnTo>
                  <a:lnTo>
                    <a:pt x="7894913" y="12400"/>
                  </a:lnTo>
                  <a:lnTo>
                    <a:pt x="7939490" y="27551"/>
                  </a:lnTo>
                  <a:lnTo>
                    <a:pt x="7981724" y="48358"/>
                  </a:lnTo>
                  <a:lnTo>
                    <a:pt x="8021053" y="74589"/>
                  </a:lnTo>
                  <a:lnTo>
                    <a:pt x="8056914" y="106011"/>
                  </a:lnTo>
                  <a:lnTo>
                    <a:pt x="8088335" y="141871"/>
                  </a:lnTo>
                  <a:lnTo>
                    <a:pt x="8114566" y="181200"/>
                  </a:lnTo>
                  <a:lnTo>
                    <a:pt x="8135373" y="223434"/>
                  </a:lnTo>
                  <a:lnTo>
                    <a:pt x="8150524" y="268011"/>
                  </a:lnTo>
                  <a:lnTo>
                    <a:pt x="8159786" y="314368"/>
                  </a:lnTo>
                  <a:lnTo>
                    <a:pt x="8162925" y="361944"/>
                  </a:lnTo>
                  <a:lnTo>
                    <a:pt x="8162925" y="3777809"/>
                  </a:lnTo>
                  <a:lnTo>
                    <a:pt x="8159786" y="3825384"/>
                  </a:lnTo>
                  <a:lnTo>
                    <a:pt x="8150524" y="3871741"/>
                  </a:lnTo>
                  <a:lnTo>
                    <a:pt x="8135373" y="3916318"/>
                  </a:lnTo>
                  <a:lnTo>
                    <a:pt x="8114566" y="3958552"/>
                  </a:lnTo>
                  <a:lnTo>
                    <a:pt x="8088335" y="3997881"/>
                  </a:lnTo>
                  <a:lnTo>
                    <a:pt x="8056914" y="4033741"/>
                  </a:lnTo>
                  <a:lnTo>
                    <a:pt x="8021053" y="4065163"/>
                  </a:lnTo>
                  <a:lnTo>
                    <a:pt x="7981724" y="4091394"/>
                  </a:lnTo>
                  <a:lnTo>
                    <a:pt x="7939490" y="4112202"/>
                  </a:lnTo>
                  <a:lnTo>
                    <a:pt x="7894913" y="4127353"/>
                  </a:lnTo>
                  <a:lnTo>
                    <a:pt x="7848556" y="4136614"/>
                  </a:lnTo>
                  <a:lnTo>
                    <a:pt x="7800981" y="4139753"/>
                  </a:lnTo>
                  <a:lnTo>
                    <a:pt x="361944" y="4139753"/>
                  </a:lnTo>
                  <a:lnTo>
                    <a:pt x="314368" y="4136614"/>
                  </a:lnTo>
                  <a:lnTo>
                    <a:pt x="268011" y="4127353"/>
                  </a:lnTo>
                  <a:lnTo>
                    <a:pt x="223434" y="4112202"/>
                  </a:lnTo>
                  <a:lnTo>
                    <a:pt x="181200" y="4091394"/>
                  </a:lnTo>
                  <a:lnTo>
                    <a:pt x="141871" y="4065163"/>
                  </a:lnTo>
                  <a:lnTo>
                    <a:pt x="106011" y="4033742"/>
                  </a:lnTo>
                  <a:lnTo>
                    <a:pt x="74589" y="3997881"/>
                  </a:lnTo>
                  <a:lnTo>
                    <a:pt x="48358" y="3958553"/>
                  </a:lnTo>
                  <a:lnTo>
                    <a:pt x="27551" y="3916319"/>
                  </a:lnTo>
                  <a:lnTo>
                    <a:pt x="12400" y="3871742"/>
                  </a:lnTo>
                  <a:lnTo>
                    <a:pt x="3138" y="3825384"/>
                  </a:lnTo>
                  <a:lnTo>
                    <a:pt x="0" y="3777809"/>
                  </a:lnTo>
                  <a:lnTo>
                    <a:pt x="0" y="361944"/>
                  </a:lnTo>
                  <a:lnTo>
                    <a:pt x="3138" y="314368"/>
                  </a:lnTo>
                  <a:lnTo>
                    <a:pt x="12400" y="268011"/>
                  </a:lnTo>
                  <a:lnTo>
                    <a:pt x="27551" y="223434"/>
                  </a:lnTo>
                  <a:lnTo>
                    <a:pt x="48358" y="181200"/>
                  </a:lnTo>
                  <a:lnTo>
                    <a:pt x="74589" y="141871"/>
                  </a:lnTo>
                  <a:lnTo>
                    <a:pt x="106011" y="106010"/>
                  </a:lnTo>
                  <a:lnTo>
                    <a:pt x="141871" y="74589"/>
                  </a:lnTo>
                  <a:lnTo>
                    <a:pt x="181200" y="48358"/>
                  </a:lnTo>
                  <a:lnTo>
                    <a:pt x="223434" y="27551"/>
                  </a:lnTo>
                  <a:lnTo>
                    <a:pt x="268011" y="12400"/>
                  </a:lnTo>
                  <a:lnTo>
                    <a:pt x="314368" y="3138"/>
                  </a:lnTo>
                  <a:lnTo>
                    <a:pt x="361944" y="0"/>
                  </a:lnTo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679436" y="1259285"/>
              <a:ext cx="7579995" cy="7876540"/>
            </a:xfrm>
            <a:custGeom>
              <a:avLst/>
              <a:gdLst/>
              <a:ahLst/>
              <a:cxnLst/>
              <a:rect l="l" t="t" r="r" b="b"/>
              <a:pathLst>
                <a:path w="7579994" h="7876540">
                  <a:moveTo>
                    <a:pt x="7311846" y="7875950"/>
                  </a:moveTo>
                  <a:lnTo>
                    <a:pt x="268015" y="7875950"/>
                  </a:lnTo>
                  <a:lnTo>
                    <a:pt x="223438" y="7860824"/>
                  </a:lnTo>
                  <a:lnTo>
                    <a:pt x="181203" y="7840017"/>
                  </a:lnTo>
                  <a:lnTo>
                    <a:pt x="141873" y="7813785"/>
                  </a:lnTo>
                  <a:lnTo>
                    <a:pt x="106012" y="7782364"/>
                  </a:lnTo>
                  <a:lnTo>
                    <a:pt x="74591" y="7746502"/>
                  </a:lnTo>
                  <a:lnTo>
                    <a:pt x="48359" y="7707173"/>
                  </a:lnTo>
                  <a:lnTo>
                    <a:pt x="27552" y="7664938"/>
                  </a:lnTo>
                  <a:lnTo>
                    <a:pt x="12400" y="7620360"/>
                  </a:lnTo>
                  <a:lnTo>
                    <a:pt x="3139" y="7574002"/>
                  </a:lnTo>
                  <a:lnTo>
                    <a:pt x="0" y="7526426"/>
                  </a:lnTo>
                  <a:lnTo>
                    <a:pt x="0" y="361950"/>
                  </a:lnTo>
                  <a:lnTo>
                    <a:pt x="3139" y="314373"/>
                  </a:lnTo>
                  <a:lnTo>
                    <a:pt x="12400" y="268015"/>
                  </a:lnTo>
                  <a:lnTo>
                    <a:pt x="27552" y="223437"/>
                  </a:lnTo>
                  <a:lnTo>
                    <a:pt x="48359" y="181202"/>
                  </a:lnTo>
                  <a:lnTo>
                    <a:pt x="74591" y="141873"/>
                  </a:lnTo>
                  <a:lnTo>
                    <a:pt x="106012" y="106012"/>
                  </a:lnTo>
                  <a:lnTo>
                    <a:pt x="141873" y="74590"/>
                  </a:lnTo>
                  <a:lnTo>
                    <a:pt x="181203" y="48359"/>
                  </a:lnTo>
                  <a:lnTo>
                    <a:pt x="223438" y="27551"/>
                  </a:lnTo>
                  <a:lnTo>
                    <a:pt x="268015" y="12400"/>
                  </a:lnTo>
                  <a:lnTo>
                    <a:pt x="314374" y="3139"/>
                  </a:lnTo>
                  <a:lnTo>
                    <a:pt x="361950" y="0"/>
                  </a:lnTo>
                  <a:lnTo>
                    <a:pt x="7217912" y="0"/>
                  </a:lnTo>
                  <a:lnTo>
                    <a:pt x="7265488" y="3139"/>
                  </a:lnTo>
                  <a:lnTo>
                    <a:pt x="7311846" y="12400"/>
                  </a:lnTo>
                  <a:lnTo>
                    <a:pt x="7356424" y="27551"/>
                  </a:lnTo>
                  <a:lnTo>
                    <a:pt x="7398659" y="48359"/>
                  </a:lnTo>
                  <a:lnTo>
                    <a:pt x="7437988" y="74590"/>
                  </a:lnTo>
                  <a:lnTo>
                    <a:pt x="7473849" y="106012"/>
                  </a:lnTo>
                  <a:lnTo>
                    <a:pt x="7505271" y="141873"/>
                  </a:lnTo>
                  <a:lnTo>
                    <a:pt x="7531503" y="181202"/>
                  </a:lnTo>
                  <a:lnTo>
                    <a:pt x="7552311" y="223437"/>
                  </a:lnTo>
                  <a:lnTo>
                    <a:pt x="7567462" y="268015"/>
                  </a:lnTo>
                  <a:lnTo>
                    <a:pt x="7576723" y="314373"/>
                  </a:lnTo>
                  <a:lnTo>
                    <a:pt x="7579862" y="361950"/>
                  </a:lnTo>
                  <a:lnTo>
                    <a:pt x="7579862" y="7526426"/>
                  </a:lnTo>
                  <a:lnTo>
                    <a:pt x="7576723" y="7574002"/>
                  </a:lnTo>
                  <a:lnTo>
                    <a:pt x="7567462" y="7620360"/>
                  </a:lnTo>
                  <a:lnTo>
                    <a:pt x="7552311" y="7664938"/>
                  </a:lnTo>
                  <a:lnTo>
                    <a:pt x="7531503" y="7707173"/>
                  </a:lnTo>
                  <a:lnTo>
                    <a:pt x="7505271" y="7746502"/>
                  </a:lnTo>
                  <a:lnTo>
                    <a:pt x="7473849" y="7782364"/>
                  </a:lnTo>
                  <a:lnTo>
                    <a:pt x="7437988" y="7813785"/>
                  </a:lnTo>
                  <a:lnTo>
                    <a:pt x="7398659" y="7840017"/>
                  </a:lnTo>
                  <a:lnTo>
                    <a:pt x="7356424" y="7860824"/>
                  </a:lnTo>
                  <a:lnTo>
                    <a:pt x="7311846" y="7875950"/>
                  </a:lnTo>
                  <a:close/>
                </a:path>
              </a:pathLst>
            </a:custGeom>
            <a:solidFill>
              <a:srgbClr val="2020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679437" y="1259284"/>
              <a:ext cx="7579995" cy="7886700"/>
            </a:xfrm>
            <a:custGeom>
              <a:avLst/>
              <a:gdLst/>
              <a:ahLst/>
              <a:cxnLst/>
              <a:rect l="l" t="t" r="r" b="b"/>
              <a:pathLst>
                <a:path w="7579994" h="7886700">
                  <a:moveTo>
                    <a:pt x="336538" y="7886679"/>
                  </a:moveTo>
                  <a:lnTo>
                    <a:pt x="268000" y="7875970"/>
                  </a:lnTo>
                  <a:lnTo>
                    <a:pt x="223419" y="7860815"/>
                  </a:lnTo>
                  <a:lnTo>
                    <a:pt x="181181" y="7840002"/>
                  </a:lnTo>
                  <a:lnTo>
                    <a:pt x="141851" y="7813765"/>
                  </a:lnTo>
                  <a:lnTo>
                    <a:pt x="105990" y="7782338"/>
                  </a:lnTo>
                  <a:lnTo>
                    <a:pt x="74570" y="7746472"/>
                  </a:lnTo>
                  <a:lnTo>
                    <a:pt x="48342" y="7707138"/>
                  </a:lnTo>
                  <a:lnTo>
                    <a:pt x="27538" y="7664899"/>
                  </a:lnTo>
                  <a:lnTo>
                    <a:pt x="12392" y="7620319"/>
                  </a:lnTo>
                  <a:lnTo>
                    <a:pt x="3136" y="7573960"/>
                  </a:lnTo>
                  <a:lnTo>
                    <a:pt x="0" y="7526384"/>
                  </a:lnTo>
                  <a:lnTo>
                    <a:pt x="0" y="361951"/>
                  </a:lnTo>
                  <a:lnTo>
                    <a:pt x="3138" y="314375"/>
                  </a:lnTo>
                  <a:lnTo>
                    <a:pt x="12400" y="268017"/>
                  </a:lnTo>
                  <a:lnTo>
                    <a:pt x="27550" y="223439"/>
                  </a:lnTo>
                  <a:lnTo>
                    <a:pt x="48358" y="181205"/>
                  </a:lnTo>
                  <a:lnTo>
                    <a:pt x="74589" y="141875"/>
                  </a:lnTo>
                  <a:lnTo>
                    <a:pt x="106010" y="106014"/>
                  </a:lnTo>
                  <a:lnTo>
                    <a:pt x="141871" y="74592"/>
                  </a:lnTo>
                  <a:lnTo>
                    <a:pt x="181200" y="48360"/>
                  </a:lnTo>
                  <a:lnTo>
                    <a:pt x="223435" y="27552"/>
                  </a:lnTo>
                  <a:lnTo>
                    <a:pt x="268013" y="12401"/>
                  </a:lnTo>
                  <a:lnTo>
                    <a:pt x="314371" y="3139"/>
                  </a:lnTo>
                  <a:lnTo>
                    <a:pt x="361947" y="0"/>
                  </a:lnTo>
                  <a:lnTo>
                    <a:pt x="7217868" y="0"/>
                  </a:lnTo>
                  <a:lnTo>
                    <a:pt x="7265446" y="3130"/>
                  </a:lnTo>
                  <a:lnTo>
                    <a:pt x="7311807" y="12387"/>
                  </a:lnTo>
                  <a:lnTo>
                    <a:pt x="7356389" y="27534"/>
                  </a:lnTo>
                  <a:lnTo>
                    <a:pt x="7398629" y="48339"/>
                  </a:lnTo>
                  <a:lnTo>
                    <a:pt x="7437964" y="74569"/>
                  </a:lnTo>
                  <a:lnTo>
                    <a:pt x="7473830" y="105991"/>
                  </a:lnTo>
                  <a:lnTo>
                    <a:pt x="7505258" y="141854"/>
                  </a:lnTo>
                  <a:lnTo>
                    <a:pt x="7531494" y="181186"/>
                  </a:lnTo>
                  <a:lnTo>
                    <a:pt x="7552306" y="223425"/>
                  </a:lnTo>
                  <a:lnTo>
                    <a:pt x="7567460" y="268008"/>
                  </a:lnTo>
                  <a:lnTo>
                    <a:pt x="7576723" y="314372"/>
                  </a:lnTo>
                  <a:lnTo>
                    <a:pt x="7579861" y="361951"/>
                  </a:lnTo>
                  <a:lnTo>
                    <a:pt x="7579864" y="7526387"/>
                  </a:lnTo>
                  <a:lnTo>
                    <a:pt x="7576729" y="7573970"/>
                  </a:lnTo>
                  <a:lnTo>
                    <a:pt x="7567469" y="7620336"/>
                  </a:lnTo>
                  <a:lnTo>
                    <a:pt x="7552318" y="7664922"/>
                  </a:lnTo>
                  <a:lnTo>
                    <a:pt x="7531508" y="7707164"/>
                  </a:lnTo>
                  <a:lnTo>
                    <a:pt x="7505272" y="7746500"/>
                  </a:lnTo>
                  <a:lnTo>
                    <a:pt x="7473844" y="7782367"/>
                  </a:lnTo>
                  <a:lnTo>
                    <a:pt x="7437976" y="7813793"/>
                  </a:lnTo>
                  <a:lnTo>
                    <a:pt x="7398639" y="7840026"/>
                  </a:lnTo>
                  <a:lnTo>
                    <a:pt x="7356397" y="7860833"/>
                  </a:lnTo>
                  <a:lnTo>
                    <a:pt x="7311811" y="7875982"/>
                  </a:lnTo>
                  <a:lnTo>
                    <a:pt x="7265446" y="7885239"/>
                  </a:lnTo>
                  <a:lnTo>
                    <a:pt x="7243321" y="7886652"/>
                  </a:lnTo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721111" y="5409384"/>
              <a:ext cx="778510" cy="778510"/>
            </a:xfrm>
            <a:custGeom>
              <a:avLst/>
              <a:gdLst/>
              <a:ahLst/>
              <a:cxnLst/>
              <a:rect l="l" t="t" r="r" b="b"/>
              <a:pathLst>
                <a:path w="778510" h="778510">
                  <a:moveTo>
                    <a:pt x="389115" y="778230"/>
                  </a:moveTo>
                  <a:lnTo>
                    <a:pt x="340305" y="775199"/>
                  </a:lnTo>
                  <a:lnTo>
                    <a:pt x="293304" y="766347"/>
                  </a:lnTo>
                  <a:lnTo>
                    <a:pt x="248478" y="752039"/>
                  </a:lnTo>
                  <a:lnTo>
                    <a:pt x="206190" y="732639"/>
                  </a:lnTo>
                  <a:lnTo>
                    <a:pt x="166805" y="708514"/>
                  </a:lnTo>
                  <a:lnTo>
                    <a:pt x="130688" y="680027"/>
                  </a:lnTo>
                  <a:lnTo>
                    <a:pt x="98203" y="647542"/>
                  </a:lnTo>
                  <a:lnTo>
                    <a:pt x="69716" y="611425"/>
                  </a:lnTo>
                  <a:lnTo>
                    <a:pt x="45590" y="572040"/>
                  </a:lnTo>
                  <a:lnTo>
                    <a:pt x="26191" y="529752"/>
                  </a:lnTo>
                  <a:lnTo>
                    <a:pt x="11883" y="484925"/>
                  </a:lnTo>
                  <a:lnTo>
                    <a:pt x="3031" y="437925"/>
                  </a:lnTo>
                  <a:lnTo>
                    <a:pt x="0" y="389115"/>
                  </a:lnTo>
                  <a:lnTo>
                    <a:pt x="3031" y="340305"/>
                  </a:lnTo>
                  <a:lnTo>
                    <a:pt x="11883" y="293305"/>
                  </a:lnTo>
                  <a:lnTo>
                    <a:pt x="26191" y="248478"/>
                  </a:lnTo>
                  <a:lnTo>
                    <a:pt x="45590" y="206190"/>
                  </a:lnTo>
                  <a:lnTo>
                    <a:pt x="69716" y="166805"/>
                  </a:lnTo>
                  <a:lnTo>
                    <a:pt x="98203" y="130688"/>
                  </a:lnTo>
                  <a:lnTo>
                    <a:pt x="130688" y="98203"/>
                  </a:lnTo>
                  <a:lnTo>
                    <a:pt x="166805" y="69716"/>
                  </a:lnTo>
                  <a:lnTo>
                    <a:pt x="206190" y="45590"/>
                  </a:lnTo>
                  <a:lnTo>
                    <a:pt x="248478" y="26191"/>
                  </a:lnTo>
                  <a:lnTo>
                    <a:pt x="293304" y="11883"/>
                  </a:lnTo>
                  <a:lnTo>
                    <a:pt x="340305" y="3031"/>
                  </a:lnTo>
                  <a:lnTo>
                    <a:pt x="389115" y="0"/>
                  </a:lnTo>
                  <a:lnTo>
                    <a:pt x="437925" y="3031"/>
                  </a:lnTo>
                  <a:lnTo>
                    <a:pt x="484925" y="11883"/>
                  </a:lnTo>
                  <a:lnTo>
                    <a:pt x="529752" y="26191"/>
                  </a:lnTo>
                  <a:lnTo>
                    <a:pt x="572040" y="45590"/>
                  </a:lnTo>
                  <a:lnTo>
                    <a:pt x="611425" y="69716"/>
                  </a:lnTo>
                  <a:lnTo>
                    <a:pt x="647542" y="98203"/>
                  </a:lnTo>
                  <a:lnTo>
                    <a:pt x="680026" y="130688"/>
                  </a:lnTo>
                  <a:lnTo>
                    <a:pt x="708514" y="166805"/>
                  </a:lnTo>
                  <a:lnTo>
                    <a:pt x="732639" y="206190"/>
                  </a:lnTo>
                  <a:lnTo>
                    <a:pt x="752038" y="248478"/>
                  </a:lnTo>
                  <a:lnTo>
                    <a:pt x="766346" y="293305"/>
                  </a:lnTo>
                  <a:lnTo>
                    <a:pt x="775198" y="340305"/>
                  </a:lnTo>
                  <a:lnTo>
                    <a:pt x="778230" y="389115"/>
                  </a:lnTo>
                  <a:lnTo>
                    <a:pt x="775198" y="437925"/>
                  </a:lnTo>
                  <a:lnTo>
                    <a:pt x="766346" y="484925"/>
                  </a:lnTo>
                  <a:lnTo>
                    <a:pt x="752038" y="529752"/>
                  </a:lnTo>
                  <a:lnTo>
                    <a:pt x="732639" y="572040"/>
                  </a:lnTo>
                  <a:lnTo>
                    <a:pt x="708514" y="611425"/>
                  </a:lnTo>
                  <a:lnTo>
                    <a:pt x="680026" y="647542"/>
                  </a:lnTo>
                  <a:lnTo>
                    <a:pt x="647542" y="680027"/>
                  </a:lnTo>
                  <a:lnTo>
                    <a:pt x="611425" y="708514"/>
                  </a:lnTo>
                  <a:lnTo>
                    <a:pt x="572040" y="732639"/>
                  </a:lnTo>
                  <a:lnTo>
                    <a:pt x="529752" y="752039"/>
                  </a:lnTo>
                  <a:lnTo>
                    <a:pt x="484925" y="766347"/>
                  </a:lnTo>
                  <a:lnTo>
                    <a:pt x="437925" y="775199"/>
                  </a:lnTo>
                  <a:lnTo>
                    <a:pt x="389115" y="7782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009937" y="5529939"/>
            <a:ext cx="200660" cy="4032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-50">
                <a:latin typeface="Arial"/>
                <a:cs typeface="Arial"/>
              </a:rPr>
              <a:t>2</a:t>
            </a:r>
            <a:endParaRPr sz="24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080254" y="1484618"/>
            <a:ext cx="778510" cy="778510"/>
          </a:xfrm>
          <a:custGeom>
            <a:avLst/>
            <a:gdLst/>
            <a:ahLst/>
            <a:cxnLst/>
            <a:rect l="l" t="t" r="r" b="b"/>
            <a:pathLst>
              <a:path w="778509" h="778510">
                <a:moveTo>
                  <a:pt x="389115" y="778230"/>
                </a:moveTo>
                <a:lnTo>
                  <a:pt x="340305" y="775198"/>
                </a:lnTo>
                <a:lnTo>
                  <a:pt x="293304" y="766346"/>
                </a:lnTo>
                <a:lnTo>
                  <a:pt x="248478" y="752038"/>
                </a:lnTo>
                <a:lnTo>
                  <a:pt x="206190" y="732639"/>
                </a:lnTo>
                <a:lnTo>
                  <a:pt x="166805" y="708514"/>
                </a:lnTo>
                <a:lnTo>
                  <a:pt x="130688" y="680026"/>
                </a:lnTo>
                <a:lnTo>
                  <a:pt x="98203" y="647542"/>
                </a:lnTo>
                <a:lnTo>
                  <a:pt x="69716" y="611425"/>
                </a:lnTo>
                <a:lnTo>
                  <a:pt x="45590" y="572040"/>
                </a:lnTo>
                <a:lnTo>
                  <a:pt x="26191" y="529752"/>
                </a:lnTo>
                <a:lnTo>
                  <a:pt x="11883" y="484925"/>
                </a:lnTo>
                <a:lnTo>
                  <a:pt x="3031" y="437925"/>
                </a:lnTo>
                <a:lnTo>
                  <a:pt x="0" y="389115"/>
                </a:lnTo>
                <a:lnTo>
                  <a:pt x="3031" y="340305"/>
                </a:lnTo>
                <a:lnTo>
                  <a:pt x="11883" y="293305"/>
                </a:lnTo>
                <a:lnTo>
                  <a:pt x="26191" y="248478"/>
                </a:lnTo>
                <a:lnTo>
                  <a:pt x="45590" y="206190"/>
                </a:lnTo>
                <a:lnTo>
                  <a:pt x="69716" y="166805"/>
                </a:lnTo>
                <a:lnTo>
                  <a:pt x="98203" y="130688"/>
                </a:lnTo>
                <a:lnTo>
                  <a:pt x="130688" y="98203"/>
                </a:lnTo>
                <a:lnTo>
                  <a:pt x="166805" y="69716"/>
                </a:lnTo>
                <a:lnTo>
                  <a:pt x="206190" y="45590"/>
                </a:lnTo>
                <a:lnTo>
                  <a:pt x="248478" y="26191"/>
                </a:lnTo>
                <a:lnTo>
                  <a:pt x="293304" y="11883"/>
                </a:lnTo>
                <a:lnTo>
                  <a:pt x="340305" y="3031"/>
                </a:lnTo>
                <a:lnTo>
                  <a:pt x="389115" y="0"/>
                </a:lnTo>
                <a:lnTo>
                  <a:pt x="437925" y="3031"/>
                </a:lnTo>
                <a:lnTo>
                  <a:pt x="484925" y="11883"/>
                </a:lnTo>
                <a:lnTo>
                  <a:pt x="529752" y="26191"/>
                </a:lnTo>
                <a:lnTo>
                  <a:pt x="572040" y="45590"/>
                </a:lnTo>
                <a:lnTo>
                  <a:pt x="611425" y="69716"/>
                </a:lnTo>
                <a:lnTo>
                  <a:pt x="647542" y="98203"/>
                </a:lnTo>
                <a:lnTo>
                  <a:pt x="680027" y="130688"/>
                </a:lnTo>
                <a:lnTo>
                  <a:pt x="708514" y="166805"/>
                </a:lnTo>
                <a:lnTo>
                  <a:pt x="732640" y="206190"/>
                </a:lnTo>
                <a:lnTo>
                  <a:pt x="752039" y="248478"/>
                </a:lnTo>
                <a:lnTo>
                  <a:pt x="766347" y="293305"/>
                </a:lnTo>
                <a:lnTo>
                  <a:pt x="775199" y="340305"/>
                </a:lnTo>
                <a:lnTo>
                  <a:pt x="778231" y="389115"/>
                </a:lnTo>
                <a:lnTo>
                  <a:pt x="775199" y="437925"/>
                </a:lnTo>
                <a:lnTo>
                  <a:pt x="766347" y="484925"/>
                </a:lnTo>
                <a:lnTo>
                  <a:pt x="752039" y="529752"/>
                </a:lnTo>
                <a:lnTo>
                  <a:pt x="732640" y="572040"/>
                </a:lnTo>
                <a:lnTo>
                  <a:pt x="708514" y="611425"/>
                </a:lnTo>
                <a:lnTo>
                  <a:pt x="680027" y="647542"/>
                </a:lnTo>
                <a:lnTo>
                  <a:pt x="647542" y="680026"/>
                </a:lnTo>
                <a:lnTo>
                  <a:pt x="611425" y="708514"/>
                </a:lnTo>
                <a:lnTo>
                  <a:pt x="572040" y="732639"/>
                </a:lnTo>
                <a:lnTo>
                  <a:pt x="529752" y="752038"/>
                </a:lnTo>
                <a:lnTo>
                  <a:pt x="484925" y="766346"/>
                </a:lnTo>
                <a:lnTo>
                  <a:pt x="437925" y="775198"/>
                </a:lnTo>
                <a:lnTo>
                  <a:pt x="389115" y="7782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3351515" y="1570217"/>
            <a:ext cx="235585" cy="4794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950" spc="-50">
                <a:solidFill>
                  <a:srgbClr val="202026"/>
                </a:solidFill>
                <a:latin typeface="Arial"/>
                <a:cs typeface="Arial"/>
              </a:rPr>
              <a:t>1</a:t>
            </a:r>
            <a:endParaRPr sz="2950">
              <a:latin typeface="Arial"/>
              <a:cs typeface="Arial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1479710" y="1678004"/>
            <a:ext cx="6110605" cy="1755139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350" spc="-450"/>
              <a:t>Tasks</a:t>
            </a:r>
            <a:r>
              <a:rPr dirty="0" sz="11350" spc="-940"/>
              <a:t> </a:t>
            </a:r>
            <a:r>
              <a:rPr dirty="0" sz="11350" spc="-515"/>
              <a:t>1-</a:t>
            </a:r>
            <a:r>
              <a:rPr dirty="0" sz="11350" spc="-50"/>
              <a:t>2</a:t>
            </a:r>
            <a:endParaRPr sz="11350"/>
          </a:p>
        </p:txBody>
      </p:sp>
      <p:sp>
        <p:nvSpPr>
          <p:cNvPr id="13" name="object 13"/>
          <p:cNvSpPr txBox="1"/>
          <p:nvPr/>
        </p:nvSpPr>
        <p:spPr>
          <a:xfrm>
            <a:off x="1645323" y="6388198"/>
            <a:ext cx="7080250" cy="2054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3799"/>
              </a:lnSpc>
              <a:spcBef>
                <a:spcPts val="95"/>
              </a:spcBef>
            </a:pP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Converts</a:t>
            </a:r>
            <a:r>
              <a:rPr dirty="0" sz="195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95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strings</a:t>
            </a:r>
            <a:r>
              <a:rPr dirty="0" sz="195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95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datetime,</a:t>
            </a:r>
            <a:r>
              <a:rPr dirty="0" sz="195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extracts</a:t>
            </a:r>
            <a:r>
              <a:rPr dirty="0" sz="195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dirty="0" sz="195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spc="-10" b="1">
                <a:solidFill>
                  <a:srgbClr val="FFFFFF"/>
                </a:solidFill>
                <a:latin typeface="Arial"/>
                <a:cs typeface="Arial"/>
              </a:rPr>
              <a:t>calendar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attribute</a:t>
            </a:r>
            <a:r>
              <a:rPr dirty="0" sz="195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dirty="0" sz="195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pandas'</a:t>
            </a:r>
            <a:r>
              <a:rPr dirty="0" sz="195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.dt</a:t>
            </a:r>
            <a:r>
              <a:rPr dirty="0" sz="195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accessor,</a:t>
            </a:r>
            <a:r>
              <a:rPr dirty="0" sz="195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computes</a:t>
            </a:r>
            <a:r>
              <a:rPr dirty="0" sz="195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95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spc="-10" b="1">
                <a:solidFill>
                  <a:srgbClr val="FFFFFF"/>
                </a:solidFill>
                <a:latin typeface="Arial"/>
                <a:cs typeface="Arial"/>
              </a:rPr>
              <a:t>distance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9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9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nearest</a:t>
            </a:r>
            <a:r>
              <a:rPr dirty="0" sz="19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National</a:t>
            </a:r>
            <a:r>
              <a:rPr dirty="0" sz="195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holiday</a:t>
            </a:r>
            <a:r>
              <a:rPr dirty="0" sz="19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9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subtracting</a:t>
            </a:r>
            <a:r>
              <a:rPr dirty="0" sz="195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spc="-20" b="1">
                <a:solidFill>
                  <a:srgbClr val="FFFFFF"/>
                </a:solidFill>
                <a:latin typeface="Arial"/>
                <a:cs typeface="Arial"/>
              </a:rPr>
              <a:t>each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transaction</a:t>
            </a:r>
            <a:r>
              <a:rPr dirty="0" sz="195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9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19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every</a:t>
            </a:r>
            <a:r>
              <a:rPr dirty="0" sz="19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holiday</a:t>
            </a:r>
            <a:r>
              <a:rPr dirty="0" sz="19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9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9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picking</a:t>
            </a:r>
            <a:r>
              <a:rPr dirty="0" sz="19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spc="-25" b="1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minimum</a:t>
            </a:r>
            <a:r>
              <a:rPr dirty="0" sz="195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absolute</a:t>
            </a:r>
            <a:r>
              <a:rPr dirty="0" sz="19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difference.</a:t>
            </a:r>
            <a:r>
              <a:rPr dirty="0" sz="195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Saves</a:t>
            </a:r>
            <a:r>
              <a:rPr dirty="0" sz="19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95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result</a:t>
            </a:r>
            <a:r>
              <a:rPr dirty="0" sz="19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195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9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spc="-25" b="1">
                <a:solidFill>
                  <a:srgbClr val="FFFFFF"/>
                </a:solidFill>
                <a:latin typeface="Arial"/>
                <a:cs typeface="Arial"/>
              </a:rPr>
              <a:t>new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CSV</a:t>
            </a:r>
            <a:r>
              <a:rPr dirty="0" sz="195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9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95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b="1">
                <a:solidFill>
                  <a:srgbClr val="FFFFFF"/>
                </a:solidFill>
                <a:latin typeface="Arial"/>
                <a:cs typeface="Arial"/>
              </a:rPr>
              <a:t>additional</a:t>
            </a:r>
            <a:r>
              <a:rPr dirty="0" sz="195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50" spc="-10" b="1">
                <a:solidFill>
                  <a:srgbClr val="FFFFFF"/>
                </a:solidFill>
                <a:latin typeface="Arial"/>
                <a:cs typeface="Arial"/>
              </a:rPr>
              <a:t>columns.</a:t>
            </a:r>
            <a:endParaRPr sz="19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13762" y="2437978"/>
            <a:ext cx="5289550" cy="62471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54940" indent="275590">
              <a:lnSpc>
                <a:spcPct val="115999"/>
              </a:lnSpc>
              <a:spcBef>
                <a:spcPts val="90"/>
              </a:spcBef>
              <a:buAutoNum type="alphaUcParenR"/>
              <a:tabLst>
                <a:tab pos="288290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Counts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total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rows,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counts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NULLs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price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column,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calculates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percentage.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row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output,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three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numbers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simplest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possible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check.</a:t>
            </a:r>
            <a:endParaRPr sz="1600">
              <a:latin typeface="Arial"/>
              <a:cs typeface="Arial"/>
            </a:endParaRPr>
          </a:p>
          <a:p>
            <a:pPr marL="12700" marR="328295" indent="-10160">
              <a:lnSpc>
                <a:spcPct val="115999"/>
              </a:lnSpc>
              <a:buAutoNum type="alphaUcParenR"/>
              <a:tabLst>
                <a:tab pos="229870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COUNT(*)</a:t>
            </a:r>
            <a:r>
              <a:rPr dirty="0" sz="1600" spc="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1600" spc="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COUNT(column)</a:t>
            </a:r>
            <a:r>
              <a:rPr dirty="0" sz="1600" spc="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pattern</a:t>
            </a:r>
            <a:r>
              <a:rPr dirty="0" sz="1600" spc="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1600" spc="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all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three</a:t>
            </a:r>
            <a:r>
              <a:rPr dirty="0" sz="16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columns:</a:t>
            </a:r>
            <a:r>
              <a:rPr dirty="0" sz="16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date,</a:t>
            </a:r>
            <a:r>
              <a:rPr dirty="0" sz="16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store_nbr,</a:t>
            </a:r>
            <a:r>
              <a:rPr dirty="0" sz="16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transactions.</a:t>
            </a:r>
            <a:endParaRPr sz="1600">
              <a:latin typeface="Arial"/>
              <a:cs typeface="Arial"/>
            </a:endParaRPr>
          </a:p>
          <a:p>
            <a:pPr marL="288290" indent="-275590">
              <a:lnSpc>
                <a:spcPct val="100000"/>
              </a:lnSpc>
              <a:spcBef>
                <a:spcPts val="309"/>
              </a:spcBef>
              <a:buAutoNum type="alphaUcParenR"/>
              <a:tabLst>
                <a:tab pos="288290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Checks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six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columns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NULLs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query.</a:t>
            </a:r>
            <a:endParaRPr sz="1600">
              <a:latin typeface="Arial"/>
              <a:cs typeface="Arial"/>
            </a:endParaRPr>
          </a:p>
          <a:p>
            <a:pPr marL="12700" marR="27940" indent="275590">
              <a:lnSpc>
                <a:spcPct val="115999"/>
              </a:lnSpc>
              <a:buAutoNum type="alphaUcParenR"/>
              <a:tabLst>
                <a:tab pos="288290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Creates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complete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daily</a:t>
            </a:r>
            <a:r>
              <a:rPr dirty="0" sz="1600" spc="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calendar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generate_series,</a:t>
            </a:r>
            <a:r>
              <a:rPr dirty="0" sz="16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LEFT</a:t>
            </a:r>
            <a:r>
              <a:rPr dirty="0" sz="16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JOINs</a:t>
            </a:r>
            <a:r>
              <a:rPr dirty="0" sz="16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oil</a:t>
            </a:r>
            <a:r>
              <a:rPr dirty="0" sz="16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table</a:t>
            </a:r>
            <a:r>
              <a:rPr dirty="0" sz="16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onto</a:t>
            </a:r>
            <a:r>
              <a:rPr dirty="0" sz="16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it,</a:t>
            </a:r>
            <a:r>
              <a:rPr dirty="0" sz="16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counts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how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many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calendar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days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matching</a:t>
            </a:r>
            <a:r>
              <a:rPr dirty="0" sz="1600" spc="5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oil</a:t>
            </a:r>
            <a:r>
              <a:rPr dirty="0" sz="16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row</a:t>
            </a:r>
            <a:r>
              <a:rPr dirty="0" sz="16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6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grouped</a:t>
            </a:r>
            <a:r>
              <a:rPr dirty="0" sz="16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60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month.</a:t>
            </a:r>
            <a:endParaRPr sz="1600">
              <a:latin typeface="Arial"/>
              <a:cs typeface="Arial"/>
            </a:endParaRPr>
          </a:p>
          <a:p>
            <a:pPr marL="12700" marR="5080" indent="264160">
              <a:lnSpc>
                <a:spcPct val="115999"/>
              </a:lnSpc>
              <a:buAutoNum type="alphaUcParenR"/>
              <a:tabLst>
                <a:tab pos="276860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CROSS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JOINs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54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stores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1,688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calendar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days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create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expected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grid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91,152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rows.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LEFT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JOINs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actual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transactions.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Any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row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where</a:t>
            </a:r>
            <a:r>
              <a:rPr dirty="0" sz="16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transaction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NULL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missing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store-date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pair.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Groups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store,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orders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most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missing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first,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shows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top</a:t>
            </a:r>
            <a:r>
              <a:rPr dirty="0" sz="1600" spc="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20.</a:t>
            </a:r>
            <a:endParaRPr sz="1600">
              <a:latin typeface="Arial"/>
              <a:cs typeface="Arial"/>
            </a:endParaRPr>
          </a:p>
          <a:p>
            <a:pPr marL="12700" marR="96520" indent="252729">
              <a:lnSpc>
                <a:spcPct val="115999"/>
              </a:lnSpc>
              <a:buAutoNum type="alphaUcParenR"/>
              <a:tabLst>
                <a:tab pos="265430" algn="l"/>
              </a:tabLst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Groups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holiday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rows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date,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keeps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only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dates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where</a:t>
            </a:r>
            <a:r>
              <a:rPr dirty="0" sz="16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than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distinct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type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exists,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concatenates</a:t>
            </a:r>
            <a:r>
              <a:rPr dirty="0" sz="1600" spc="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types,</a:t>
            </a:r>
            <a:r>
              <a:rPr dirty="0" sz="1600" spc="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locales,</a:t>
            </a:r>
            <a:r>
              <a:rPr dirty="0" sz="1600" spc="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600" spc="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descriptions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readable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strings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so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see</a:t>
            </a:r>
            <a:r>
              <a:rPr dirty="0" sz="16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exactly</a:t>
            </a:r>
            <a:r>
              <a:rPr dirty="0" sz="16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what's conflicting.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53" y="-56"/>
            <a:ext cx="17803495" cy="10287635"/>
            <a:chOff x="-53" y="-56"/>
            <a:chExt cx="17803495" cy="102876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53" y="-56"/>
              <a:ext cx="17803061" cy="102870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054481" y="1206773"/>
              <a:ext cx="8071484" cy="8051800"/>
            </a:xfrm>
            <a:custGeom>
              <a:avLst/>
              <a:gdLst/>
              <a:ahLst/>
              <a:cxnLst/>
              <a:rect l="l" t="t" r="r" b="b"/>
              <a:pathLst>
                <a:path w="8071484" h="8051800">
                  <a:moveTo>
                    <a:pt x="7585697" y="8051525"/>
                  </a:moveTo>
                  <a:lnTo>
                    <a:pt x="485774" y="8051525"/>
                  </a:lnTo>
                  <a:lnTo>
                    <a:pt x="437762" y="8049148"/>
                  </a:lnTo>
                  <a:lnTo>
                    <a:pt x="390562" y="8042105"/>
                  </a:lnTo>
                  <a:lnTo>
                    <a:pt x="344494" y="8030528"/>
                  </a:lnTo>
                  <a:lnTo>
                    <a:pt x="299876" y="8014548"/>
                  </a:lnTo>
                  <a:lnTo>
                    <a:pt x="257028" y="7994298"/>
                  </a:lnTo>
                  <a:lnTo>
                    <a:pt x="216266" y="7969909"/>
                  </a:lnTo>
                  <a:lnTo>
                    <a:pt x="177911" y="7941514"/>
                  </a:lnTo>
                  <a:lnTo>
                    <a:pt x="142280" y="7909245"/>
                  </a:lnTo>
                  <a:lnTo>
                    <a:pt x="110010" y="7873614"/>
                  </a:lnTo>
                  <a:lnTo>
                    <a:pt x="81615" y="7835258"/>
                  </a:lnTo>
                  <a:lnTo>
                    <a:pt x="57227" y="7794497"/>
                  </a:lnTo>
                  <a:lnTo>
                    <a:pt x="36977" y="7751648"/>
                  </a:lnTo>
                  <a:lnTo>
                    <a:pt x="20997" y="7707031"/>
                  </a:lnTo>
                  <a:lnTo>
                    <a:pt x="9420" y="7660963"/>
                  </a:lnTo>
                  <a:lnTo>
                    <a:pt x="2377" y="7613763"/>
                  </a:lnTo>
                  <a:lnTo>
                    <a:pt x="0" y="7565750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7585697" y="0"/>
                  </a:lnTo>
                  <a:lnTo>
                    <a:pt x="7633710" y="2377"/>
                  </a:lnTo>
                  <a:lnTo>
                    <a:pt x="7680909" y="9420"/>
                  </a:lnTo>
                  <a:lnTo>
                    <a:pt x="7726977" y="20997"/>
                  </a:lnTo>
                  <a:lnTo>
                    <a:pt x="7771594" y="36977"/>
                  </a:lnTo>
                  <a:lnTo>
                    <a:pt x="7814443" y="57227"/>
                  </a:lnTo>
                  <a:lnTo>
                    <a:pt x="7855204" y="81615"/>
                  </a:lnTo>
                  <a:lnTo>
                    <a:pt x="7893560" y="110010"/>
                  </a:lnTo>
                  <a:lnTo>
                    <a:pt x="7929191" y="142280"/>
                  </a:lnTo>
                  <a:lnTo>
                    <a:pt x="7961460" y="177911"/>
                  </a:lnTo>
                  <a:lnTo>
                    <a:pt x="7989855" y="216266"/>
                  </a:lnTo>
                  <a:lnTo>
                    <a:pt x="8014244" y="257028"/>
                  </a:lnTo>
                  <a:lnTo>
                    <a:pt x="8034494" y="299876"/>
                  </a:lnTo>
                  <a:lnTo>
                    <a:pt x="8050474" y="344494"/>
                  </a:lnTo>
                  <a:lnTo>
                    <a:pt x="8062052" y="390562"/>
                  </a:lnTo>
                  <a:lnTo>
                    <a:pt x="8069095" y="437762"/>
                  </a:lnTo>
                  <a:lnTo>
                    <a:pt x="8071472" y="485775"/>
                  </a:lnTo>
                  <a:lnTo>
                    <a:pt x="8071472" y="7565750"/>
                  </a:lnTo>
                  <a:lnTo>
                    <a:pt x="8069095" y="7613763"/>
                  </a:lnTo>
                  <a:lnTo>
                    <a:pt x="8062052" y="7660963"/>
                  </a:lnTo>
                  <a:lnTo>
                    <a:pt x="8050474" y="7707031"/>
                  </a:lnTo>
                  <a:lnTo>
                    <a:pt x="8034494" y="7751648"/>
                  </a:lnTo>
                  <a:lnTo>
                    <a:pt x="8014244" y="7794497"/>
                  </a:lnTo>
                  <a:lnTo>
                    <a:pt x="7989855" y="7835258"/>
                  </a:lnTo>
                  <a:lnTo>
                    <a:pt x="7961460" y="7873614"/>
                  </a:lnTo>
                  <a:lnTo>
                    <a:pt x="7929191" y="7909245"/>
                  </a:lnTo>
                  <a:lnTo>
                    <a:pt x="7893560" y="7941514"/>
                  </a:lnTo>
                  <a:lnTo>
                    <a:pt x="7855204" y="7969909"/>
                  </a:lnTo>
                  <a:lnTo>
                    <a:pt x="7814443" y="7994298"/>
                  </a:lnTo>
                  <a:lnTo>
                    <a:pt x="7771594" y="8014548"/>
                  </a:lnTo>
                  <a:lnTo>
                    <a:pt x="7726977" y="8030528"/>
                  </a:lnTo>
                  <a:lnTo>
                    <a:pt x="7680909" y="8042105"/>
                  </a:lnTo>
                  <a:lnTo>
                    <a:pt x="7633710" y="8049148"/>
                  </a:lnTo>
                  <a:lnTo>
                    <a:pt x="7585697" y="8051525"/>
                  </a:lnTo>
                  <a:close/>
                </a:path>
              </a:pathLst>
            </a:custGeom>
            <a:solidFill>
              <a:srgbClr val="2020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54481" y="1206769"/>
              <a:ext cx="8067675" cy="8048625"/>
            </a:xfrm>
            <a:custGeom>
              <a:avLst/>
              <a:gdLst/>
              <a:ahLst/>
              <a:cxnLst/>
              <a:rect l="l" t="t" r="r" b="b"/>
              <a:pathLst>
                <a:path w="8067675" h="8048625">
                  <a:moveTo>
                    <a:pt x="8067606" y="7623277"/>
                  </a:moveTo>
                  <a:lnTo>
                    <a:pt x="8050488" y="7706995"/>
                  </a:lnTo>
                  <a:lnTo>
                    <a:pt x="8034508" y="7751622"/>
                  </a:lnTo>
                  <a:lnTo>
                    <a:pt x="8014255" y="7794481"/>
                  </a:lnTo>
                  <a:lnTo>
                    <a:pt x="7989863" y="7835251"/>
                  </a:lnTo>
                  <a:lnTo>
                    <a:pt x="7961462" y="7873615"/>
                  </a:lnTo>
                  <a:lnTo>
                    <a:pt x="7929186" y="7909252"/>
                  </a:lnTo>
                  <a:lnTo>
                    <a:pt x="7893546" y="7941527"/>
                  </a:lnTo>
                  <a:lnTo>
                    <a:pt x="7855182" y="7969926"/>
                  </a:lnTo>
                  <a:lnTo>
                    <a:pt x="7814411" y="7994316"/>
                  </a:lnTo>
                  <a:lnTo>
                    <a:pt x="7771552" y="8014566"/>
                  </a:lnTo>
                  <a:lnTo>
                    <a:pt x="7726925" y="8030544"/>
                  </a:lnTo>
                  <a:lnTo>
                    <a:pt x="7680848" y="8042117"/>
                  </a:lnTo>
                  <a:lnTo>
                    <a:pt x="7637210" y="8048543"/>
                  </a:lnTo>
                </a:path>
                <a:path w="8067675" h="8048625">
                  <a:moveTo>
                    <a:pt x="434259" y="8048559"/>
                  </a:moveTo>
                  <a:lnTo>
                    <a:pt x="390540" y="8042103"/>
                  </a:lnTo>
                  <a:lnTo>
                    <a:pt x="344467" y="8030521"/>
                  </a:lnTo>
                  <a:lnTo>
                    <a:pt x="299845" y="8014536"/>
                  </a:lnTo>
                  <a:lnTo>
                    <a:pt x="256993" y="7994280"/>
                  </a:lnTo>
                  <a:lnTo>
                    <a:pt x="216229" y="7969885"/>
                  </a:lnTo>
                  <a:lnTo>
                    <a:pt x="177873" y="7941484"/>
                  </a:lnTo>
                  <a:lnTo>
                    <a:pt x="142243" y="7909207"/>
                  </a:lnTo>
                  <a:lnTo>
                    <a:pt x="109975" y="7873569"/>
                  </a:lnTo>
                  <a:lnTo>
                    <a:pt x="81583" y="7835208"/>
                  </a:lnTo>
                  <a:lnTo>
                    <a:pt x="57199" y="7794441"/>
                  </a:lnTo>
                  <a:lnTo>
                    <a:pt x="36954" y="7751587"/>
                  </a:lnTo>
                  <a:lnTo>
                    <a:pt x="20980" y="7706966"/>
                  </a:lnTo>
                  <a:lnTo>
                    <a:pt x="9409" y="7660896"/>
                  </a:lnTo>
                  <a:lnTo>
                    <a:pt x="2373" y="7613696"/>
                  </a:lnTo>
                  <a:lnTo>
                    <a:pt x="0" y="7565683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3"/>
                  </a:lnTo>
                  <a:lnTo>
                    <a:pt x="20998" y="344496"/>
                  </a:lnTo>
                  <a:lnTo>
                    <a:pt x="36977" y="299879"/>
                  </a:lnTo>
                  <a:lnTo>
                    <a:pt x="57227" y="257031"/>
                  </a:lnTo>
                  <a:lnTo>
                    <a:pt x="81615" y="216270"/>
                  </a:lnTo>
                  <a:lnTo>
                    <a:pt x="110010" y="177915"/>
                  </a:lnTo>
                  <a:lnTo>
                    <a:pt x="142279" y="142284"/>
                  </a:lnTo>
                  <a:lnTo>
                    <a:pt x="177910" y="110015"/>
                  </a:lnTo>
                  <a:lnTo>
                    <a:pt x="216264" y="81620"/>
                  </a:lnTo>
                  <a:lnTo>
                    <a:pt x="257025" y="57232"/>
                  </a:lnTo>
                  <a:lnTo>
                    <a:pt x="299874" y="36982"/>
                  </a:lnTo>
                  <a:lnTo>
                    <a:pt x="344491" y="21002"/>
                  </a:lnTo>
                  <a:lnTo>
                    <a:pt x="390558" y="9424"/>
                  </a:lnTo>
                  <a:lnTo>
                    <a:pt x="437757" y="2380"/>
                  </a:lnTo>
                  <a:lnTo>
                    <a:pt x="485770" y="3"/>
                  </a:lnTo>
                  <a:lnTo>
                    <a:pt x="7585625" y="0"/>
                  </a:lnTo>
                  <a:lnTo>
                    <a:pt x="7633638" y="2370"/>
                  </a:lnTo>
                  <a:lnTo>
                    <a:pt x="7680840" y="9406"/>
                  </a:lnTo>
                  <a:lnTo>
                    <a:pt x="7726912" y="20978"/>
                  </a:lnTo>
                  <a:lnTo>
                    <a:pt x="7771534" y="36952"/>
                  </a:lnTo>
                  <a:lnTo>
                    <a:pt x="7814388" y="57198"/>
                  </a:lnTo>
                  <a:lnTo>
                    <a:pt x="7855156" y="81584"/>
                  </a:lnTo>
                  <a:lnTo>
                    <a:pt x="7893518" y="109977"/>
                  </a:lnTo>
                  <a:lnTo>
                    <a:pt x="7929157" y="142246"/>
                  </a:lnTo>
                  <a:lnTo>
                    <a:pt x="7961433" y="177878"/>
                  </a:lnTo>
                  <a:lnTo>
                    <a:pt x="7989835" y="216236"/>
                  </a:lnTo>
                  <a:lnTo>
                    <a:pt x="8014229" y="257001"/>
                  </a:lnTo>
                  <a:lnTo>
                    <a:pt x="8034485" y="299854"/>
                  </a:lnTo>
                  <a:lnTo>
                    <a:pt x="8050469" y="344477"/>
                  </a:lnTo>
                  <a:lnTo>
                    <a:pt x="8062049" y="390552"/>
                  </a:lnTo>
                  <a:lnTo>
                    <a:pt x="8067614" y="428253"/>
                  </a:lnTo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79490" y="1206773"/>
              <a:ext cx="6293643" cy="292408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59018" y="1348997"/>
              <a:ext cx="1069975" cy="1017905"/>
            </a:xfrm>
            <a:custGeom>
              <a:avLst/>
              <a:gdLst/>
              <a:ahLst/>
              <a:cxnLst/>
              <a:rect l="l" t="t" r="r" b="b"/>
              <a:pathLst>
                <a:path w="1069975" h="1017905">
                  <a:moveTo>
                    <a:pt x="623684" y="1017717"/>
                  </a:moveTo>
                  <a:lnTo>
                    <a:pt x="447675" y="1017717"/>
                  </a:lnTo>
                  <a:lnTo>
                    <a:pt x="398895" y="1015090"/>
                  </a:lnTo>
                  <a:lnTo>
                    <a:pt x="351638" y="1007392"/>
                  </a:lnTo>
                  <a:lnTo>
                    <a:pt x="306175" y="994894"/>
                  </a:lnTo>
                  <a:lnTo>
                    <a:pt x="262779" y="977871"/>
                  </a:lnTo>
                  <a:lnTo>
                    <a:pt x="221724" y="956596"/>
                  </a:lnTo>
                  <a:lnTo>
                    <a:pt x="183284" y="931342"/>
                  </a:lnTo>
                  <a:lnTo>
                    <a:pt x="147730" y="902381"/>
                  </a:lnTo>
                  <a:lnTo>
                    <a:pt x="115336" y="869987"/>
                  </a:lnTo>
                  <a:lnTo>
                    <a:pt x="86375" y="834433"/>
                  </a:lnTo>
                  <a:lnTo>
                    <a:pt x="61120" y="795992"/>
                  </a:lnTo>
                  <a:lnTo>
                    <a:pt x="39845" y="754937"/>
                  </a:lnTo>
                  <a:lnTo>
                    <a:pt x="22822" y="711542"/>
                  </a:lnTo>
                  <a:lnTo>
                    <a:pt x="10325" y="666079"/>
                  </a:lnTo>
                  <a:lnTo>
                    <a:pt x="2626" y="618821"/>
                  </a:lnTo>
                  <a:lnTo>
                    <a:pt x="0" y="570042"/>
                  </a:lnTo>
                  <a:lnTo>
                    <a:pt x="0" y="447674"/>
                  </a:lnTo>
                  <a:lnTo>
                    <a:pt x="2626" y="398895"/>
                  </a:lnTo>
                  <a:lnTo>
                    <a:pt x="10325" y="351638"/>
                  </a:lnTo>
                  <a:lnTo>
                    <a:pt x="22822" y="306175"/>
                  </a:lnTo>
                  <a:lnTo>
                    <a:pt x="39845" y="262779"/>
                  </a:lnTo>
                  <a:lnTo>
                    <a:pt x="61120" y="221724"/>
                  </a:lnTo>
                  <a:lnTo>
                    <a:pt x="86375" y="183283"/>
                  </a:lnTo>
                  <a:lnTo>
                    <a:pt x="115336" y="147730"/>
                  </a:lnTo>
                  <a:lnTo>
                    <a:pt x="147730" y="115336"/>
                  </a:lnTo>
                  <a:lnTo>
                    <a:pt x="183284" y="86375"/>
                  </a:lnTo>
                  <a:lnTo>
                    <a:pt x="221724" y="61120"/>
                  </a:lnTo>
                  <a:lnTo>
                    <a:pt x="262779" y="39845"/>
                  </a:lnTo>
                  <a:lnTo>
                    <a:pt x="306175" y="22822"/>
                  </a:lnTo>
                  <a:lnTo>
                    <a:pt x="351638" y="10325"/>
                  </a:lnTo>
                  <a:lnTo>
                    <a:pt x="398895" y="2626"/>
                  </a:lnTo>
                  <a:lnTo>
                    <a:pt x="447675" y="0"/>
                  </a:lnTo>
                  <a:lnTo>
                    <a:pt x="623684" y="0"/>
                  </a:lnTo>
                  <a:lnTo>
                    <a:pt x="672464" y="2626"/>
                  </a:lnTo>
                  <a:lnTo>
                    <a:pt x="719721" y="10325"/>
                  </a:lnTo>
                  <a:lnTo>
                    <a:pt x="765184" y="22822"/>
                  </a:lnTo>
                  <a:lnTo>
                    <a:pt x="808580" y="39845"/>
                  </a:lnTo>
                  <a:lnTo>
                    <a:pt x="849634" y="61120"/>
                  </a:lnTo>
                  <a:lnTo>
                    <a:pt x="888075" y="86375"/>
                  </a:lnTo>
                  <a:lnTo>
                    <a:pt x="923629" y="115336"/>
                  </a:lnTo>
                  <a:lnTo>
                    <a:pt x="956023" y="147730"/>
                  </a:lnTo>
                  <a:lnTo>
                    <a:pt x="984984" y="183283"/>
                  </a:lnTo>
                  <a:lnTo>
                    <a:pt x="1010238" y="221724"/>
                  </a:lnTo>
                  <a:lnTo>
                    <a:pt x="1031514" y="262779"/>
                  </a:lnTo>
                  <a:lnTo>
                    <a:pt x="1048536" y="306175"/>
                  </a:lnTo>
                  <a:lnTo>
                    <a:pt x="1061034" y="351638"/>
                  </a:lnTo>
                  <a:lnTo>
                    <a:pt x="1068732" y="398895"/>
                  </a:lnTo>
                  <a:lnTo>
                    <a:pt x="1069398" y="411255"/>
                  </a:lnTo>
                  <a:lnTo>
                    <a:pt x="1069398" y="606461"/>
                  </a:lnTo>
                  <a:lnTo>
                    <a:pt x="1061034" y="666079"/>
                  </a:lnTo>
                  <a:lnTo>
                    <a:pt x="1048536" y="711542"/>
                  </a:lnTo>
                  <a:lnTo>
                    <a:pt x="1031514" y="754937"/>
                  </a:lnTo>
                  <a:lnTo>
                    <a:pt x="1010238" y="795992"/>
                  </a:lnTo>
                  <a:lnTo>
                    <a:pt x="984984" y="834433"/>
                  </a:lnTo>
                  <a:lnTo>
                    <a:pt x="956023" y="869987"/>
                  </a:lnTo>
                  <a:lnTo>
                    <a:pt x="923629" y="902381"/>
                  </a:lnTo>
                  <a:lnTo>
                    <a:pt x="888075" y="931342"/>
                  </a:lnTo>
                  <a:lnTo>
                    <a:pt x="849634" y="956596"/>
                  </a:lnTo>
                  <a:lnTo>
                    <a:pt x="808580" y="977871"/>
                  </a:lnTo>
                  <a:lnTo>
                    <a:pt x="765184" y="994894"/>
                  </a:lnTo>
                  <a:lnTo>
                    <a:pt x="719721" y="1007392"/>
                  </a:lnTo>
                  <a:lnTo>
                    <a:pt x="672464" y="1015090"/>
                  </a:lnTo>
                  <a:lnTo>
                    <a:pt x="623684" y="10177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459018" y="1348997"/>
              <a:ext cx="1066800" cy="1017905"/>
            </a:xfrm>
            <a:custGeom>
              <a:avLst/>
              <a:gdLst/>
              <a:ahLst/>
              <a:cxnLst/>
              <a:rect l="l" t="t" r="r" b="b"/>
              <a:pathLst>
                <a:path w="1066800" h="1017905">
                  <a:moveTo>
                    <a:pt x="1066727" y="630673"/>
                  </a:moveTo>
                  <a:lnTo>
                    <a:pt x="1048535" y="711544"/>
                  </a:lnTo>
                  <a:lnTo>
                    <a:pt x="1031509" y="754945"/>
                  </a:lnTo>
                  <a:lnTo>
                    <a:pt x="1010230" y="796005"/>
                  </a:lnTo>
                  <a:lnTo>
                    <a:pt x="984971" y="834449"/>
                  </a:lnTo>
                  <a:lnTo>
                    <a:pt x="956004" y="870006"/>
                  </a:lnTo>
                  <a:lnTo>
                    <a:pt x="923604" y="902401"/>
                  </a:lnTo>
                  <a:lnTo>
                    <a:pt x="888044" y="931362"/>
                  </a:lnTo>
                  <a:lnTo>
                    <a:pt x="849597" y="956615"/>
                  </a:lnTo>
                  <a:lnTo>
                    <a:pt x="808537" y="977888"/>
                  </a:lnTo>
                  <a:lnTo>
                    <a:pt x="765136" y="994907"/>
                  </a:lnTo>
                  <a:lnTo>
                    <a:pt x="719668" y="1007400"/>
                  </a:lnTo>
                  <a:lnTo>
                    <a:pt x="672407" y="1015093"/>
                  </a:lnTo>
                  <a:lnTo>
                    <a:pt x="623629" y="1017717"/>
                  </a:lnTo>
                  <a:lnTo>
                    <a:pt x="447632" y="1017715"/>
                  </a:lnTo>
                  <a:lnTo>
                    <a:pt x="398851" y="1015083"/>
                  </a:lnTo>
                  <a:lnTo>
                    <a:pt x="351593" y="1007379"/>
                  </a:lnTo>
                  <a:lnTo>
                    <a:pt x="306131" y="994877"/>
                  </a:lnTo>
                  <a:lnTo>
                    <a:pt x="262737" y="977850"/>
                  </a:lnTo>
                  <a:lnTo>
                    <a:pt x="221685" y="956570"/>
                  </a:lnTo>
                  <a:lnTo>
                    <a:pt x="183248" y="931313"/>
                  </a:lnTo>
                  <a:lnTo>
                    <a:pt x="147698" y="902349"/>
                  </a:lnTo>
                  <a:lnTo>
                    <a:pt x="115308" y="869953"/>
                  </a:lnTo>
                  <a:lnTo>
                    <a:pt x="86352" y="834398"/>
                  </a:lnTo>
                  <a:lnTo>
                    <a:pt x="61102" y="795958"/>
                  </a:lnTo>
                  <a:lnTo>
                    <a:pt x="39832" y="754904"/>
                  </a:lnTo>
                  <a:lnTo>
                    <a:pt x="22814" y="711510"/>
                  </a:lnTo>
                  <a:lnTo>
                    <a:pt x="10320" y="666050"/>
                  </a:lnTo>
                  <a:lnTo>
                    <a:pt x="2625" y="618796"/>
                  </a:lnTo>
                  <a:lnTo>
                    <a:pt x="0" y="570021"/>
                  </a:lnTo>
                  <a:lnTo>
                    <a:pt x="0" y="447664"/>
                  </a:lnTo>
                  <a:lnTo>
                    <a:pt x="2627" y="398890"/>
                  </a:lnTo>
                  <a:lnTo>
                    <a:pt x="10325" y="351637"/>
                  </a:lnTo>
                  <a:lnTo>
                    <a:pt x="22821" y="306177"/>
                  </a:lnTo>
                  <a:lnTo>
                    <a:pt x="39842" y="262786"/>
                  </a:lnTo>
                  <a:lnTo>
                    <a:pt x="61114" y="221734"/>
                  </a:lnTo>
                  <a:lnTo>
                    <a:pt x="86365" y="183295"/>
                  </a:lnTo>
                  <a:lnTo>
                    <a:pt x="115322" y="147743"/>
                  </a:lnTo>
                  <a:lnTo>
                    <a:pt x="147712" y="115350"/>
                  </a:lnTo>
                  <a:lnTo>
                    <a:pt x="183262" y="86389"/>
                  </a:lnTo>
                  <a:lnTo>
                    <a:pt x="221699" y="61133"/>
                  </a:lnTo>
                  <a:lnTo>
                    <a:pt x="262750" y="39856"/>
                  </a:lnTo>
                  <a:lnTo>
                    <a:pt x="306142" y="22831"/>
                  </a:lnTo>
                  <a:lnTo>
                    <a:pt x="351603" y="10331"/>
                  </a:lnTo>
                  <a:lnTo>
                    <a:pt x="398858" y="2628"/>
                  </a:lnTo>
                  <a:lnTo>
                    <a:pt x="447635" y="0"/>
                  </a:lnTo>
                  <a:lnTo>
                    <a:pt x="623629" y="0"/>
                  </a:lnTo>
                  <a:lnTo>
                    <a:pt x="672410" y="2618"/>
                  </a:lnTo>
                  <a:lnTo>
                    <a:pt x="719669" y="10311"/>
                  </a:lnTo>
                  <a:lnTo>
                    <a:pt x="765135" y="22803"/>
                  </a:lnTo>
                  <a:lnTo>
                    <a:pt x="808534" y="39821"/>
                  </a:lnTo>
                  <a:lnTo>
                    <a:pt x="849593" y="61093"/>
                  </a:lnTo>
                  <a:lnTo>
                    <a:pt x="888039" y="86345"/>
                  </a:lnTo>
                  <a:lnTo>
                    <a:pt x="923598" y="115304"/>
                  </a:lnTo>
                  <a:lnTo>
                    <a:pt x="955997" y="147698"/>
                  </a:lnTo>
                  <a:lnTo>
                    <a:pt x="984964" y="183253"/>
                  </a:lnTo>
                  <a:lnTo>
                    <a:pt x="1010223" y="221696"/>
                  </a:lnTo>
                  <a:lnTo>
                    <a:pt x="1031503" y="262754"/>
                  </a:lnTo>
                  <a:lnTo>
                    <a:pt x="1048530" y="306153"/>
                  </a:lnTo>
                  <a:lnTo>
                    <a:pt x="1061031" y="351621"/>
                  </a:lnTo>
                  <a:lnTo>
                    <a:pt x="1066708" y="387047"/>
                  </a:lnTo>
                </a:path>
              </a:pathLst>
            </a:custGeom>
            <a:ln w="76199">
              <a:solidFill>
                <a:srgbClr val="13151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883873" y="1555277"/>
            <a:ext cx="221615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50">
                <a:solidFill>
                  <a:srgbClr val="202026"/>
                </a:solidFill>
                <a:latin typeface="Arial"/>
                <a:cs typeface="Arial"/>
              </a:rPr>
              <a:t>3</a:t>
            </a:r>
            <a:endParaRPr sz="27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11809" y="2449795"/>
            <a:ext cx="5514975" cy="173990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r>
              <a:rPr dirty="0" sz="1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takes</a:t>
            </a:r>
            <a:r>
              <a:rPr dirty="0" sz="1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source</a:t>
            </a:r>
            <a:r>
              <a:rPr dirty="0" sz="1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file</a:t>
            </a:r>
            <a:endParaRPr sz="1700">
              <a:latin typeface="Arial"/>
              <a:cs typeface="Arial"/>
            </a:endParaRPr>
          </a:p>
          <a:p>
            <a:pPr marL="253365" indent="-240665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253365" algn="l"/>
              </a:tabLst>
            </a:pP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Convert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dates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 format</a:t>
            </a:r>
            <a:endParaRPr sz="1700">
              <a:latin typeface="Arial"/>
              <a:cs typeface="Arial"/>
            </a:endParaRPr>
          </a:p>
          <a:p>
            <a:pPr marL="253365" indent="-240665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253365" algn="l"/>
              </a:tabLst>
            </a:pP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Sort,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add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missing</a:t>
            </a:r>
            <a:r>
              <a:rPr dirty="0" sz="1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days</a:t>
            </a:r>
            <a:endParaRPr sz="1700">
              <a:latin typeface="Arial"/>
              <a:cs typeface="Arial"/>
            </a:endParaRPr>
          </a:p>
          <a:p>
            <a:pPr marL="12700" marR="5080" indent="240665">
              <a:lnSpc>
                <a:spcPct val="132400"/>
              </a:lnSpc>
              <a:buAutoNum type="arabicPeriod"/>
              <a:tabLst>
                <a:tab pos="253365" algn="l"/>
              </a:tabLst>
            </a:pP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Add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linear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interpolation</a:t>
            </a:r>
            <a:r>
              <a:rPr dirty="0" sz="1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missing</a:t>
            </a:r>
            <a:r>
              <a:rPr dirty="0" sz="1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days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fill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5" b="1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leading</a:t>
            </a:r>
            <a:r>
              <a:rPr dirty="0" sz="17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7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trailing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 blank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11809" y="5878795"/>
            <a:ext cx="4692650" cy="242570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takes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file</a:t>
            </a:r>
            <a:endParaRPr sz="1700">
              <a:latin typeface="Arial"/>
              <a:cs typeface="Arial"/>
            </a:endParaRPr>
          </a:p>
          <a:p>
            <a:pPr marL="253365" indent="-240665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253365" algn="l"/>
              </a:tabLst>
            </a:pP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Change</a:t>
            </a:r>
            <a:r>
              <a:rPr dirty="0" sz="1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true/false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format</a:t>
            </a:r>
            <a:r>
              <a:rPr dirty="0" sz="1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 numeric</a:t>
            </a:r>
            <a:endParaRPr sz="1700">
              <a:latin typeface="Arial"/>
              <a:cs typeface="Arial"/>
            </a:endParaRPr>
          </a:p>
          <a:p>
            <a:pPr marL="12700" marR="5080" indent="240665">
              <a:lnSpc>
                <a:spcPct val="132400"/>
              </a:lnSpc>
              <a:buAutoNum type="arabicPeriod"/>
              <a:tabLst>
                <a:tab pos="253365" algn="l"/>
              </a:tabLst>
            </a:pP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Creates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table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without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 postponed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holidays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sorts</a:t>
            </a:r>
            <a:r>
              <a:rPr dirty="0" sz="1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endParaRPr sz="1700">
              <a:latin typeface="Arial"/>
              <a:cs typeface="Arial"/>
            </a:endParaRPr>
          </a:p>
          <a:p>
            <a:pPr marL="12700" marR="113030" indent="240665">
              <a:lnSpc>
                <a:spcPct val="132400"/>
              </a:lnSpc>
              <a:buAutoNum type="arabicPeriod"/>
              <a:tabLst>
                <a:tab pos="253365" algn="l"/>
              </a:tabLst>
            </a:pP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Calculates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difference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days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between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holidays,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fills</a:t>
            </a:r>
            <a:r>
              <a:rPr dirty="0" sz="1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columns</a:t>
            </a:r>
            <a:endParaRPr sz="1700">
              <a:latin typeface="Arial"/>
              <a:cs typeface="Arial"/>
            </a:endParaRPr>
          </a:p>
          <a:p>
            <a:pPr marL="253365" indent="-240665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253365" algn="l"/>
              </a:tabLst>
            </a:pP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Merge</a:t>
            </a:r>
            <a:r>
              <a:rPr dirty="0" sz="17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source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table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20918" y="4532765"/>
            <a:ext cx="1143000" cy="1094105"/>
            <a:chOff x="5420918" y="4532765"/>
            <a:chExt cx="1143000" cy="1094105"/>
          </a:xfrm>
        </p:grpSpPr>
        <p:sp>
          <p:nvSpPr>
            <p:cNvPr id="13" name="object 13"/>
            <p:cNvSpPr/>
            <p:nvPr/>
          </p:nvSpPr>
          <p:spPr>
            <a:xfrm>
              <a:off x="5459018" y="4570865"/>
              <a:ext cx="1069975" cy="1017905"/>
            </a:xfrm>
            <a:custGeom>
              <a:avLst/>
              <a:gdLst/>
              <a:ahLst/>
              <a:cxnLst/>
              <a:rect l="l" t="t" r="r" b="b"/>
              <a:pathLst>
                <a:path w="1069975" h="1017904">
                  <a:moveTo>
                    <a:pt x="623684" y="1017717"/>
                  </a:moveTo>
                  <a:lnTo>
                    <a:pt x="447675" y="1017717"/>
                  </a:lnTo>
                  <a:lnTo>
                    <a:pt x="398895" y="1015090"/>
                  </a:lnTo>
                  <a:lnTo>
                    <a:pt x="351638" y="1007392"/>
                  </a:lnTo>
                  <a:lnTo>
                    <a:pt x="306175" y="994895"/>
                  </a:lnTo>
                  <a:lnTo>
                    <a:pt x="262779" y="977872"/>
                  </a:lnTo>
                  <a:lnTo>
                    <a:pt x="221724" y="956596"/>
                  </a:lnTo>
                  <a:lnTo>
                    <a:pt x="183284" y="931342"/>
                  </a:lnTo>
                  <a:lnTo>
                    <a:pt x="147730" y="902381"/>
                  </a:lnTo>
                  <a:lnTo>
                    <a:pt x="115336" y="869987"/>
                  </a:lnTo>
                  <a:lnTo>
                    <a:pt x="86375" y="834433"/>
                  </a:lnTo>
                  <a:lnTo>
                    <a:pt x="61120" y="795992"/>
                  </a:lnTo>
                  <a:lnTo>
                    <a:pt x="39845" y="754938"/>
                  </a:lnTo>
                  <a:lnTo>
                    <a:pt x="22822" y="711542"/>
                  </a:lnTo>
                  <a:lnTo>
                    <a:pt x="10325" y="666079"/>
                  </a:lnTo>
                  <a:lnTo>
                    <a:pt x="2626" y="618821"/>
                  </a:lnTo>
                  <a:lnTo>
                    <a:pt x="0" y="570042"/>
                  </a:lnTo>
                  <a:lnTo>
                    <a:pt x="0" y="447675"/>
                  </a:lnTo>
                  <a:lnTo>
                    <a:pt x="2626" y="398895"/>
                  </a:lnTo>
                  <a:lnTo>
                    <a:pt x="10325" y="351638"/>
                  </a:lnTo>
                  <a:lnTo>
                    <a:pt x="22822" y="306175"/>
                  </a:lnTo>
                  <a:lnTo>
                    <a:pt x="39845" y="262779"/>
                  </a:lnTo>
                  <a:lnTo>
                    <a:pt x="61120" y="221724"/>
                  </a:lnTo>
                  <a:lnTo>
                    <a:pt x="86375" y="183284"/>
                  </a:lnTo>
                  <a:lnTo>
                    <a:pt x="115336" y="147730"/>
                  </a:lnTo>
                  <a:lnTo>
                    <a:pt x="147730" y="115336"/>
                  </a:lnTo>
                  <a:lnTo>
                    <a:pt x="183284" y="86375"/>
                  </a:lnTo>
                  <a:lnTo>
                    <a:pt x="221724" y="61120"/>
                  </a:lnTo>
                  <a:lnTo>
                    <a:pt x="262779" y="39845"/>
                  </a:lnTo>
                  <a:lnTo>
                    <a:pt x="306175" y="22822"/>
                  </a:lnTo>
                  <a:lnTo>
                    <a:pt x="351638" y="10325"/>
                  </a:lnTo>
                  <a:lnTo>
                    <a:pt x="398895" y="2626"/>
                  </a:lnTo>
                  <a:lnTo>
                    <a:pt x="447675" y="0"/>
                  </a:lnTo>
                  <a:lnTo>
                    <a:pt x="623684" y="0"/>
                  </a:lnTo>
                  <a:lnTo>
                    <a:pt x="672464" y="2626"/>
                  </a:lnTo>
                  <a:lnTo>
                    <a:pt x="719721" y="10325"/>
                  </a:lnTo>
                  <a:lnTo>
                    <a:pt x="765184" y="22822"/>
                  </a:lnTo>
                  <a:lnTo>
                    <a:pt x="808580" y="39845"/>
                  </a:lnTo>
                  <a:lnTo>
                    <a:pt x="849634" y="61120"/>
                  </a:lnTo>
                  <a:lnTo>
                    <a:pt x="888075" y="86375"/>
                  </a:lnTo>
                  <a:lnTo>
                    <a:pt x="923629" y="115336"/>
                  </a:lnTo>
                  <a:lnTo>
                    <a:pt x="956023" y="147730"/>
                  </a:lnTo>
                  <a:lnTo>
                    <a:pt x="984984" y="183284"/>
                  </a:lnTo>
                  <a:lnTo>
                    <a:pt x="1010238" y="221724"/>
                  </a:lnTo>
                  <a:lnTo>
                    <a:pt x="1031514" y="262779"/>
                  </a:lnTo>
                  <a:lnTo>
                    <a:pt x="1048536" y="306175"/>
                  </a:lnTo>
                  <a:lnTo>
                    <a:pt x="1061034" y="351638"/>
                  </a:lnTo>
                  <a:lnTo>
                    <a:pt x="1068732" y="398895"/>
                  </a:lnTo>
                  <a:lnTo>
                    <a:pt x="1069398" y="411255"/>
                  </a:lnTo>
                  <a:lnTo>
                    <a:pt x="1069398" y="606462"/>
                  </a:lnTo>
                  <a:lnTo>
                    <a:pt x="1061034" y="666079"/>
                  </a:lnTo>
                  <a:lnTo>
                    <a:pt x="1048536" y="711542"/>
                  </a:lnTo>
                  <a:lnTo>
                    <a:pt x="1031514" y="754938"/>
                  </a:lnTo>
                  <a:lnTo>
                    <a:pt x="1010238" y="795992"/>
                  </a:lnTo>
                  <a:lnTo>
                    <a:pt x="984984" y="834433"/>
                  </a:lnTo>
                  <a:lnTo>
                    <a:pt x="956023" y="869987"/>
                  </a:lnTo>
                  <a:lnTo>
                    <a:pt x="923629" y="902381"/>
                  </a:lnTo>
                  <a:lnTo>
                    <a:pt x="888075" y="931342"/>
                  </a:lnTo>
                  <a:lnTo>
                    <a:pt x="849634" y="956596"/>
                  </a:lnTo>
                  <a:lnTo>
                    <a:pt x="808580" y="977872"/>
                  </a:lnTo>
                  <a:lnTo>
                    <a:pt x="765184" y="994895"/>
                  </a:lnTo>
                  <a:lnTo>
                    <a:pt x="719721" y="1007392"/>
                  </a:lnTo>
                  <a:lnTo>
                    <a:pt x="672464" y="1015090"/>
                  </a:lnTo>
                  <a:lnTo>
                    <a:pt x="623684" y="10177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459018" y="4570865"/>
              <a:ext cx="1066800" cy="1017905"/>
            </a:xfrm>
            <a:custGeom>
              <a:avLst/>
              <a:gdLst/>
              <a:ahLst/>
              <a:cxnLst/>
              <a:rect l="l" t="t" r="r" b="b"/>
              <a:pathLst>
                <a:path w="1066800" h="1017904">
                  <a:moveTo>
                    <a:pt x="1066727" y="630673"/>
                  </a:moveTo>
                  <a:lnTo>
                    <a:pt x="1048535" y="711544"/>
                  </a:lnTo>
                  <a:lnTo>
                    <a:pt x="1031509" y="754945"/>
                  </a:lnTo>
                  <a:lnTo>
                    <a:pt x="1010230" y="796005"/>
                  </a:lnTo>
                  <a:lnTo>
                    <a:pt x="984971" y="834449"/>
                  </a:lnTo>
                  <a:lnTo>
                    <a:pt x="956004" y="870006"/>
                  </a:lnTo>
                  <a:lnTo>
                    <a:pt x="923605" y="902401"/>
                  </a:lnTo>
                  <a:lnTo>
                    <a:pt x="888044" y="931362"/>
                  </a:lnTo>
                  <a:lnTo>
                    <a:pt x="849597" y="956615"/>
                  </a:lnTo>
                  <a:lnTo>
                    <a:pt x="808537" y="977888"/>
                  </a:lnTo>
                  <a:lnTo>
                    <a:pt x="765136" y="994908"/>
                  </a:lnTo>
                  <a:lnTo>
                    <a:pt x="719668" y="1007400"/>
                  </a:lnTo>
                  <a:lnTo>
                    <a:pt x="672407" y="1015093"/>
                  </a:lnTo>
                  <a:lnTo>
                    <a:pt x="623629" y="1017717"/>
                  </a:lnTo>
                  <a:lnTo>
                    <a:pt x="447632" y="1017715"/>
                  </a:lnTo>
                  <a:lnTo>
                    <a:pt x="398851" y="1015083"/>
                  </a:lnTo>
                  <a:lnTo>
                    <a:pt x="351593" y="1007379"/>
                  </a:lnTo>
                  <a:lnTo>
                    <a:pt x="306131" y="994877"/>
                  </a:lnTo>
                  <a:lnTo>
                    <a:pt x="262737" y="977850"/>
                  </a:lnTo>
                  <a:lnTo>
                    <a:pt x="221685" y="956571"/>
                  </a:lnTo>
                  <a:lnTo>
                    <a:pt x="183248" y="931313"/>
                  </a:lnTo>
                  <a:lnTo>
                    <a:pt x="147698" y="902349"/>
                  </a:lnTo>
                  <a:lnTo>
                    <a:pt x="115308" y="869953"/>
                  </a:lnTo>
                  <a:lnTo>
                    <a:pt x="86352" y="834398"/>
                  </a:lnTo>
                  <a:lnTo>
                    <a:pt x="61102" y="795958"/>
                  </a:lnTo>
                  <a:lnTo>
                    <a:pt x="39832" y="754904"/>
                  </a:lnTo>
                  <a:lnTo>
                    <a:pt x="22814" y="711510"/>
                  </a:lnTo>
                  <a:lnTo>
                    <a:pt x="10320" y="666050"/>
                  </a:lnTo>
                  <a:lnTo>
                    <a:pt x="2625" y="618796"/>
                  </a:lnTo>
                  <a:lnTo>
                    <a:pt x="0" y="570021"/>
                  </a:lnTo>
                  <a:lnTo>
                    <a:pt x="0" y="447664"/>
                  </a:lnTo>
                  <a:lnTo>
                    <a:pt x="2627" y="398890"/>
                  </a:lnTo>
                  <a:lnTo>
                    <a:pt x="10325" y="351636"/>
                  </a:lnTo>
                  <a:lnTo>
                    <a:pt x="22821" y="306177"/>
                  </a:lnTo>
                  <a:lnTo>
                    <a:pt x="39842" y="262786"/>
                  </a:lnTo>
                  <a:lnTo>
                    <a:pt x="61114" y="221734"/>
                  </a:lnTo>
                  <a:lnTo>
                    <a:pt x="86365" y="183295"/>
                  </a:lnTo>
                  <a:lnTo>
                    <a:pt x="115322" y="147743"/>
                  </a:lnTo>
                  <a:lnTo>
                    <a:pt x="147712" y="115350"/>
                  </a:lnTo>
                  <a:lnTo>
                    <a:pt x="183262" y="86389"/>
                  </a:lnTo>
                  <a:lnTo>
                    <a:pt x="221699" y="61133"/>
                  </a:lnTo>
                  <a:lnTo>
                    <a:pt x="262750" y="39856"/>
                  </a:lnTo>
                  <a:lnTo>
                    <a:pt x="306142" y="22831"/>
                  </a:lnTo>
                  <a:lnTo>
                    <a:pt x="351603" y="10331"/>
                  </a:lnTo>
                  <a:lnTo>
                    <a:pt x="398858" y="2628"/>
                  </a:lnTo>
                  <a:lnTo>
                    <a:pt x="447635" y="0"/>
                  </a:lnTo>
                  <a:lnTo>
                    <a:pt x="623629" y="0"/>
                  </a:lnTo>
                  <a:lnTo>
                    <a:pt x="672410" y="2618"/>
                  </a:lnTo>
                  <a:lnTo>
                    <a:pt x="719669" y="10311"/>
                  </a:lnTo>
                  <a:lnTo>
                    <a:pt x="765135" y="22803"/>
                  </a:lnTo>
                  <a:lnTo>
                    <a:pt x="808534" y="39821"/>
                  </a:lnTo>
                  <a:lnTo>
                    <a:pt x="849593" y="61093"/>
                  </a:lnTo>
                  <a:lnTo>
                    <a:pt x="888039" y="86345"/>
                  </a:lnTo>
                  <a:lnTo>
                    <a:pt x="923598" y="115304"/>
                  </a:lnTo>
                  <a:lnTo>
                    <a:pt x="955997" y="147698"/>
                  </a:lnTo>
                  <a:lnTo>
                    <a:pt x="984964" y="183253"/>
                  </a:lnTo>
                  <a:lnTo>
                    <a:pt x="1010223" y="221696"/>
                  </a:lnTo>
                  <a:lnTo>
                    <a:pt x="1031503" y="262754"/>
                  </a:lnTo>
                  <a:lnTo>
                    <a:pt x="1048530" y="306153"/>
                  </a:lnTo>
                  <a:lnTo>
                    <a:pt x="1061031" y="351621"/>
                  </a:lnTo>
                  <a:lnTo>
                    <a:pt x="1066708" y="387047"/>
                  </a:lnTo>
                </a:path>
              </a:pathLst>
            </a:custGeom>
            <a:ln w="76199">
              <a:solidFill>
                <a:srgbClr val="13151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883873" y="4777145"/>
            <a:ext cx="221615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50">
                <a:solidFill>
                  <a:srgbClr val="202026"/>
                </a:solidFill>
                <a:latin typeface="Arial"/>
                <a:cs typeface="Arial"/>
              </a:rPr>
              <a:t>4</a:t>
            </a:r>
            <a:endParaRPr sz="275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79489" y="4388681"/>
            <a:ext cx="6201910" cy="4767834"/>
          </a:xfrm>
          <a:prstGeom prst="rect">
            <a:avLst/>
          </a:prstGeom>
        </p:spPr>
      </p:pic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25"/>
              <a:t>Tasks</a:t>
            </a:r>
            <a:r>
              <a:rPr dirty="0" spc="-800"/>
              <a:t> </a:t>
            </a:r>
            <a:r>
              <a:rPr dirty="0"/>
              <a:t>3</a:t>
            </a:r>
            <a:r>
              <a:rPr dirty="0" spc="-800"/>
              <a:t> </a:t>
            </a:r>
            <a:r>
              <a:rPr dirty="0"/>
              <a:t>-</a:t>
            </a:r>
            <a:r>
              <a:rPr dirty="0" spc="-795"/>
              <a:t> </a:t>
            </a:r>
            <a:r>
              <a:rPr dirty="0" spc="-5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rot="2700000">
            <a:off x="-1975528" y="4864809"/>
            <a:ext cx="13388619" cy="1168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175"/>
              </a:lnSpc>
            </a:pPr>
            <a:r>
              <a:rPr dirty="0" sz="9200" spc="-20" b="1">
                <a:solidFill>
                  <a:srgbClr val="FFFFFF"/>
                </a:solidFill>
                <a:latin typeface="Hypatia Sans Pro Black"/>
                <a:cs typeface="Hypatia Sans Pro Black"/>
              </a:rPr>
              <a:t>67676767676767676767</a:t>
            </a:r>
            <a:endParaRPr sz="9200">
              <a:latin typeface="Hypatia Sans Pro Black"/>
              <a:cs typeface="Hypatia Sans Pro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27499" y="4677005"/>
            <a:ext cx="5248275" cy="4619625"/>
            <a:chOff x="827499" y="4677005"/>
            <a:chExt cx="5248275" cy="4619625"/>
          </a:xfrm>
        </p:grpSpPr>
        <p:sp>
          <p:nvSpPr>
            <p:cNvPr id="4" name="object 4"/>
            <p:cNvSpPr/>
            <p:nvPr/>
          </p:nvSpPr>
          <p:spPr>
            <a:xfrm>
              <a:off x="865599" y="4715105"/>
              <a:ext cx="5164455" cy="4543425"/>
            </a:xfrm>
            <a:custGeom>
              <a:avLst/>
              <a:gdLst/>
              <a:ahLst/>
              <a:cxnLst/>
              <a:rect l="l" t="t" r="r" b="b"/>
              <a:pathLst>
                <a:path w="5164455" h="4543425">
                  <a:moveTo>
                    <a:pt x="4838617" y="4543194"/>
                  </a:moveTo>
                  <a:lnTo>
                    <a:pt x="333375" y="4543194"/>
                  </a:lnTo>
                  <a:lnTo>
                    <a:pt x="284111" y="4539579"/>
                  </a:lnTo>
                  <a:lnTo>
                    <a:pt x="237091" y="4529079"/>
                  </a:lnTo>
                  <a:lnTo>
                    <a:pt x="192832" y="4512209"/>
                  </a:lnTo>
                  <a:lnTo>
                    <a:pt x="151848" y="4489485"/>
                  </a:lnTo>
                  <a:lnTo>
                    <a:pt x="114656" y="4461423"/>
                  </a:lnTo>
                  <a:lnTo>
                    <a:pt x="81771" y="4428537"/>
                  </a:lnTo>
                  <a:lnTo>
                    <a:pt x="53708" y="4391345"/>
                  </a:lnTo>
                  <a:lnTo>
                    <a:pt x="30984" y="4350362"/>
                  </a:lnTo>
                  <a:lnTo>
                    <a:pt x="14114" y="4306102"/>
                  </a:lnTo>
                  <a:lnTo>
                    <a:pt x="3614" y="4259083"/>
                  </a:lnTo>
                  <a:lnTo>
                    <a:pt x="0" y="4209819"/>
                  </a:lnTo>
                  <a:lnTo>
                    <a:pt x="0" y="333375"/>
                  </a:lnTo>
                  <a:lnTo>
                    <a:pt x="3614" y="284111"/>
                  </a:lnTo>
                  <a:lnTo>
                    <a:pt x="14114" y="237091"/>
                  </a:lnTo>
                  <a:lnTo>
                    <a:pt x="30984" y="192832"/>
                  </a:lnTo>
                  <a:lnTo>
                    <a:pt x="53708" y="151848"/>
                  </a:lnTo>
                  <a:lnTo>
                    <a:pt x="81771" y="114656"/>
                  </a:lnTo>
                  <a:lnTo>
                    <a:pt x="114656" y="81771"/>
                  </a:lnTo>
                  <a:lnTo>
                    <a:pt x="151848" y="53708"/>
                  </a:lnTo>
                  <a:lnTo>
                    <a:pt x="192832" y="30984"/>
                  </a:lnTo>
                  <a:lnTo>
                    <a:pt x="237091" y="14114"/>
                  </a:lnTo>
                  <a:lnTo>
                    <a:pt x="284111" y="3614"/>
                  </a:lnTo>
                  <a:lnTo>
                    <a:pt x="333375" y="0"/>
                  </a:lnTo>
                  <a:lnTo>
                    <a:pt x="4838617" y="0"/>
                  </a:lnTo>
                  <a:lnTo>
                    <a:pt x="4887880" y="3614"/>
                  </a:lnTo>
                  <a:lnTo>
                    <a:pt x="4934899" y="14114"/>
                  </a:lnTo>
                  <a:lnTo>
                    <a:pt x="4979159" y="30984"/>
                  </a:lnTo>
                  <a:lnTo>
                    <a:pt x="5020142" y="53708"/>
                  </a:lnTo>
                  <a:lnTo>
                    <a:pt x="5057335" y="81771"/>
                  </a:lnTo>
                  <a:lnTo>
                    <a:pt x="5090220" y="114656"/>
                  </a:lnTo>
                  <a:lnTo>
                    <a:pt x="5118282" y="151848"/>
                  </a:lnTo>
                  <a:lnTo>
                    <a:pt x="5141006" y="192832"/>
                  </a:lnTo>
                  <a:lnTo>
                    <a:pt x="5157876" y="237091"/>
                  </a:lnTo>
                  <a:lnTo>
                    <a:pt x="5164333" y="266006"/>
                  </a:lnTo>
                  <a:lnTo>
                    <a:pt x="5164333" y="4277187"/>
                  </a:lnTo>
                  <a:lnTo>
                    <a:pt x="5141006" y="4350362"/>
                  </a:lnTo>
                  <a:lnTo>
                    <a:pt x="5118282" y="4391345"/>
                  </a:lnTo>
                  <a:lnTo>
                    <a:pt x="5090220" y="4428537"/>
                  </a:lnTo>
                  <a:lnTo>
                    <a:pt x="5057335" y="4461423"/>
                  </a:lnTo>
                  <a:lnTo>
                    <a:pt x="5020142" y="4489485"/>
                  </a:lnTo>
                  <a:lnTo>
                    <a:pt x="4979159" y="4512209"/>
                  </a:lnTo>
                  <a:lnTo>
                    <a:pt x="4934899" y="4529079"/>
                  </a:lnTo>
                  <a:lnTo>
                    <a:pt x="4887880" y="4539579"/>
                  </a:lnTo>
                  <a:lnTo>
                    <a:pt x="4838617" y="4543194"/>
                  </a:lnTo>
                  <a:close/>
                </a:path>
              </a:pathLst>
            </a:custGeom>
            <a:solidFill>
              <a:srgbClr val="2020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65599" y="4715105"/>
              <a:ext cx="5172075" cy="4543425"/>
            </a:xfrm>
            <a:custGeom>
              <a:avLst/>
              <a:gdLst/>
              <a:ahLst/>
              <a:cxnLst/>
              <a:rect l="l" t="t" r="r" b="b"/>
              <a:pathLst>
                <a:path w="5172075" h="4543425">
                  <a:moveTo>
                    <a:pt x="333375" y="0"/>
                  </a:moveTo>
                  <a:lnTo>
                    <a:pt x="4838550" y="0"/>
                  </a:lnTo>
                  <a:lnTo>
                    <a:pt x="4887816" y="3600"/>
                  </a:lnTo>
                  <a:lnTo>
                    <a:pt x="4934840" y="14092"/>
                  </a:lnTo>
                  <a:lnTo>
                    <a:pt x="4979106" y="30955"/>
                  </a:lnTo>
                  <a:lnTo>
                    <a:pt x="5020098" y="53675"/>
                  </a:lnTo>
                  <a:lnTo>
                    <a:pt x="5057299" y="81735"/>
                  </a:lnTo>
                  <a:lnTo>
                    <a:pt x="5090193" y="114621"/>
                  </a:lnTo>
                  <a:lnTo>
                    <a:pt x="5118264" y="151817"/>
                  </a:lnTo>
                  <a:lnTo>
                    <a:pt x="5140996" y="192806"/>
                  </a:lnTo>
                  <a:lnTo>
                    <a:pt x="5157872" y="237073"/>
                  </a:lnTo>
                  <a:lnTo>
                    <a:pt x="5168375" y="284101"/>
                  </a:lnTo>
                  <a:lnTo>
                    <a:pt x="5171991" y="333369"/>
                  </a:lnTo>
                  <a:lnTo>
                    <a:pt x="5171995" y="4209762"/>
                  </a:lnTo>
                  <a:lnTo>
                    <a:pt x="5168386" y="4259037"/>
                  </a:lnTo>
                  <a:lnTo>
                    <a:pt x="5157888" y="4306069"/>
                  </a:lnTo>
                  <a:lnTo>
                    <a:pt x="5141017" y="4350342"/>
                  </a:lnTo>
                  <a:lnTo>
                    <a:pt x="5118288" y="4391337"/>
                  </a:lnTo>
                  <a:lnTo>
                    <a:pt x="5090218" y="4428539"/>
                  </a:lnTo>
                  <a:lnTo>
                    <a:pt x="5057322" y="4461432"/>
                  </a:lnTo>
                  <a:lnTo>
                    <a:pt x="5020118" y="4489498"/>
                  </a:lnTo>
                  <a:lnTo>
                    <a:pt x="4979121" y="4512223"/>
                  </a:lnTo>
                  <a:lnTo>
                    <a:pt x="4934849" y="4529090"/>
                  </a:lnTo>
                  <a:lnTo>
                    <a:pt x="4887818" y="4539583"/>
                  </a:lnTo>
                  <a:lnTo>
                    <a:pt x="4838550" y="4543194"/>
                  </a:lnTo>
                  <a:lnTo>
                    <a:pt x="333370" y="4543193"/>
                  </a:lnTo>
                  <a:lnTo>
                    <a:pt x="284097" y="4539576"/>
                  </a:lnTo>
                  <a:lnTo>
                    <a:pt x="237071" y="4529071"/>
                  </a:lnTo>
                  <a:lnTo>
                    <a:pt x="192805" y="4512194"/>
                  </a:lnTo>
                  <a:lnTo>
                    <a:pt x="151818" y="4489462"/>
                  </a:lnTo>
                  <a:lnTo>
                    <a:pt x="114625" y="4461391"/>
                  </a:lnTo>
                  <a:lnTo>
                    <a:pt x="81741" y="4428497"/>
                  </a:lnTo>
                  <a:lnTo>
                    <a:pt x="53682" y="4391297"/>
                  </a:lnTo>
                  <a:lnTo>
                    <a:pt x="30963" y="4350306"/>
                  </a:lnTo>
                  <a:lnTo>
                    <a:pt x="14101" y="4306042"/>
                  </a:lnTo>
                  <a:lnTo>
                    <a:pt x="3610" y="4259020"/>
                  </a:lnTo>
                  <a:lnTo>
                    <a:pt x="0" y="4209756"/>
                  </a:lnTo>
                  <a:lnTo>
                    <a:pt x="0" y="333369"/>
                  </a:lnTo>
                  <a:lnTo>
                    <a:pt x="3615" y="284106"/>
                  </a:lnTo>
                  <a:lnTo>
                    <a:pt x="14116" y="237087"/>
                  </a:lnTo>
                  <a:lnTo>
                    <a:pt x="30987" y="192828"/>
                  </a:lnTo>
                  <a:lnTo>
                    <a:pt x="53711" y="151845"/>
                  </a:lnTo>
                  <a:lnTo>
                    <a:pt x="81774" y="114653"/>
                  </a:lnTo>
                  <a:lnTo>
                    <a:pt x="114659" y="81769"/>
                  </a:lnTo>
                  <a:lnTo>
                    <a:pt x="151851" y="53707"/>
                  </a:lnTo>
                  <a:lnTo>
                    <a:pt x="192834" y="30983"/>
                  </a:lnTo>
                  <a:lnTo>
                    <a:pt x="237093" y="14114"/>
                  </a:lnTo>
                  <a:lnTo>
                    <a:pt x="284112" y="3614"/>
                  </a:lnTo>
                  <a:lnTo>
                    <a:pt x="333375" y="0"/>
                  </a:lnTo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 rot="2700000">
            <a:off x="9524152" y="2944738"/>
            <a:ext cx="10071160" cy="1168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175"/>
              </a:lnSpc>
            </a:pPr>
            <a:r>
              <a:rPr dirty="0" sz="9200" spc="-20" b="1">
                <a:solidFill>
                  <a:srgbClr val="FFFFFF"/>
                </a:solidFill>
                <a:latin typeface="Hypatia Sans Pro Black"/>
                <a:cs typeface="Hypatia Sans Pro Black"/>
              </a:rPr>
              <a:t>676767676767676</a:t>
            </a:r>
            <a:endParaRPr sz="9200">
              <a:latin typeface="Hypatia Sans Pro Black"/>
              <a:cs typeface="Hypatia Sans Pro Black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599" y="902558"/>
            <a:ext cx="13490360" cy="2926722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117239" y="4677005"/>
            <a:ext cx="10807700" cy="4646930"/>
            <a:chOff x="6117239" y="4677005"/>
            <a:chExt cx="10807700" cy="4646930"/>
          </a:xfrm>
        </p:grpSpPr>
        <p:sp>
          <p:nvSpPr>
            <p:cNvPr id="9" name="object 9"/>
            <p:cNvSpPr/>
            <p:nvPr/>
          </p:nvSpPr>
          <p:spPr>
            <a:xfrm>
              <a:off x="6155339" y="4715105"/>
              <a:ext cx="5191760" cy="4543425"/>
            </a:xfrm>
            <a:custGeom>
              <a:avLst/>
              <a:gdLst/>
              <a:ahLst/>
              <a:cxnLst/>
              <a:rect l="l" t="t" r="r" b="b"/>
              <a:pathLst>
                <a:path w="5191759" h="4543425">
                  <a:moveTo>
                    <a:pt x="4858006" y="4543194"/>
                  </a:moveTo>
                  <a:lnTo>
                    <a:pt x="333375" y="4543194"/>
                  </a:lnTo>
                  <a:lnTo>
                    <a:pt x="280908" y="4539041"/>
                  </a:lnTo>
                  <a:lnTo>
                    <a:pt x="230207" y="4526829"/>
                  </a:lnTo>
                  <a:lnTo>
                    <a:pt x="182165" y="4506930"/>
                  </a:lnTo>
                  <a:lnTo>
                    <a:pt x="137678" y="4479713"/>
                  </a:lnTo>
                  <a:lnTo>
                    <a:pt x="97643" y="4445551"/>
                  </a:lnTo>
                  <a:lnTo>
                    <a:pt x="63480" y="4405515"/>
                  </a:lnTo>
                  <a:lnTo>
                    <a:pt x="36264" y="4361029"/>
                  </a:lnTo>
                  <a:lnTo>
                    <a:pt x="16364" y="4312987"/>
                  </a:lnTo>
                  <a:lnTo>
                    <a:pt x="4152" y="4262285"/>
                  </a:lnTo>
                  <a:lnTo>
                    <a:pt x="0" y="4209819"/>
                  </a:lnTo>
                  <a:lnTo>
                    <a:pt x="0" y="333375"/>
                  </a:lnTo>
                  <a:lnTo>
                    <a:pt x="4152" y="280908"/>
                  </a:lnTo>
                  <a:lnTo>
                    <a:pt x="16364" y="230207"/>
                  </a:lnTo>
                  <a:lnTo>
                    <a:pt x="36264" y="182165"/>
                  </a:lnTo>
                  <a:lnTo>
                    <a:pt x="63480" y="137679"/>
                  </a:lnTo>
                  <a:lnTo>
                    <a:pt x="97643" y="97643"/>
                  </a:lnTo>
                  <a:lnTo>
                    <a:pt x="137678" y="63480"/>
                  </a:lnTo>
                  <a:lnTo>
                    <a:pt x="182165" y="36264"/>
                  </a:lnTo>
                  <a:lnTo>
                    <a:pt x="230207" y="16364"/>
                  </a:lnTo>
                  <a:lnTo>
                    <a:pt x="280908" y="4152"/>
                  </a:lnTo>
                  <a:lnTo>
                    <a:pt x="333375" y="0"/>
                  </a:lnTo>
                  <a:lnTo>
                    <a:pt x="4858006" y="0"/>
                  </a:lnTo>
                  <a:lnTo>
                    <a:pt x="4910472" y="4152"/>
                  </a:lnTo>
                  <a:lnTo>
                    <a:pt x="4961174" y="16364"/>
                  </a:lnTo>
                  <a:lnTo>
                    <a:pt x="5009216" y="36264"/>
                  </a:lnTo>
                  <a:lnTo>
                    <a:pt x="5053703" y="63480"/>
                  </a:lnTo>
                  <a:lnTo>
                    <a:pt x="5093738" y="97643"/>
                  </a:lnTo>
                  <a:lnTo>
                    <a:pt x="5127901" y="137679"/>
                  </a:lnTo>
                  <a:lnTo>
                    <a:pt x="5155117" y="182165"/>
                  </a:lnTo>
                  <a:lnTo>
                    <a:pt x="5175017" y="230207"/>
                  </a:lnTo>
                  <a:lnTo>
                    <a:pt x="5187228" y="280908"/>
                  </a:lnTo>
                  <a:lnTo>
                    <a:pt x="5191381" y="333375"/>
                  </a:lnTo>
                  <a:lnTo>
                    <a:pt x="5191381" y="4209819"/>
                  </a:lnTo>
                  <a:lnTo>
                    <a:pt x="5187228" y="4262285"/>
                  </a:lnTo>
                  <a:lnTo>
                    <a:pt x="5175017" y="4312987"/>
                  </a:lnTo>
                  <a:lnTo>
                    <a:pt x="5155117" y="4361029"/>
                  </a:lnTo>
                  <a:lnTo>
                    <a:pt x="5127901" y="4405515"/>
                  </a:lnTo>
                  <a:lnTo>
                    <a:pt x="5093738" y="4445551"/>
                  </a:lnTo>
                  <a:lnTo>
                    <a:pt x="5053703" y="4479713"/>
                  </a:lnTo>
                  <a:lnTo>
                    <a:pt x="5009216" y="4506930"/>
                  </a:lnTo>
                  <a:lnTo>
                    <a:pt x="4961174" y="4526829"/>
                  </a:lnTo>
                  <a:lnTo>
                    <a:pt x="4910472" y="4539041"/>
                  </a:lnTo>
                  <a:lnTo>
                    <a:pt x="4858006" y="4543194"/>
                  </a:lnTo>
                  <a:close/>
                </a:path>
              </a:pathLst>
            </a:custGeom>
            <a:solidFill>
              <a:srgbClr val="2020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155339" y="4715105"/>
              <a:ext cx="5191125" cy="4543425"/>
            </a:xfrm>
            <a:custGeom>
              <a:avLst/>
              <a:gdLst/>
              <a:ahLst/>
              <a:cxnLst/>
              <a:rect l="l" t="t" r="r" b="b"/>
              <a:pathLst>
                <a:path w="5191125" h="4543425">
                  <a:moveTo>
                    <a:pt x="5191019" y="4213053"/>
                  </a:moveTo>
                  <a:lnTo>
                    <a:pt x="5187239" y="4262238"/>
                  </a:lnTo>
                  <a:lnTo>
                    <a:pt x="5175028" y="4312959"/>
                  </a:lnTo>
                  <a:lnTo>
                    <a:pt x="5155122" y="4361020"/>
                  </a:lnTo>
                  <a:lnTo>
                    <a:pt x="5127894" y="4405522"/>
                  </a:lnTo>
                  <a:lnTo>
                    <a:pt x="5093716" y="4445570"/>
                  </a:lnTo>
                  <a:lnTo>
                    <a:pt x="5053661" y="4479738"/>
                  </a:lnTo>
                  <a:lnTo>
                    <a:pt x="5009155" y="4506955"/>
                  </a:lnTo>
                  <a:lnTo>
                    <a:pt x="4961095" y="4526848"/>
                  </a:lnTo>
                  <a:lnTo>
                    <a:pt x="4910377" y="4539048"/>
                  </a:lnTo>
                  <a:lnTo>
                    <a:pt x="4857905" y="4543194"/>
                  </a:lnTo>
                  <a:lnTo>
                    <a:pt x="333362" y="4543192"/>
                  </a:lnTo>
                  <a:lnTo>
                    <a:pt x="280885" y="4539035"/>
                  </a:lnTo>
                  <a:lnTo>
                    <a:pt x="230175" y="4526815"/>
                  </a:lnTo>
                  <a:lnTo>
                    <a:pt x="182127" y="4506906"/>
                  </a:lnTo>
                  <a:lnTo>
                    <a:pt x="137638" y="4479678"/>
                  </a:lnTo>
                  <a:lnTo>
                    <a:pt x="97604" y="4445504"/>
                  </a:lnTo>
                  <a:lnTo>
                    <a:pt x="63446" y="4405457"/>
                  </a:lnTo>
                  <a:lnTo>
                    <a:pt x="36237" y="4360962"/>
                  </a:lnTo>
                  <a:lnTo>
                    <a:pt x="16347" y="4312914"/>
                  </a:lnTo>
                  <a:lnTo>
                    <a:pt x="4147" y="4262210"/>
                  </a:lnTo>
                  <a:lnTo>
                    <a:pt x="0" y="4209745"/>
                  </a:lnTo>
                  <a:lnTo>
                    <a:pt x="0" y="333381"/>
                  </a:lnTo>
                  <a:lnTo>
                    <a:pt x="4151" y="280916"/>
                  </a:lnTo>
                  <a:lnTo>
                    <a:pt x="16361" y="230215"/>
                  </a:lnTo>
                  <a:lnTo>
                    <a:pt x="36260" y="182173"/>
                  </a:lnTo>
                  <a:lnTo>
                    <a:pt x="63475" y="137686"/>
                  </a:lnTo>
                  <a:lnTo>
                    <a:pt x="97636" y="97649"/>
                  </a:lnTo>
                  <a:lnTo>
                    <a:pt x="137671" y="63485"/>
                  </a:lnTo>
                  <a:lnTo>
                    <a:pt x="182158" y="36267"/>
                  </a:lnTo>
                  <a:lnTo>
                    <a:pt x="230200" y="16366"/>
                  </a:lnTo>
                  <a:lnTo>
                    <a:pt x="280902" y="4153"/>
                  </a:lnTo>
                  <a:lnTo>
                    <a:pt x="333368" y="0"/>
                  </a:lnTo>
                  <a:lnTo>
                    <a:pt x="4857905" y="0"/>
                  </a:lnTo>
                  <a:lnTo>
                    <a:pt x="4910379" y="4130"/>
                  </a:lnTo>
                  <a:lnTo>
                    <a:pt x="4961091" y="16330"/>
                  </a:lnTo>
                  <a:lnTo>
                    <a:pt x="5009146" y="36221"/>
                  </a:lnTo>
                  <a:lnTo>
                    <a:pt x="5053648" y="63433"/>
                  </a:lnTo>
                  <a:lnTo>
                    <a:pt x="5093699" y="97597"/>
                  </a:lnTo>
                  <a:lnTo>
                    <a:pt x="5127877" y="137639"/>
                  </a:lnTo>
                  <a:lnTo>
                    <a:pt x="5155105" y="182136"/>
                  </a:lnTo>
                  <a:lnTo>
                    <a:pt x="5175013" y="230191"/>
                  </a:lnTo>
                  <a:lnTo>
                    <a:pt x="5187228" y="280908"/>
                  </a:lnTo>
                  <a:lnTo>
                    <a:pt x="5191017" y="330141"/>
                  </a:lnTo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1461021" y="4783713"/>
              <a:ext cx="5425440" cy="4502150"/>
            </a:xfrm>
            <a:custGeom>
              <a:avLst/>
              <a:gdLst/>
              <a:ahLst/>
              <a:cxnLst/>
              <a:rect l="l" t="t" r="r" b="b"/>
              <a:pathLst>
                <a:path w="5425440" h="4502150">
                  <a:moveTo>
                    <a:pt x="5091971" y="4501956"/>
                  </a:moveTo>
                  <a:lnTo>
                    <a:pt x="333374" y="4501956"/>
                  </a:lnTo>
                  <a:lnTo>
                    <a:pt x="280908" y="4497803"/>
                  </a:lnTo>
                  <a:lnTo>
                    <a:pt x="230207" y="4485592"/>
                  </a:lnTo>
                  <a:lnTo>
                    <a:pt x="182165" y="4465692"/>
                  </a:lnTo>
                  <a:lnTo>
                    <a:pt x="137678" y="4438476"/>
                  </a:lnTo>
                  <a:lnTo>
                    <a:pt x="97643" y="4404313"/>
                  </a:lnTo>
                  <a:lnTo>
                    <a:pt x="63480" y="4364277"/>
                  </a:lnTo>
                  <a:lnTo>
                    <a:pt x="36264" y="4319791"/>
                  </a:lnTo>
                  <a:lnTo>
                    <a:pt x="16364" y="4271749"/>
                  </a:lnTo>
                  <a:lnTo>
                    <a:pt x="4153" y="4221047"/>
                  </a:lnTo>
                  <a:lnTo>
                    <a:pt x="0" y="4168581"/>
                  </a:lnTo>
                  <a:lnTo>
                    <a:pt x="0" y="333375"/>
                  </a:lnTo>
                  <a:lnTo>
                    <a:pt x="4153" y="280908"/>
                  </a:lnTo>
                  <a:lnTo>
                    <a:pt x="16364" y="230207"/>
                  </a:lnTo>
                  <a:lnTo>
                    <a:pt x="36264" y="182165"/>
                  </a:lnTo>
                  <a:lnTo>
                    <a:pt x="63480" y="137678"/>
                  </a:lnTo>
                  <a:lnTo>
                    <a:pt x="97643" y="97643"/>
                  </a:lnTo>
                  <a:lnTo>
                    <a:pt x="137678" y="63480"/>
                  </a:lnTo>
                  <a:lnTo>
                    <a:pt x="182165" y="36264"/>
                  </a:lnTo>
                  <a:lnTo>
                    <a:pt x="230207" y="16364"/>
                  </a:lnTo>
                  <a:lnTo>
                    <a:pt x="280908" y="4152"/>
                  </a:lnTo>
                  <a:lnTo>
                    <a:pt x="333374" y="0"/>
                  </a:lnTo>
                  <a:lnTo>
                    <a:pt x="5091971" y="0"/>
                  </a:lnTo>
                  <a:lnTo>
                    <a:pt x="5144437" y="4152"/>
                  </a:lnTo>
                  <a:lnTo>
                    <a:pt x="5195139" y="16364"/>
                  </a:lnTo>
                  <a:lnTo>
                    <a:pt x="5243181" y="36264"/>
                  </a:lnTo>
                  <a:lnTo>
                    <a:pt x="5287667" y="63480"/>
                  </a:lnTo>
                  <a:lnTo>
                    <a:pt x="5327702" y="97643"/>
                  </a:lnTo>
                  <a:lnTo>
                    <a:pt x="5361865" y="137678"/>
                  </a:lnTo>
                  <a:lnTo>
                    <a:pt x="5389081" y="182165"/>
                  </a:lnTo>
                  <a:lnTo>
                    <a:pt x="5408981" y="230207"/>
                  </a:lnTo>
                  <a:lnTo>
                    <a:pt x="5421193" y="280908"/>
                  </a:lnTo>
                  <a:lnTo>
                    <a:pt x="5425346" y="333375"/>
                  </a:lnTo>
                  <a:lnTo>
                    <a:pt x="5425346" y="4168581"/>
                  </a:lnTo>
                  <a:lnTo>
                    <a:pt x="5421193" y="4221047"/>
                  </a:lnTo>
                  <a:lnTo>
                    <a:pt x="5408981" y="4271749"/>
                  </a:lnTo>
                  <a:lnTo>
                    <a:pt x="5389081" y="4319791"/>
                  </a:lnTo>
                  <a:lnTo>
                    <a:pt x="5361865" y="4364277"/>
                  </a:lnTo>
                  <a:lnTo>
                    <a:pt x="5327702" y="4404313"/>
                  </a:lnTo>
                  <a:lnTo>
                    <a:pt x="5287667" y="4438476"/>
                  </a:lnTo>
                  <a:lnTo>
                    <a:pt x="5243181" y="4465692"/>
                  </a:lnTo>
                  <a:lnTo>
                    <a:pt x="5195139" y="4485592"/>
                  </a:lnTo>
                  <a:lnTo>
                    <a:pt x="5144437" y="4497803"/>
                  </a:lnTo>
                  <a:lnTo>
                    <a:pt x="5091971" y="4501956"/>
                  </a:lnTo>
                  <a:close/>
                </a:path>
              </a:pathLst>
            </a:custGeom>
            <a:solidFill>
              <a:srgbClr val="2020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1461020" y="4783713"/>
              <a:ext cx="5425440" cy="4502150"/>
            </a:xfrm>
            <a:custGeom>
              <a:avLst/>
              <a:gdLst/>
              <a:ahLst/>
              <a:cxnLst/>
              <a:rect l="l" t="t" r="r" b="b"/>
              <a:pathLst>
                <a:path w="5425440" h="4502150">
                  <a:moveTo>
                    <a:pt x="333368" y="0"/>
                  </a:moveTo>
                  <a:lnTo>
                    <a:pt x="5091864" y="0"/>
                  </a:lnTo>
                  <a:lnTo>
                    <a:pt x="5144339" y="4129"/>
                  </a:lnTo>
                  <a:lnTo>
                    <a:pt x="5195052" y="16328"/>
                  </a:lnTo>
                  <a:lnTo>
                    <a:pt x="5243109" y="36219"/>
                  </a:lnTo>
                  <a:lnTo>
                    <a:pt x="5287612" y="63433"/>
                  </a:lnTo>
                  <a:lnTo>
                    <a:pt x="5327665" y="97597"/>
                  </a:lnTo>
                  <a:lnTo>
                    <a:pt x="5361842" y="137640"/>
                  </a:lnTo>
                  <a:lnTo>
                    <a:pt x="5389071" y="182138"/>
                  </a:lnTo>
                  <a:lnTo>
                    <a:pt x="5408979" y="230195"/>
                  </a:lnTo>
                  <a:lnTo>
                    <a:pt x="5421194" y="280913"/>
                  </a:lnTo>
                  <a:lnTo>
                    <a:pt x="5425347" y="333387"/>
                  </a:lnTo>
                  <a:lnTo>
                    <a:pt x="5425351" y="4168522"/>
                  </a:lnTo>
                  <a:lnTo>
                    <a:pt x="5421203" y="4221008"/>
                  </a:lnTo>
                  <a:lnTo>
                    <a:pt x="5408990" y="4271729"/>
                  </a:lnTo>
                  <a:lnTo>
                    <a:pt x="5389083" y="4319789"/>
                  </a:lnTo>
                  <a:lnTo>
                    <a:pt x="5361854" y="4364291"/>
                  </a:lnTo>
                  <a:lnTo>
                    <a:pt x="5327674" y="4404338"/>
                  </a:lnTo>
                  <a:lnTo>
                    <a:pt x="5287619" y="4438505"/>
                  </a:lnTo>
                  <a:lnTo>
                    <a:pt x="5243112" y="4465720"/>
                  </a:lnTo>
                  <a:lnTo>
                    <a:pt x="5195052" y="4485613"/>
                  </a:lnTo>
                  <a:lnTo>
                    <a:pt x="5144335" y="4497811"/>
                  </a:lnTo>
                  <a:lnTo>
                    <a:pt x="5091864" y="4501956"/>
                  </a:lnTo>
                  <a:lnTo>
                    <a:pt x="333362" y="4501955"/>
                  </a:lnTo>
                  <a:lnTo>
                    <a:pt x="280886" y="4497798"/>
                  </a:lnTo>
                  <a:lnTo>
                    <a:pt x="230177" y="4485579"/>
                  </a:lnTo>
                  <a:lnTo>
                    <a:pt x="182130" y="4465670"/>
                  </a:lnTo>
                  <a:lnTo>
                    <a:pt x="137641" y="4438443"/>
                  </a:lnTo>
                  <a:lnTo>
                    <a:pt x="97607" y="4404269"/>
                  </a:lnTo>
                  <a:lnTo>
                    <a:pt x="63449" y="4364224"/>
                  </a:lnTo>
                  <a:lnTo>
                    <a:pt x="36239" y="4319729"/>
                  </a:lnTo>
                  <a:lnTo>
                    <a:pt x="16349" y="4271682"/>
                  </a:lnTo>
                  <a:lnTo>
                    <a:pt x="4148" y="4220978"/>
                  </a:lnTo>
                  <a:lnTo>
                    <a:pt x="1" y="4168513"/>
                  </a:lnTo>
                  <a:lnTo>
                    <a:pt x="0" y="333387"/>
                  </a:lnTo>
                  <a:lnTo>
                    <a:pt x="4150" y="280922"/>
                  </a:lnTo>
                  <a:lnTo>
                    <a:pt x="16360" y="230220"/>
                  </a:lnTo>
                  <a:lnTo>
                    <a:pt x="36257" y="182177"/>
                  </a:lnTo>
                  <a:lnTo>
                    <a:pt x="63472" y="137689"/>
                  </a:lnTo>
                  <a:lnTo>
                    <a:pt x="97634" y="97651"/>
                  </a:lnTo>
                  <a:lnTo>
                    <a:pt x="137669" y="63487"/>
                  </a:lnTo>
                  <a:lnTo>
                    <a:pt x="182156" y="36268"/>
                  </a:lnTo>
                  <a:lnTo>
                    <a:pt x="230198" y="16366"/>
                  </a:lnTo>
                  <a:lnTo>
                    <a:pt x="280902" y="4153"/>
                  </a:lnTo>
                  <a:lnTo>
                    <a:pt x="333368" y="0"/>
                  </a:lnTo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1622987" y="1512984"/>
            <a:ext cx="5055870" cy="131191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400" spc="-290"/>
              <a:t>Tasks</a:t>
            </a:r>
            <a:r>
              <a:rPr dirty="0" sz="8400" spc="-700"/>
              <a:t> </a:t>
            </a:r>
            <a:r>
              <a:rPr dirty="0" sz="8400"/>
              <a:t>5</a:t>
            </a:r>
            <a:r>
              <a:rPr dirty="0" sz="8400" spc="-695"/>
              <a:t> </a:t>
            </a:r>
            <a:r>
              <a:rPr dirty="0" sz="8400"/>
              <a:t>-</a:t>
            </a:r>
            <a:r>
              <a:rPr dirty="0" sz="8400" spc="-695"/>
              <a:t> </a:t>
            </a:r>
            <a:r>
              <a:rPr dirty="0" sz="8400" spc="-50"/>
              <a:t>7</a:t>
            </a:r>
            <a:endParaRPr sz="8400"/>
          </a:p>
        </p:txBody>
      </p:sp>
      <p:sp>
        <p:nvSpPr>
          <p:cNvPr id="14" name="object 14"/>
          <p:cNvSpPr txBox="1"/>
          <p:nvPr/>
        </p:nvSpPr>
        <p:spPr>
          <a:xfrm>
            <a:off x="1365045" y="5072651"/>
            <a:ext cx="4100195" cy="36258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50" spc="-5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3350">
              <a:latin typeface="Arial"/>
              <a:cs typeface="Arial"/>
            </a:endParaRPr>
          </a:p>
          <a:p>
            <a:pPr marL="12700" marR="5080">
              <a:lnSpc>
                <a:spcPct val="117200"/>
              </a:lnSpc>
              <a:spcBef>
                <a:spcPts val="181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JOIN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two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tables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window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functions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find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parameters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need.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window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functions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make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easier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compare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values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and,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if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necessary,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combine</a:t>
            </a:r>
            <a:r>
              <a:rPr dirty="0" sz="1600" spc="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them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600" spc="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other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tables.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"PARTITION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BY"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group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specific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groups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data.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extract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year,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"EXTRACT"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"::INT"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since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"EXTRACT"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returns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real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value,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which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cannot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dirty="0" sz="16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year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36741" y="5073439"/>
            <a:ext cx="4541520" cy="3612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 spc="-5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3300">
              <a:latin typeface="Arial"/>
              <a:cs typeface="Arial"/>
            </a:endParaRPr>
          </a:p>
          <a:p>
            <a:pPr marL="12700" marR="5080">
              <a:lnSpc>
                <a:spcPct val="113500"/>
              </a:lnSpc>
              <a:spcBef>
                <a:spcPts val="1775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Again,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window</a:t>
            </a:r>
            <a:r>
              <a:rPr dirty="0" sz="15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functions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preserve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original</a:t>
            </a:r>
            <a:r>
              <a:rPr dirty="0" sz="15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appearance</a:t>
            </a:r>
            <a:r>
              <a:rPr dirty="0" sz="15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5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table.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Using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"PARTITION</a:t>
            </a:r>
            <a:r>
              <a:rPr dirty="0" sz="15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BY",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divide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certain "store-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family"</a:t>
            </a:r>
            <a:r>
              <a:rPr dirty="0" sz="15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("store-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item")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groups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order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count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parameters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without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mixing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different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data.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"BETWEEN"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create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specific</a:t>
            </a:r>
            <a:r>
              <a:rPr dirty="0" sz="1500" spc="5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dirty="0" sz="15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frame.</a:t>
            </a:r>
            <a:r>
              <a:rPr dirty="0" sz="15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dirty="0" sz="15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dirty="0" sz="15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"STDDEV_SAMP"</a:t>
            </a:r>
            <a:r>
              <a:rPr dirty="0" sz="15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because</a:t>
            </a:r>
            <a:r>
              <a:rPr dirty="0" sz="15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we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specific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sample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 the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entire</a:t>
            </a:r>
            <a:r>
              <a:rPr dirty="0" sz="15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"population".</a:t>
            </a:r>
            <a:r>
              <a:rPr dirty="0" sz="15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5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coefficient</a:t>
            </a:r>
            <a:r>
              <a:rPr dirty="0" sz="15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variation,</a:t>
            </a:r>
            <a:r>
              <a:rPr dirty="0" sz="15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"CASE"</a:t>
            </a:r>
            <a:r>
              <a:rPr dirty="0" sz="15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expression/method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eliminate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division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zero</a:t>
            </a:r>
            <a:r>
              <a:rPr dirty="0" sz="15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errors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087674" y="5045364"/>
            <a:ext cx="25146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50" b="1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3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671417" y="5808374"/>
            <a:ext cx="4335780" cy="23691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90"/>
              </a:spcBef>
            </a:pP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5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percentage</a:t>
            </a:r>
            <a:r>
              <a:rPr dirty="0" sz="165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5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change</a:t>
            </a:r>
            <a:r>
              <a:rPr dirty="0" sz="1650" spc="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65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20" b="1">
                <a:solidFill>
                  <a:srgbClr val="FFFFFF"/>
                </a:solidFill>
                <a:latin typeface="Arial"/>
                <a:cs typeface="Arial"/>
              </a:rPr>
              <a:t>also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calculated</a:t>
            </a:r>
            <a:r>
              <a:rPr dirty="0" sz="165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dirty="0" sz="165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5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FFFFFF"/>
                </a:solidFill>
                <a:latin typeface="Arial"/>
                <a:cs typeface="Arial"/>
              </a:rPr>
              <a:t>"CASE"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expression/method</a:t>
            </a:r>
            <a:r>
              <a:rPr dirty="0" sz="1650" spc="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50" spc="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remove</a:t>
            </a:r>
            <a:r>
              <a:rPr dirty="0" sz="1650" spc="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division</a:t>
            </a:r>
            <a:r>
              <a:rPr dirty="0" sz="1650" spc="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25" b="1">
                <a:solidFill>
                  <a:srgbClr val="FFFFFF"/>
                </a:solidFill>
                <a:latin typeface="Arial"/>
                <a:cs typeface="Arial"/>
              </a:rPr>
              <a:t>by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zero</a:t>
            </a:r>
            <a:r>
              <a:rPr dirty="0" sz="165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errors</a:t>
            </a:r>
            <a:r>
              <a:rPr dirty="0" sz="165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65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incorrect</a:t>
            </a:r>
            <a:r>
              <a:rPr dirty="0" sz="165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values</a:t>
            </a:r>
            <a:r>
              <a:rPr dirty="0" sz="165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65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case</a:t>
            </a:r>
            <a:r>
              <a:rPr dirty="0" sz="165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25" b="1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insufficient</a:t>
            </a:r>
            <a:r>
              <a:rPr dirty="0" sz="165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accumulation</a:t>
            </a:r>
            <a:r>
              <a:rPr dirty="0" sz="165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5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days</a:t>
            </a:r>
            <a:r>
              <a:rPr dirty="0" sz="165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25" b="1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counting.</a:t>
            </a:r>
            <a:r>
              <a:rPr dirty="0" sz="1650" spc="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650" spc="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50" spc="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end,</a:t>
            </a:r>
            <a:r>
              <a:rPr dirty="0" sz="1650" spc="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dirty="0" sz="1650" spc="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paint</a:t>
            </a:r>
            <a:r>
              <a:rPr dirty="0" sz="1650" spc="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FFFFFF"/>
                </a:solidFill>
                <a:latin typeface="Arial"/>
                <a:cs typeface="Arial"/>
              </a:rPr>
              <a:t>separate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windows</a:t>
            </a:r>
            <a:r>
              <a:rPr dirty="0" sz="165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so</a:t>
            </a:r>
            <a:r>
              <a:rPr dirty="0" sz="165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165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5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r>
              <a:rPr dirty="0" sz="165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looks</a:t>
            </a:r>
            <a:r>
              <a:rPr dirty="0" sz="165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less</a:t>
            </a:r>
            <a:r>
              <a:rPr dirty="0" sz="165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FFFFFF"/>
                </a:solidFill>
                <a:latin typeface="Arial"/>
                <a:cs typeface="Arial"/>
              </a:rPr>
              <a:t>bulky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650" spc="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65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dirty="0" sz="165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FFFFFF"/>
                </a:solidFill>
                <a:latin typeface="Arial"/>
                <a:cs typeface="Arial"/>
              </a:rPr>
              <a:t>readable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2611" y="1481328"/>
            <a:ext cx="2590800" cy="681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300" spc="-155" b="1">
                <a:solidFill>
                  <a:srgbClr val="FFFFFF"/>
                </a:solidFill>
                <a:latin typeface="Arial"/>
                <a:cs typeface="Arial"/>
              </a:rPr>
              <a:t>Tasks</a:t>
            </a:r>
            <a:r>
              <a:rPr dirty="0" sz="4300" spc="-3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30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4300" spc="-3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300" spc="-20" b="1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4300" spc="-3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300" spc="-50" b="1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4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97041" y="3718659"/>
            <a:ext cx="6455410" cy="1636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905"/>
              </a:lnSpc>
              <a:spcBef>
                <a:spcPts val="105"/>
              </a:spcBef>
            </a:pPr>
            <a:r>
              <a:rPr dirty="0" sz="1700" spc="-65" b="1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45" b="1">
                <a:solidFill>
                  <a:srgbClr val="FFFFFF"/>
                </a:solidFill>
                <a:latin typeface="Arial"/>
                <a:cs typeface="Arial"/>
              </a:rPr>
              <a:t>1: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Connecting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4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80" b="1">
                <a:solidFill>
                  <a:srgbClr val="FFFFFF"/>
                </a:solidFill>
                <a:latin typeface="Arial"/>
                <a:cs typeface="Arial"/>
              </a:rPr>
              <a:t>Database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Loading</a:t>
            </a:r>
            <a:r>
              <a:rPr dirty="0" sz="1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ts val="1770"/>
              </a:lnSpc>
              <a:spcBef>
                <a:spcPts val="150"/>
              </a:spcBef>
            </a:pP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70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80" b="1">
                <a:solidFill>
                  <a:srgbClr val="FFFFFF"/>
                </a:solidFill>
                <a:latin typeface="Arial"/>
                <a:cs typeface="Arial"/>
              </a:rPr>
              <a:t>connection</a:t>
            </a:r>
            <a:r>
              <a:rPr dirty="0" sz="17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50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70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80" b="1">
                <a:solidFill>
                  <a:srgbClr val="FFFFFF"/>
                </a:solidFill>
                <a:latin typeface="Arial"/>
                <a:cs typeface="Arial"/>
              </a:rPr>
              <a:t>established</a:t>
            </a:r>
            <a:r>
              <a:rPr dirty="0" sz="17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4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70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PostgreSQL,</a:t>
            </a:r>
            <a:r>
              <a:rPr dirty="0" sz="17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0" b="1">
                <a:solidFill>
                  <a:srgbClr val="FFFFFF"/>
                </a:solidFill>
                <a:latin typeface="Arial"/>
                <a:cs typeface="Arial"/>
              </a:rPr>
              <a:t>where</a:t>
            </a:r>
            <a:r>
              <a:rPr dirty="0" sz="17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80" b="1">
                <a:solidFill>
                  <a:srgbClr val="FFFFFF"/>
                </a:solidFill>
                <a:latin typeface="Arial"/>
                <a:cs typeface="Arial"/>
              </a:rPr>
              <a:t>transaction</a:t>
            </a:r>
            <a:r>
              <a:rPr dirty="0" sz="170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dirty="0" sz="1700" spc="-50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loaded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0" b="1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pandas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80" b="1">
                <a:solidFill>
                  <a:srgbClr val="FFFFFF"/>
                </a:solidFill>
                <a:latin typeface="Arial"/>
                <a:cs typeface="Arial"/>
              </a:rPr>
              <a:t>DataFrame.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0" b="1">
                <a:solidFill>
                  <a:srgbClr val="FFFFFF"/>
                </a:solidFill>
                <a:latin typeface="Arial"/>
                <a:cs typeface="Arial"/>
              </a:rPr>
              <a:t>table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50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created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5" b="1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5" b="1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following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columns:</a:t>
            </a:r>
            <a:r>
              <a:rPr dirty="0" sz="1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0" b="1">
                <a:solidFill>
                  <a:srgbClr val="FFFFFF"/>
                </a:solidFill>
                <a:latin typeface="Arial"/>
                <a:cs typeface="Arial"/>
              </a:rPr>
              <a:t>date,</a:t>
            </a:r>
            <a:r>
              <a:rPr dirty="0" sz="1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0" b="1">
                <a:solidFill>
                  <a:srgbClr val="FFFFFF"/>
                </a:solidFill>
                <a:latin typeface="Arial"/>
                <a:cs typeface="Arial"/>
              </a:rPr>
              <a:t>store</a:t>
            </a:r>
            <a:r>
              <a:rPr dirty="0" sz="1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number,</a:t>
            </a:r>
            <a:r>
              <a:rPr dirty="0" sz="1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0" b="1">
                <a:solidFill>
                  <a:srgbClr val="FFFFFF"/>
                </a:solidFill>
                <a:latin typeface="Arial"/>
                <a:cs typeface="Arial"/>
              </a:rPr>
              <a:t>number</a:t>
            </a:r>
            <a:r>
              <a:rPr dirty="0" sz="1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4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50" b="1">
                <a:solidFill>
                  <a:srgbClr val="FFFFFF"/>
                </a:solidFill>
                <a:latin typeface="Arial"/>
                <a:cs typeface="Arial"/>
              </a:rPr>
              <a:t>transactions. </a:t>
            </a:r>
            <a:r>
              <a:rPr dirty="0" sz="1700" spc="-65" b="1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dirty="0" sz="1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45" b="1">
                <a:solidFill>
                  <a:srgbClr val="FFFFFF"/>
                </a:solidFill>
                <a:latin typeface="Arial"/>
                <a:cs typeface="Arial"/>
              </a:rPr>
              <a:t>2:</a:t>
            </a:r>
            <a:r>
              <a:rPr dirty="0" sz="1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80" b="1">
                <a:solidFill>
                  <a:srgbClr val="FFFFFF"/>
                </a:solidFill>
                <a:latin typeface="Arial"/>
                <a:cs typeface="Arial"/>
              </a:rPr>
              <a:t>Calculating</a:t>
            </a:r>
            <a:r>
              <a:rPr dirty="0" sz="1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0" b="1">
                <a:solidFill>
                  <a:srgbClr val="FFFFFF"/>
                </a:solidFill>
                <a:latin typeface="Arial"/>
                <a:cs typeface="Arial"/>
              </a:rPr>
              <a:t>Moving</a:t>
            </a:r>
            <a:r>
              <a:rPr dirty="0" sz="170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Averages</a:t>
            </a:r>
            <a:endParaRPr sz="1700">
              <a:latin typeface="Arial"/>
              <a:cs typeface="Arial"/>
            </a:endParaRPr>
          </a:p>
          <a:p>
            <a:pPr marL="12700" marR="524510">
              <a:lnSpc>
                <a:spcPts val="1770"/>
              </a:lnSpc>
              <a:spcBef>
                <a:spcPts val="10"/>
              </a:spcBef>
            </a:pPr>
            <a:r>
              <a:rPr dirty="0" sz="1700" spc="-50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0" b="1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store,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following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5" b="1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80" b="1">
                <a:solidFill>
                  <a:srgbClr val="FFFFFF"/>
                </a:solidFill>
                <a:latin typeface="Arial"/>
                <a:cs typeface="Arial"/>
              </a:rPr>
              <a:t>calculated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0" b="1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50" b="1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window functions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7041" y="5519306"/>
            <a:ext cx="5761355" cy="96139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 marR="116205">
              <a:lnSpc>
                <a:spcPts val="1770"/>
              </a:lnSpc>
              <a:spcBef>
                <a:spcPts val="390"/>
              </a:spcBef>
            </a:pPr>
            <a:r>
              <a:rPr dirty="0" sz="1700" spc="-85" b="1">
                <a:solidFill>
                  <a:srgbClr val="FFFFFF"/>
                </a:solidFill>
                <a:latin typeface="Arial"/>
                <a:cs typeface="Arial"/>
              </a:rPr>
              <a:t>7-</a:t>
            </a:r>
            <a:r>
              <a:rPr dirty="0" sz="1700" spc="-65" b="1">
                <a:solidFill>
                  <a:srgbClr val="FFFFFF"/>
                </a:solidFill>
                <a:latin typeface="Arial"/>
                <a:cs typeface="Arial"/>
              </a:rPr>
              <a:t>day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0" b="1">
                <a:solidFill>
                  <a:srgbClr val="FFFFFF"/>
                </a:solidFill>
                <a:latin typeface="Arial"/>
                <a:cs typeface="Arial"/>
              </a:rPr>
              <a:t>moving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80" b="1">
                <a:solidFill>
                  <a:srgbClr val="FFFFFF"/>
                </a:solidFill>
                <a:latin typeface="Arial"/>
                <a:cs typeface="Arial"/>
              </a:rPr>
              <a:t>average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80" b="1">
                <a:solidFill>
                  <a:srgbClr val="FFFFFF"/>
                </a:solidFill>
                <a:latin typeface="Arial"/>
                <a:cs typeface="Arial"/>
              </a:rPr>
              <a:t>average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55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current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5" b="1">
                <a:solidFill>
                  <a:srgbClr val="FFFFFF"/>
                </a:solidFill>
                <a:latin typeface="Arial"/>
                <a:cs typeface="Arial"/>
              </a:rPr>
              <a:t>day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5" b="1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previous</a:t>
            </a:r>
            <a:r>
              <a:rPr dirty="0" sz="1700" spc="-1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dirty="0" sz="1700" spc="-1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days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ts val="1770"/>
              </a:lnSpc>
              <a:spcBef>
                <a:spcPts val="5"/>
              </a:spcBef>
            </a:pPr>
            <a:r>
              <a:rPr dirty="0" sz="1700" spc="-85" b="1">
                <a:solidFill>
                  <a:srgbClr val="FFFFFF"/>
                </a:solidFill>
                <a:latin typeface="Arial"/>
                <a:cs typeface="Arial"/>
              </a:rPr>
              <a:t>30-</a:t>
            </a:r>
            <a:r>
              <a:rPr dirty="0" sz="1700" spc="-65" b="1">
                <a:solidFill>
                  <a:srgbClr val="FFFFFF"/>
                </a:solidFill>
                <a:latin typeface="Arial"/>
                <a:cs typeface="Arial"/>
              </a:rPr>
              <a:t>day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0" b="1">
                <a:solidFill>
                  <a:srgbClr val="FFFFFF"/>
                </a:solidFill>
                <a:latin typeface="Arial"/>
                <a:cs typeface="Arial"/>
              </a:rPr>
              <a:t>moving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80" b="1">
                <a:solidFill>
                  <a:srgbClr val="FFFFFF"/>
                </a:solidFill>
                <a:latin typeface="Arial"/>
                <a:cs typeface="Arial"/>
              </a:rPr>
              <a:t>average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80" b="1">
                <a:solidFill>
                  <a:srgbClr val="FFFFFF"/>
                </a:solidFill>
                <a:latin typeface="Arial"/>
                <a:cs typeface="Arial"/>
              </a:rPr>
              <a:t>average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55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current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5" b="1">
                <a:solidFill>
                  <a:srgbClr val="FFFFFF"/>
                </a:solidFill>
                <a:latin typeface="Arial"/>
                <a:cs typeface="Arial"/>
              </a:rPr>
              <a:t>day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5" b="1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previous</a:t>
            </a:r>
            <a:r>
              <a:rPr dirty="0" sz="170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55" b="1">
                <a:solidFill>
                  <a:srgbClr val="FFFFFF"/>
                </a:solidFill>
                <a:latin typeface="Arial"/>
                <a:cs typeface="Arial"/>
              </a:rPr>
              <a:t>29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days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7041" y="6644710"/>
            <a:ext cx="6347460" cy="1636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905"/>
              </a:lnSpc>
              <a:spcBef>
                <a:spcPts val="105"/>
              </a:spcBef>
            </a:pPr>
            <a:r>
              <a:rPr dirty="0" sz="1700" spc="-65" b="1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45" b="1">
                <a:solidFill>
                  <a:srgbClr val="FFFFFF"/>
                </a:solidFill>
                <a:latin typeface="Arial"/>
                <a:cs typeface="Arial"/>
              </a:rPr>
              <a:t>3:</a:t>
            </a:r>
            <a:r>
              <a:rPr dirty="0" sz="1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Merging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Returning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700">
              <a:latin typeface="Arial"/>
              <a:cs typeface="Arial"/>
            </a:endParaRPr>
          </a:p>
          <a:p>
            <a:pPr marL="12700" marR="7620">
              <a:lnSpc>
                <a:spcPts val="1770"/>
              </a:lnSpc>
              <a:spcBef>
                <a:spcPts val="150"/>
              </a:spcBef>
            </a:pPr>
            <a:r>
              <a:rPr dirty="0" sz="1700" spc="-6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80" b="1">
                <a:solidFill>
                  <a:srgbClr val="FFFFFF"/>
                </a:solidFill>
                <a:latin typeface="Arial"/>
                <a:cs typeface="Arial"/>
              </a:rPr>
              <a:t>calculated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metrics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5" b="1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saved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45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80" b="1">
                <a:solidFill>
                  <a:srgbClr val="FFFFFF"/>
                </a:solidFill>
                <a:latin typeface="Arial"/>
                <a:cs typeface="Arial"/>
              </a:rPr>
              <a:t>separate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0" b="1">
                <a:solidFill>
                  <a:srgbClr val="FFFFFF"/>
                </a:solidFill>
                <a:latin typeface="Arial"/>
                <a:cs typeface="Arial"/>
              </a:rPr>
              <a:t>table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FFFFFF"/>
                </a:solidFill>
                <a:latin typeface="Arial"/>
                <a:cs typeface="Arial"/>
              </a:rPr>
              <a:t>then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appended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4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original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5" b="1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0" b="1">
                <a:solidFill>
                  <a:srgbClr val="FFFFFF"/>
                </a:solidFill>
                <a:latin typeface="Arial"/>
                <a:cs typeface="Arial"/>
              </a:rPr>
              <a:t>store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0" b="1">
                <a:solidFill>
                  <a:srgbClr val="FFFFFF"/>
                </a:solidFill>
                <a:latin typeface="Arial"/>
                <a:cs typeface="Arial"/>
              </a:rPr>
              <a:t>data.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result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50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30" b="1">
                <a:solidFill>
                  <a:srgbClr val="FFFFFF"/>
                </a:solidFill>
                <a:latin typeface="Arial"/>
                <a:cs typeface="Arial"/>
              </a:rPr>
              <a:t>retrieved </a:t>
            </a:r>
            <a:r>
              <a:rPr dirty="0" sz="1700" spc="-60" b="1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80" b="1">
                <a:solidFill>
                  <a:srgbClr val="FFFFFF"/>
                </a:solidFill>
                <a:latin typeface="Arial"/>
                <a:cs typeface="Arial"/>
              </a:rPr>
              <a:t>database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80" b="1">
                <a:solidFill>
                  <a:srgbClr val="FFFFFF"/>
                </a:solidFill>
                <a:latin typeface="Arial"/>
                <a:cs typeface="Arial"/>
              </a:rPr>
              <a:t>converted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0" b="1">
                <a:solidFill>
                  <a:srgbClr val="FFFFFF"/>
                </a:solidFill>
                <a:latin typeface="Arial"/>
                <a:cs typeface="Arial"/>
              </a:rPr>
              <a:t>back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4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pandas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DataFrame.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ts val="1770"/>
              </a:lnSpc>
              <a:spcBef>
                <a:spcPts val="1780"/>
              </a:spcBef>
            </a:pP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Result: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0" b="1">
                <a:solidFill>
                  <a:srgbClr val="FFFFFF"/>
                </a:solidFill>
                <a:latin typeface="Arial"/>
                <a:cs typeface="Arial"/>
              </a:rPr>
              <a:t>output</a:t>
            </a:r>
            <a:r>
              <a:rPr dirty="0" sz="1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50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80" b="1">
                <a:solidFill>
                  <a:srgbClr val="FFFFFF"/>
                </a:solidFill>
                <a:latin typeface="Arial"/>
                <a:cs typeface="Arial"/>
              </a:rPr>
              <a:t>DataFrame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5" b="1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6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0" b="1">
                <a:solidFill>
                  <a:srgbClr val="FFFFFF"/>
                </a:solidFill>
                <a:latin typeface="Arial"/>
                <a:cs typeface="Arial"/>
              </a:rPr>
              <a:t>date,</a:t>
            </a:r>
            <a:r>
              <a:rPr dirty="0" sz="1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0" b="1">
                <a:solidFill>
                  <a:srgbClr val="FFFFFF"/>
                </a:solidFill>
                <a:latin typeface="Arial"/>
                <a:cs typeface="Arial"/>
              </a:rPr>
              <a:t>store</a:t>
            </a:r>
            <a:r>
              <a:rPr dirty="0" sz="170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5" b="1">
                <a:solidFill>
                  <a:srgbClr val="FFFFFF"/>
                </a:solidFill>
                <a:latin typeface="Arial"/>
                <a:cs typeface="Arial"/>
              </a:rPr>
              <a:t>number,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5" b="1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700" spc="-55" b="1">
                <a:solidFill>
                  <a:srgbClr val="FFFFFF"/>
                </a:solidFill>
                <a:latin typeface="Arial"/>
                <a:cs typeface="Arial"/>
              </a:rPr>
              <a:t>two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0" b="1">
                <a:solidFill>
                  <a:srgbClr val="FFFFFF"/>
                </a:solidFill>
                <a:latin typeface="Arial"/>
                <a:cs typeface="Arial"/>
              </a:rPr>
              <a:t>moving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80" b="1">
                <a:solidFill>
                  <a:srgbClr val="FFFFFF"/>
                </a:solidFill>
                <a:latin typeface="Arial"/>
                <a:cs typeface="Arial"/>
              </a:rPr>
              <a:t>averages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55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7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70" b="1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dirty="0" sz="17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Arial"/>
                <a:cs typeface="Arial"/>
              </a:rPr>
              <a:t>record.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962925" y="359736"/>
            <a:ext cx="8648700" cy="6467475"/>
            <a:chOff x="8962925" y="359736"/>
            <a:chExt cx="8648700" cy="6467475"/>
          </a:xfrm>
        </p:grpSpPr>
        <p:sp>
          <p:nvSpPr>
            <p:cNvPr id="7" name="object 7"/>
            <p:cNvSpPr/>
            <p:nvPr/>
          </p:nvSpPr>
          <p:spPr>
            <a:xfrm>
              <a:off x="9001024" y="397838"/>
              <a:ext cx="8568055" cy="6394450"/>
            </a:xfrm>
            <a:custGeom>
              <a:avLst/>
              <a:gdLst/>
              <a:ahLst/>
              <a:cxnLst/>
              <a:rect l="l" t="t" r="r" b="b"/>
              <a:pathLst>
                <a:path w="8568055" h="6394450">
                  <a:moveTo>
                    <a:pt x="8307744" y="6394410"/>
                  </a:moveTo>
                  <a:lnTo>
                    <a:pt x="266700" y="6394410"/>
                  </a:lnTo>
                  <a:lnTo>
                    <a:pt x="218760" y="6390114"/>
                  </a:lnTo>
                  <a:lnTo>
                    <a:pt x="173639" y="6377725"/>
                  </a:lnTo>
                  <a:lnTo>
                    <a:pt x="132091" y="6357998"/>
                  </a:lnTo>
                  <a:lnTo>
                    <a:pt x="94868" y="6331686"/>
                  </a:lnTo>
                  <a:lnTo>
                    <a:pt x="62724" y="6299542"/>
                  </a:lnTo>
                  <a:lnTo>
                    <a:pt x="36412" y="6262319"/>
                  </a:lnTo>
                  <a:lnTo>
                    <a:pt x="16685" y="6220771"/>
                  </a:lnTo>
                  <a:lnTo>
                    <a:pt x="4297" y="6175650"/>
                  </a:lnTo>
                  <a:lnTo>
                    <a:pt x="0" y="6127711"/>
                  </a:lnTo>
                  <a:lnTo>
                    <a:pt x="0" y="266700"/>
                  </a:lnTo>
                  <a:lnTo>
                    <a:pt x="4297" y="218760"/>
                  </a:lnTo>
                  <a:lnTo>
                    <a:pt x="16685" y="173639"/>
                  </a:lnTo>
                  <a:lnTo>
                    <a:pt x="36412" y="132091"/>
                  </a:lnTo>
                  <a:lnTo>
                    <a:pt x="62724" y="94868"/>
                  </a:lnTo>
                  <a:lnTo>
                    <a:pt x="94868" y="62724"/>
                  </a:lnTo>
                  <a:lnTo>
                    <a:pt x="132091" y="36412"/>
                  </a:lnTo>
                  <a:lnTo>
                    <a:pt x="173639" y="16685"/>
                  </a:lnTo>
                  <a:lnTo>
                    <a:pt x="218760" y="4296"/>
                  </a:lnTo>
                  <a:lnTo>
                    <a:pt x="266700" y="0"/>
                  </a:lnTo>
                  <a:lnTo>
                    <a:pt x="8307744" y="0"/>
                  </a:lnTo>
                  <a:lnTo>
                    <a:pt x="8355683" y="4296"/>
                  </a:lnTo>
                  <a:lnTo>
                    <a:pt x="8400804" y="16685"/>
                  </a:lnTo>
                  <a:lnTo>
                    <a:pt x="8442352" y="36412"/>
                  </a:lnTo>
                  <a:lnTo>
                    <a:pt x="8479575" y="62724"/>
                  </a:lnTo>
                  <a:lnTo>
                    <a:pt x="8511720" y="94868"/>
                  </a:lnTo>
                  <a:lnTo>
                    <a:pt x="8538032" y="132091"/>
                  </a:lnTo>
                  <a:lnTo>
                    <a:pt x="8557760" y="173639"/>
                  </a:lnTo>
                  <a:lnTo>
                    <a:pt x="8567511" y="209154"/>
                  </a:lnTo>
                  <a:lnTo>
                    <a:pt x="8567511" y="6185256"/>
                  </a:lnTo>
                  <a:lnTo>
                    <a:pt x="8538032" y="6262319"/>
                  </a:lnTo>
                  <a:lnTo>
                    <a:pt x="8511720" y="6299542"/>
                  </a:lnTo>
                  <a:lnTo>
                    <a:pt x="8479575" y="6331686"/>
                  </a:lnTo>
                  <a:lnTo>
                    <a:pt x="8442352" y="6357998"/>
                  </a:lnTo>
                  <a:lnTo>
                    <a:pt x="8400804" y="6377725"/>
                  </a:lnTo>
                  <a:lnTo>
                    <a:pt x="8355683" y="6390114"/>
                  </a:lnTo>
                  <a:lnTo>
                    <a:pt x="8307744" y="6394410"/>
                  </a:lnTo>
                  <a:close/>
                </a:path>
              </a:pathLst>
            </a:custGeom>
            <a:solidFill>
              <a:srgbClr val="2020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001025" y="397836"/>
              <a:ext cx="8572500" cy="6391275"/>
            </a:xfrm>
            <a:custGeom>
              <a:avLst/>
              <a:gdLst/>
              <a:ahLst/>
              <a:cxnLst/>
              <a:rect l="l" t="t" r="r" b="b"/>
              <a:pathLst>
                <a:path w="8572500" h="6391275">
                  <a:moveTo>
                    <a:pt x="8572493" y="6149413"/>
                  </a:moveTo>
                  <a:lnTo>
                    <a:pt x="8557761" y="6220768"/>
                  </a:lnTo>
                  <a:lnTo>
                    <a:pt x="8538033" y="6262319"/>
                  </a:lnTo>
                  <a:lnTo>
                    <a:pt x="8511719" y="6299544"/>
                  </a:lnTo>
                  <a:lnTo>
                    <a:pt x="8479572" y="6331689"/>
                  </a:lnTo>
                  <a:lnTo>
                    <a:pt x="8442347" y="6358001"/>
                  </a:lnTo>
                  <a:lnTo>
                    <a:pt x="8400796" y="6377728"/>
                  </a:lnTo>
                  <a:lnTo>
                    <a:pt x="8355673" y="6390115"/>
                  </a:lnTo>
                  <a:lnTo>
                    <a:pt x="8342729" y="6391264"/>
                  </a:lnTo>
                </a:path>
                <a:path w="8572500" h="6391275">
                  <a:moveTo>
                    <a:pt x="231713" y="6391273"/>
                  </a:moveTo>
                  <a:lnTo>
                    <a:pt x="173637" y="6377725"/>
                  </a:lnTo>
                  <a:lnTo>
                    <a:pt x="132087" y="6357997"/>
                  </a:lnTo>
                  <a:lnTo>
                    <a:pt x="94864" y="6331683"/>
                  </a:lnTo>
                  <a:lnTo>
                    <a:pt x="62720" y="6299537"/>
                  </a:lnTo>
                  <a:lnTo>
                    <a:pt x="36408" y="6262313"/>
                  </a:lnTo>
                  <a:lnTo>
                    <a:pt x="16682" y="6220763"/>
                  </a:lnTo>
                  <a:lnTo>
                    <a:pt x="4296" y="6175641"/>
                  </a:lnTo>
                  <a:lnTo>
                    <a:pt x="0" y="6127702"/>
                  </a:lnTo>
                  <a:lnTo>
                    <a:pt x="0" y="266700"/>
                  </a:lnTo>
                  <a:lnTo>
                    <a:pt x="4297" y="218760"/>
                  </a:lnTo>
                  <a:lnTo>
                    <a:pt x="16685" y="173639"/>
                  </a:lnTo>
                  <a:lnTo>
                    <a:pt x="36413" y="132091"/>
                  </a:lnTo>
                  <a:lnTo>
                    <a:pt x="62725" y="94868"/>
                  </a:lnTo>
                  <a:lnTo>
                    <a:pt x="94870" y="62724"/>
                  </a:lnTo>
                  <a:lnTo>
                    <a:pt x="132093" y="36412"/>
                  </a:lnTo>
                  <a:lnTo>
                    <a:pt x="173641" y="16685"/>
                  </a:lnTo>
                  <a:lnTo>
                    <a:pt x="218762" y="4297"/>
                  </a:lnTo>
                  <a:lnTo>
                    <a:pt x="266701" y="0"/>
                  </a:lnTo>
                  <a:lnTo>
                    <a:pt x="8307733" y="0"/>
                  </a:lnTo>
                  <a:lnTo>
                    <a:pt x="8355673" y="4295"/>
                  </a:lnTo>
                  <a:lnTo>
                    <a:pt x="8400795" y="16682"/>
                  </a:lnTo>
                  <a:lnTo>
                    <a:pt x="8442345" y="36408"/>
                  </a:lnTo>
                  <a:lnTo>
                    <a:pt x="8479569" y="62719"/>
                  </a:lnTo>
                  <a:lnTo>
                    <a:pt x="8511715" y="94863"/>
                  </a:lnTo>
                  <a:lnTo>
                    <a:pt x="8538030" y="132087"/>
                  </a:lnTo>
                  <a:lnTo>
                    <a:pt x="8557758" y="173637"/>
                  </a:lnTo>
                  <a:lnTo>
                    <a:pt x="8570148" y="218759"/>
                  </a:lnTo>
                  <a:lnTo>
                    <a:pt x="8572493" y="244999"/>
                  </a:lnTo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428953" y="636865"/>
            <a:ext cx="7091680" cy="80454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Key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technical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elements: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13500"/>
              </a:lnSpc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preparation: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extract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day-of-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week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(EXTRACT(DOW))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week-of-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year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(EXTRACT(WEEK))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dates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capture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temporal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patterns.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28953" y="1415392"/>
            <a:ext cx="7597140" cy="4697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81280">
              <a:lnSpc>
                <a:spcPct val="113500"/>
              </a:lnSpc>
              <a:spcBef>
                <a:spcPts val="95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Profile calculation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aggregation: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Using GROUP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PARTITION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logic,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calculate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three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types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500" spc="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averages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"store-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family"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combination: 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avg_sales_by_dow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average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specific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day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500" spc="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week avg_sales_by_woy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average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sales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week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500" spc="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year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(seasonal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profile) 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avg_sales_overall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 — global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average as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baseline</a:t>
            </a:r>
            <a:endParaRPr sz="1500">
              <a:latin typeface="Arial"/>
              <a:cs typeface="Arial"/>
            </a:endParaRPr>
          </a:p>
          <a:p>
            <a:pPr marL="12700" marR="207010">
              <a:lnSpc>
                <a:spcPct val="113500"/>
              </a:lnSpc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Deviation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features: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create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multiple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deviation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metrics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subtracting</a:t>
            </a:r>
            <a:r>
              <a:rPr dirty="0" sz="15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expected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seasonal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values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actual</a:t>
            </a:r>
            <a:r>
              <a:rPr dirty="0" sz="15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sales: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13500"/>
              </a:lnSpc>
            </a:pP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sales_minus_dow_avg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deviation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day-of-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week</a:t>
            </a:r>
            <a:r>
              <a:rPr dirty="0" sz="15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pattern</a:t>
            </a:r>
            <a:r>
              <a:rPr dirty="0" sz="1500" spc="500" b="1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sales_minus_woy_avg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deviation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seasonal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pattern 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sales_minus_overall_avg</a:t>
            </a:r>
            <a:r>
              <a:rPr dirty="0" sz="15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5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deviation</a:t>
            </a:r>
            <a:r>
              <a:rPr dirty="0" sz="15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15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global</a:t>
            </a:r>
            <a:r>
              <a:rPr dirty="0" sz="15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average avg_sales_seasonal_blend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blended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seasonal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(combination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500" spc="1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day-of-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week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5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week-of-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year)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sales_minus_seasonal_blend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deviation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blended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seasonal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endParaRPr sz="1500">
              <a:latin typeface="Arial"/>
              <a:cs typeface="Arial"/>
            </a:endParaRPr>
          </a:p>
          <a:p>
            <a:pPr algn="just" marL="12700" marR="116205">
              <a:lnSpc>
                <a:spcPct val="113500"/>
              </a:lnSpc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Applying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profiles</a:t>
            </a:r>
            <a:r>
              <a:rPr dirty="0" sz="15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test</a:t>
            </a:r>
            <a:r>
              <a:rPr dirty="0" sz="15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data: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dirty="0" sz="15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LEFT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JOIN</a:t>
            </a:r>
            <a:r>
              <a:rPr dirty="0" sz="15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keys</a:t>
            </a:r>
            <a:r>
              <a:rPr dirty="0" sz="15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(store,</a:t>
            </a:r>
            <a:r>
              <a:rPr dirty="0" sz="15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family, 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day_of_week,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week_of_year),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transfer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learned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seasonal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patterns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50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test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dataset</a:t>
            </a:r>
            <a:r>
              <a:rPr dirty="0" sz="15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without</a:t>
            </a:r>
            <a:r>
              <a:rPr dirty="0" sz="150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5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leakage.</a:t>
            </a:r>
            <a:endParaRPr sz="1500">
              <a:latin typeface="Arial"/>
              <a:cs typeface="Arial"/>
            </a:endParaRPr>
          </a:p>
          <a:p>
            <a:pPr algn="just" marL="12700" marR="643255">
              <a:lnSpc>
                <a:spcPct val="113500"/>
              </a:lnSpc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dirty="0" sz="15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control: We</a:t>
            </a:r>
            <a:r>
              <a:rPr dirty="0" sz="15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check for missing</a:t>
            </a:r>
            <a:r>
              <a:rPr dirty="0" sz="15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combinations where</a:t>
            </a:r>
            <a:r>
              <a:rPr dirty="0" sz="15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historical data 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insufficient,</a:t>
            </a:r>
            <a:r>
              <a:rPr dirty="0" sz="15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which appear as NULL values in the</a:t>
            </a:r>
            <a:r>
              <a:rPr dirty="0" sz="15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test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features.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38712" y="3435212"/>
            <a:ext cx="11292840" cy="240665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5600" spc="-660"/>
              <a:t>than</a:t>
            </a:r>
            <a:r>
              <a:rPr dirty="0" sz="15600"/>
              <a:t>k</a:t>
            </a:r>
            <a:r>
              <a:rPr dirty="0" sz="15600" spc="-1305"/>
              <a:t> </a:t>
            </a:r>
            <a:r>
              <a:rPr dirty="0" sz="15600" spc="-660"/>
              <a:t>yo</a:t>
            </a:r>
            <a:r>
              <a:rPr dirty="0" sz="15600"/>
              <a:t>u</a:t>
            </a:r>
            <a:r>
              <a:rPr dirty="0" sz="15600" spc="-1305"/>
              <a:t> </a:t>
            </a:r>
            <a:r>
              <a:rPr dirty="0" sz="15600" spc="-685"/>
              <a:t>&lt;</a:t>
            </a:r>
            <a:r>
              <a:rPr dirty="0" sz="15600" spc="-25"/>
              <a:t>3</a:t>
            </a:r>
            <a:endParaRPr sz="15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Egor Bass</dc:creator>
  <cp:keywords>DAHEa5EjHuo,BAEqMbCcP4A,0</cp:keywords>
  <dc:title>Black and Green Modern Finance Business Report Presentation</dc:title>
  <dcterms:created xsi:type="dcterms:W3CDTF">2026-03-20T23:24:09Z</dcterms:created>
  <dcterms:modified xsi:type="dcterms:W3CDTF">2026-03-20T23:24:09Z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2026-03-20T00:00:00Z</vt:filetime>
  </property>
  <property fmtid="{D5CDD505-2E9C-101B-9397-08002B2CF9AE}" pid="3" name="Creator">
    <vt:lpwstr>Canva</vt:lpwstr>
  </property>
  <property fmtid="{D5CDD505-2E9C-101B-9397-08002B2CF9AE}" pid="4" name="LastSaved">
    <vt:filetime>2026-03-20T00:00:00Z</vt:filetime>
  </property>
  <property fmtid="{D5CDD505-2E9C-101B-9397-08002B2CF9AE}" pid="5" name="Producer">
    <vt:lpwstr>Canva</vt:lpwstr>
  </property>
</Properties>
</file>