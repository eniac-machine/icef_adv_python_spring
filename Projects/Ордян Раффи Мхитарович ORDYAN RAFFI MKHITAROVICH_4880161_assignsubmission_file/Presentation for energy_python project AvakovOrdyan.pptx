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>
        <p:scale>
          <a:sx n="134" d="100"/>
          <a:sy n="134" d="100"/>
        </p:scale>
        <p:origin x="110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C1F3F"/>
                </a:solidFill>
                <a:latin typeface="Arial"/>
              </a:defRPr>
            </a:pPr>
            <a:r>
              <a:rPr lang="en" sz="1100" b="0" i="0" u="none" strike="noStrike" dirty="0">
                <a:solidFill>
                  <a:srgbClr val="0C1F3F"/>
                </a:solidFill>
                <a:latin typeface="Arial"/>
              </a:rPr>
              <a:t>Data volume by zone (thousands of rows)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 (thousands)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PJME</c:v>
                </c:pt>
                <c:pt idx="1">
                  <c:v>PJMW</c:v>
                </c:pt>
                <c:pt idx="2">
                  <c:v>AEP</c:v>
                </c:pt>
                <c:pt idx="3">
                  <c:v>DAYTON</c:v>
                </c:pt>
                <c:pt idx="4">
                  <c:v>DUQ</c:v>
                </c:pt>
                <c:pt idx="5">
                  <c:v>DOM</c:v>
                </c:pt>
                <c:pt idx="6">
                  <c:v>COMED</c:v>
                </c:pt>
                <c:pt idx="7">
                  <c:v>FE</c:v>
                </c:pt>
                <c:pt idx="8">
                  <c:v>NI</c:v>
                </c:pt>
                <c:pt idx="9">
                  <c:v>DEOK</c:v>
                </c:pt>
                <c:pt idx="10">
                  <c:v>EKPC</c:v>
                </c:pt>
                <c:pt idx="11">
                  <c:v>PJM_L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145</c:v>
                </c:pt>
                <c:pt idx="1">
                  <c:v>143</c:v>
                </c:pt>
                <c:pt idx="2">
                  <c:v>121</c:v>
                </c:pt>
                <c:pt idx="3">
                  <c:v>121</c:v>
                </c:pt>
                <c:pt idx="4">
                  <c:v>119</c:v>
                </c:pt>
                <c:pt idx="5">
                  <c:v>116</c:v>
                </c:pt>
                <c:pt idx="6">
                  <c:v>66</c:v>
                </c:pt>
                <c:pt idx="7">
                  <c:v>63</c:v>
                </c:pt>
                <c:pt idx="8">
                  <c:v>58</c:v>
                </c:pt>
                <c:pt idx="9">
                  <c:v>58</c:v>
                </c:pt>
                <c:pt idx="10">
                  <c:v>45</c:v>
                </c:pt>
                <c:pt idx="1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21-9A49-B210-135DF56AFC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D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D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C1F3F"/>
                </a:solidFill>
                <a:latin typeface="Arial"/>
              </a:defRPr>
            </a:pPr>
            <a:r>
              <a:rPr lang="en" sz="1000" b="0" i="0" u="none" strike="noStrike">
                <a:solidFill>
                  <a:srgbClr val="0C1F3F"/>
                </a:solidFill>
                <a:latin typeface="Arial"/>
              </a:rPr>
              <a:t>Rolling Mean: different smoothing horizons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6h</c:v>
                </c:pt>
              </c:strCache>
            </c:strRef>
          </c:tx>
          <c:spPr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125</c:v>
                </c:pt>
                <c:pt idx="2">
                  <c:v>118</c:v>
                </c:pt>
                <c:pt idx="3">
                  <c:v>130</c:v>
                </c:pt>
                <c:pt idx="4">
                  <c:v>128</c:v>
                </c:pt>
                <c:pt idx="5">
                  <c:v>135</c:v>
                </c:pt>
                <c:pt idx="6">
                  <c:v>140</c:v>
                </c:pt>
                <c:pt idx="7">
                  <c:v>132</c:v>
                </c:pt>
                <c:pt idx="8">
                  <c:v>128</c:v>
                </c:pt>
                <c:pt idx="9">
                  <c:v>125</c:v>
                </c:pt>
                <c:pt idx="10">
                  <c:v>130</c:v>
                </c:pt>
                <c:pt idx="11">
                  <c:v>138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B65-0940-9473-51EDB8D6C7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</c:v>
                </c:pt>
              </c:strCache>
            </c:strRef>
          </c:tx>
          <c:spPr>
            <a:ln w="25400" cap="flat">
              <a:solidFill>
                <a:srgbClr val="F77F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7F00"/>
              </a:solidFill>
              <a:ln w="9525" cap="flat">
                <a:solidFill>
                  <a:srgbClr val="F77F0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125</c:v>
                </c:pt>
                <c:pt idx="1">
                  <c:v>125</c:v>
                </c:pt>
                <c:pt idx="2">
                  <c:v>124</c:v>
                </c:pt>
                <c:pt idx="3">
                  <c:v>126</c:v>
                </c:pt>
                <c:pt idx="4">
                  <c:v>127</c:v>
                </c:pt>
                <c:pt idx="5">
                  <c:v>129</c:v>
                </c:pt>
                <c:pt idx="6">
                  <c:v>131</c:v>
                </c:pt>
                <c:pt idx="7">
                  <c:v>132</c:v>
                </c:pt>
                <c:pt idx="8">
                  <c:v>131</c:v>
                </c:pt>
                <c:pt idx="9">
                  <c:v>130</c:v>
                </c:pt>
                <c:pt idx="10">
                  <c:v>129</c:v>
                </c:pt>
                <c:pt idx="11">
                  <c:v>131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B65-0940-9473-51EDB8D6C7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168h</c:v>
                </c:pt>
              </c:strCache>
            </c:strRef>
          </c:tx>
          <c:spPr>
            <a:ln w="25400" cap="flat">
              <a:solidFill>
                <a:srgbClr val="06D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D6A0"/>
              </a:solidFill>
              <a:ln w="9525" cap="flat">
                <a:solidFill>
                  <a:srgbClr val="06D6A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128</c:v>
                </c:pt>
                <c:pt idx="1">
                  <c:v>128</c:v>
                </c:pt>
                <c:pt idx="2">
                  <c:v>127</c:v>
                </c:pt>
                <c:pt idx="3">
                  <c:v>127</c:v>
                </c:pt>
                <c:pt idx="4">
                  <c:v>128</c:v>
                </c:pt>
                <c:pt idx="5">
                  <c:v>128</c:v>
                </c:pt>
                <c:pt idx="6">
                  <c:v>129</c:v>
                </c:pt>
                <c:pt idx="7">
                  <c:v>129</c:v>
                </c:pt>
                <c:pt idx="8">
                  <c:v>130</c:v>
                </c:pt>
                <c:pt idx="9">
                  <c:v>130</c:v>
                </c:pt>
                <c:pt idx="10">
                  <c:v>129</c:v>
                </c:pt>
                <c:pt idx="11">
                  <c:v>130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B65-0940-9473-51EDB8D6C7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D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D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76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42060" y="461832"/>
            <a:ext cx="2484120" cy="2333986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6372225" y="-1366968"/>
            <a:ext cx="3657600" cy="365760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222" y="715657"/>
            <a:ext cx="1339557" cy="1339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407258"/>
            <a:ext cx="6858000" cy="564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ICEF Energy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Consumption Project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033587" y="3145616"/>
            <a:ext cx="50768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F0F8"/>
                </a:solidFill>
                <a:ea typeface="Calibri" pitchFamily="34" charset="-122"/>
                <a:cs typeface="Calibri" pitchFamily="34" charset="-120"/>
              </a:rPr>
              <a:t>Hourly Energy Consumption Analysis </a:t>
            </a:r>
            <a:r>
              <a:rPr lang="ru-RU" sz="1600" dirty="0">
                <a:solidFill>
                  <a:srgbClr val="CAF0F8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600" dirty="0">
                <a:solidFill>
                  <a:srgbClr val="CAF0F8"/>
                </a:solidFill>
                <a:ea typeface="Calibri" pitchFamily="34" charset="-122"/>
                <a:cs typeface="Calibri" pitchFamily="34" charset="-120"/>
              </a:rPr>
              <a:t> PJM Interconnection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1445" y="4636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 Avakov   |   Raffi Ordyan</a:t>
            </a:r>
            <a:endParaRPr lang="en-US" sz="140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E675BB2D-06C4-7815-A6BC-E66B834E5029}"/>
              </a:ext>
            </a:extLst>
          </p:cNvPr>
          <p:cNvSpPr/>
          <p:nvPr/>
        </p:nvSpPr>
        <p:spPr>
          <a:xfrm>
            <a:off x="7264717" y="4169363"/>
            <a:ext cx="1472565" cy="1495966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298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59436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Energy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zones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06040" y="123444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3716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08960" y="1298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1.1M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274320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Rows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in the database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54880" y="123444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37160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7800" y="1298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489204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Pipeline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903720" y="123444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137160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06640" y="12984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30+</a:t>
            </a:r>
            <a:endParaRPr lang="en-US" sz="3000" dirty="0"/>
          </a:p>
        </p:txBody>
      </p:sp>
      <p:sp>
        <p:nvSpPr>
          <p:cNvPr id="20" name="Text 13"/>
          <p:cNvSpPr/>
          <p:nvPr/>
        </p:nvSpPr>
        <p:spPr>
          <a:xfrm>
            <a:off x="704088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in the final table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Comprehensive analysis of hourly energy consumption data from PJM Interconnection - the largest regional power grid operator in North America.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13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PostgreSQL (window functions, CTEs, LATERAL) for all transformations + Python (psycopg2, pandas, numpy) for data loading and polynomial interpolation.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The energy_consolidated table (~1.1M rows × 30+ columns) - a fully prepared dataset for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Data Structure &amp; Database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483520110"/>
              </p:ext>
            </p:extLst>
          </p:nvPr>
        </p:nvGraphicFramePr>
        <p:xfrm>
          <a:off x="365760" y="1097280"/>
          <a:ext cx="48463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0" y="1097280"/>
            <a:ext cx="3383280" cy="329184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3"/>
          <p:cNvSpPr/>
          <p:nvPr/>
        </p:nvSpPr>
        <p:spPr>
          <a:xfrm>
            <a:off x="566928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ea typeface="Consolas" pitchFamily="34" charset="-122"/>
                <a:cs typeface="Consolas" pitchFamily="34" charset="-120"/>
              </a:rPr>
              <a:t>energy_load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76072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zone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13232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  <a:ea typeface="Consolas" pitchFamily="34" charset="-122"/>
                <a:cs typeface="Consolas" pitchFamily="34" charset="-120"/>
              </a:rPr>
              <a:t>VARCHAR(15)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32104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7F00"/>
                </a:solidFill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76072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datetime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13232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32104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7F00"/>
                </a:solidFill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6072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load_mw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13232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  <a:ea typeface="Consolas" pitchFamily="34" charset="-122"/>
                <a:cs typeface="Consolas" pitchFamily="34" charset="-120"/>
              </a:rPr>
              <a:t>DOUBLE PREC.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76072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is_imputed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3232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  <a:ea typeface="Consolas" pitchFamily="34" charset="-122"/>
                <a:cs typeface="Consolas" pitchFamily="34" charset="-120"/>
              </a:rPr>
              <a:t>SMALLINT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2104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7F00"/>
                </a:solidFill>
                <a:ea typeface="Calibri" pitchFamily="34" charset="-122"/>
                <a:cs typeface="Calibri" pitchFamily="34" charset="-120"/>
              </a:rPr>
              <a:t>0/1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760720" y="3749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Composite PK → B-tree index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for fast window query execution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Period: 2002–2018 (varies by zone). Total: ~1,100,000 rows.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Processing Pipeline - 9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66928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51" y="1525659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0369" y="1548911"/>
            <a:ext cx="1519702" cy="239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Missing hour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4300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447288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324" y="15087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1400" y="1578512"/>
            <a:ext cx="843281" cy="180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Gap filling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14300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545" y="154392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39128" y="1589063"/>
            <a:ext cx="1343230" cy="239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Temporal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42316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06" y="282059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6704" y="2825496"/>
            <a:ext cx="1175825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Rolling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s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tatistics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337560" y="242316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060" y="2816821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1400" y="2782062"/>
            <a:ext cx="1257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Volatility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r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egimes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217920" y="242316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489" y="282778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83285" y="2854071"/>
            <a:ext cx="1331351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Pattern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c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lustering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57200" y="370332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Text 27"/>
          <p:cNvSpPr/>
          <p:nvPr/>
        </p:nvSpPr>
        <p:spPr>
          <a:xfrm>
            <a:off x="566928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06" y="4034790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1560" y="3794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Zone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c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orrelations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3337560" y="370332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0" name="Text 31"/>
          <p:cNvSpPr/>
          <p:nvPr/>
        </p:nvSpPr>
        <p:spPr>
          <a:xfrm>
            <a:off x="3447288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8674" y="4034790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853688" y="4091940"/>
            <a:ext cx="1437249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Prediction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FFFFFF"/>
                </a:solidFill>
                <a:cs typeface="Calibri" pitchFamily="34" charset="-120"/>
              </a:rPr>
              <a:t>f</a:t>
            </a:r>
            <a:r>
              <a:rPr lang="en-US" sz="12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etures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6217920" y="3703320"/>
            <a:ext cx="2606040" cy="1051560"/>
          </a:xfrm>
          <a:prstGeom prst="rect">
            <a:avLst/>
          </a:prstGeom>
          <a:solidFill>
            <a:srgbClr val="1428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3545" y="4036021"/>
            <a:ext cx="320040" cy="32004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749210" y="4048682"/>
            <a:ext cx="1120335" cy="3073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Consolidation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1 - Missing Hour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Method: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520113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”</a:t>
            </a:r>
            <a:r>
              <a:rPr lang="en-US" sz="1200" dirty="0" err="1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generate_series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()” generates all expected hours from MIN to MAX datetime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LEFT JOIN with energy_load identifies missing hours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Gaps-and-islands (ROW_NUMBER) groups missing hours into contiguous gaps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Aggregation: total_missing, longest_gap, number_of_gaps per zone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58338" y="1143000"/>
            <a:ext cx="3211342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5804826" y="1234440"/>
            <a:ext cx="28819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SQL Techniques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4826" y="1600200"/>
            <a:ext cx="2881973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generate_series()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Time series generation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LEFT JOIN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Finding missing rows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ROW_NUMBER()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Gaps-and-islands for grouping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missing_hours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  - each missing hour as a row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39319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493776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gap_summary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  - aggregated gap statistics per zone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2 - Gap Filling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697480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≤ 3 hours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18288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Linear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1A1A2E"/>
                </a:solidFill>
                <a:cs typeface="Calibri" pitchFamily="34" charset="-120"/>
              </a:rPr>
              <a:t>i</a:t>
            </a:r>
            <a:r>
              <a:rPr lang="en-US" sz="1300" b="1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nterpolation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“CROSS JOIN LATERAL”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finds nearest known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points to the left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and right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9748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338328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4–24 hours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383280" y="18288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Previous day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+ Trend adjustment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26060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v(t−24h) × √(next/prev)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geometric trend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correction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18872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6126480" y="1188720"/>
            <a:ext cx="2697480" cy="73152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26364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F3F"/>
                </a:solidFill>
                <a:ea typeface="Georgia" pitchFamily="34" charset="-122"/>
                <a:cs typeface="Georgia" pitchFamily="34" charset="-120"/>
              </a:rPr>
              <a:t>&gt; 24 hours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63640" y="18288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Polynomial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interpolation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26060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Python numpy.polyfit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3 points left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3 points right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→ quadratic regression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After filling: 0 rows with NULL in load_mw. All values recovered, is_imputed = 1.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3 - Temporal Features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517591"/>
              </p:ext>
            </p:extLst>
          </p:nvPr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hour_of_day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ru-RU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of day (EXTRACT)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day_of_week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ru-RU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week (DOW)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is_weekend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or Sunday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is_business_hour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Weekday, 8 AM </a:t>
                      </a:r>
                      <a:r>
                        <a:rPr lang="ru-RU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mounth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season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ru-RU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and season (winter/summer/transition)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≥ p75 during zone business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11430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is_peak</a:t>
            </a: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 - binary peak load indicator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143000" y="4206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Calculated per zone: PERCENTILE_CONT(0.75) over weekday business hours. If current load ≥ p75 during business hours </a:t>
            </a:r>
            <a:r>
              <a:rPr lang="ru-RU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 it is a peak.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4 - Rolling Statistics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03847159"/>
              </p:ext>
            </p:extLst>
          </p:nvPr>
        </p:nvGraphicFramePr>
        <p:xfrm>
          <a:off x="365760" y="109728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46153"/>
              </p:ext>
            </p:extLst>
          </p:nvPr>
        </p:nvGraphicFramePr>
        <p:xfrm>
          <a:off x="5669280" y="1188720"/>
          <a:ext cx="3200400" cy="1143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rolling_mean_6h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rolling_std_6h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rolling_mean_24h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rolling_std_24h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rolling_mean_72h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rolling_std_72h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rolling_mean_168h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rolling_std_168h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669280" y="3108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Uses WINDOW w6 AS (PARTITION BY zone ORDER BY datetime ROWS BETWEEN 5 PRECEDING AND CURRENT ROW) and similarly for 24/72/168.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052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114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Anomaly detection: |load − rolling_mean_24h| &gt; 3 × rolling_std_24h (3σ rule)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5 - Volatility &amp; Regimes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A. Instantaneous Volatility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hourly_change = load </a:t>
            </a:r>
            <a:r>
              <a:rPr lang="ru-RU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LAG(load)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STDDEV(hourly_change) over rolling 24h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Daily average → daily_volatility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3931920" cy="54864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B. Regime Classification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9204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NTILE(5)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splits days into 5 quintiles: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ea typeface="Calibri" pitchFamily="34" charset="-122"/>
                <a:cs typeface="Calibri" pitchFamily="34" charset="-120"/>
              </a:rPr>
              <a:t>  Q1 → LOW      (bottom 20%)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  Q2–Q4 → NORMAL  (middle 60%)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76F"/>
                </a:solidFill>
                <a:ea typeface="Calibri" pitchFamily="34" charset="-122"/>
                <a:cs typeface="Calibri" pitchFamily="34" charset="-120"/>
              </a:rPr>
              <a:t>  Q5 → HIGH     (top 20%)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Transition Matrix (volatility_transitions)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4206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Counts transition frequencies low→normal, normal→high, etc. A sudden low→high jump signals external anomalies (extreme weather, grid failures).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6 - Daily Profiles &amp; Clustering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5 Daily Profile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morning_peak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max load 6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10 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evening_peak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max load 5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9 PM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overnight_base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avg load 0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5 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ramp_up_rate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ramp-up speed 6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9 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ramp_down_rate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ramp-down speed 7</a:t>
            </a:r>
            <a:r>
              <a:rPr lang="ru-RU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10 PM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5 Consumption Patterns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463040"/>
            <a:ext cx="109728" cy="4114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530352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flat_low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66560" y="1463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Flat low profile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(weekends, holidays)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1965960"/>
            <a:ext cx="109728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30352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morning_dom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1965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Morning peak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dominates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2468880"/>
            <a:ext cx="109728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530352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evening_dom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6656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Evening peak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dominates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0" y="2971800"/>
            <a:ext cx="109728" cy="41148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530352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double_peak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Two peaks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(typical workday)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0" y="3474720"/>
            <a:ext cx="109728" cy="41148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5303520" y="3474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1F3F"/>
                </a:solidFill>
                <a:ea typeface="Consolas" pitchFamily="34" charset="-122"/>
                <a:cs typeface="Consolas" pitchFamily="34" charset="-120"/>
              </a:rPr>
              <a:t>high_base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66560" y="3474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High base 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(industrial zones)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Method: z-normalization of features → Euclidean distance to 5 fixed centroids → nearest centroid determines the pattern.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7 - Inter-Zone Correlations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49469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457200" y="1494692"/>
            <a:ext cx="91440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31520" y="15404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1. Neighbor map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9061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CORR() across all 66 pairs (GROUP BY). For each zone — the neighbor with max correlation.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9197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457200" y="2591972"/>
            <a:ext cx="91440" cy="8686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31520" y="26376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2. Rolling 24h CORR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0034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Window CORR() ONLY for 12 selected pairs. Monitoring correlation stability over time.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68925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57200" y="3689252"/>
            <a:ext cx="91440" cy="86868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31520" y="37349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3. Breakdown flag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1007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corr_breakdown = 1 when correlation_24h &lt; 0.5. Signals potential grid issues.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8 - Prediction Features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029200" cy="2682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current_load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load_lag_1h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1 hour 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load_lag_24h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24 hours 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load_lag_168h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7 days 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pred_rolling_mean_6h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6h rolling mean (excl. 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pred_rolling_mean_24h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 rolling mean (excl. 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pred_rolling_mean_168h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168h rolling mean (excl. 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hour_of_day_avg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avg for hour of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day_of_week_avg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avg for day of 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C1F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temp_proxy_load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surrogate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097280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23444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093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Temperature proxy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943600" y="16459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No temperature data → surrogate: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AVG(load) over 14 previous observations with the same hour and day of week.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Idea: consistently high load on Wednesday 2 PM → correlates with heat (AC) or cold (heating).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760720" y="4023360"/>
            <a:ext cx="3108960" cy="777240"/>
          </a:xfrm>
          <a:prstGeom prst="rect">
            <a:avLst/>
          </a:prstGeom>
          <a:solidFill>
            <a:srgbClr val="FFF3E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6"/>
          <p:cNvSpPr/>
          <p:nvPr/>
        </p:nvSpPr>
        <p:spPr>
          <a:xfrm>
            <a:off x="5943600" y="4114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Self-join → window AVG() OVER (PARTITION BY zone, hour, dow)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Step 9 - Consolidated Table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54864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Base 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zone, datetime, load_mw, is_imputed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11430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269748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9748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hour, day, weekend, business_hour, month, season, peak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1430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754880" y="1143000"/>
            <a:ext cx="192024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484632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Rolling stats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mean/std at 6h, 24h, 72h, 168h (8 columns)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03720" y="114300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6903720" y="1143000"/>
            <a:ext cx="1920240" cy="54864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6995160" y="1252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9516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daily_volatility, volatility_regime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2606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457200" y="2606040"/>
            <a:ext cx="192024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548640" y="2715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Profiles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30175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consumption_pattern (5 clusters)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606040" y="2606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2606040" y="2606040"/>
            <a:ext cx="1920240" cy="54864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2697480" y="2715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Correlations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697480" y="30175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neighbor_zone, correlation_24h, corr_breakdown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54880" y="2606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4754880" y="2606040"/>
            <a:ext cx="1920240" cy="5486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4846320" y="2715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30175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lags, rolling means, hour/dow avg, temp_proxy (10 columns)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903720" y="2606040"/>
            <a:ext cx="1920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4" name="Shape 31"/>
          <p:cNvSpPr/>
          <p:nvPr/>
        </p:nvSpPr>
        <p:spPr>
          <a:xfrm>
            <a:off x="6903720" y="2606040"/>
            <a:ext cx="1920240" cy="54864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sp>
        <p:nvSpPr>
          <p:cNvPr id="35" name="Text 32"/>
          <p:cNvSpPr/>
          <p:nvPr/>
        </p:nvSpPr>
        <p:spPr>
          <a:xfrm>
            <a:off x="6995160" y="2715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F3F"/>
                </a:solidFill>
                <a:ea typeface="Calibri" pitchFamily="34" charset="-122"/>
                <a:cs typeface="Calibri" pitchFamily="34" charset="-120"/>
              </a:rPr>
              <a:t>Anomalies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995160" y="30175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ea typeface="Calibri" pitchFamily="34" charset="-122"/>
                <a:cs typeface="Calibri" pitchFamily="34" charset="-120"/>
              </a:rPr>
              <a:t>anomaly_flag (corr_breakdown OR 3σ)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~1.1M rows  ×  30+ columns  |  Index (zone, datetime)  |  Ready for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C1F3F"/>
          </a:solidFill>
          <a:ln/>
        </p:spPr>
        <p:txBody>
          <a:bodyPr/>
          <a:lstStyle/>
          <a:p>
            <a:pPr algn="ctr"/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SQL Techniques Used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206457"/>
              </p:ext>
            </p:extLst>
          </p:nvPr>
        </p:nvGraphicFramePr>
        <p:xfrm>
          <a:off x="457200" y="1449705"/>
          <a:ext cx="8229600" cy="2682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ROW_NUMBER()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gaps-and-islands (Step 1), neighbor ranking (Step 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/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changes (Step 5), regime transitions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AVG/STDDEV 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stats (Step 4), volatility (Step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CORR() 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zone correlations (Step 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NTILE(5)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quintile classification (Step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JOIN LATERAL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interpolation (Step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generate_series()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hours generation (Steps 1,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PERCENTILE_CONT()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 for peak classification (Step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 (WITH ... 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steps — for readability and modularity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 AS SELECT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intermediate tables (Steps 1–9)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ea typeface="Calibri" pitchFamily="34" charset="-122"/>
                <a:cs typeface="Calibri" pitchFamily="34" charset="-120"/>
              </a:rPr>
              <a:t>Artem Avakov   |   Raffi Ordyan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1399</Words>
  <Application>Microsoft Macintosh PowerPoint</Application>
  <PresentationFormat>Экран (16:9)</PresentationFormat>
  <Paragraphs>249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ICEF Energy Consumption Project</dc:title>
  <dc:subject>PptxGenJS Presentation</dc:subject>
  <dc:creator>Artem Avakov, Raffi Ordyan</dc:creator>
  <cp:lastModifiedBy>Armen Avakov</cp:lastModifiedBy>
  <cp:revision>2</cp:revision>
  <dcterms:created xsi:type="dcterms:W3CDTF">2026-03-20T18:41:21Z</dcterms:created>
  <dcterms:modified xsi:type="dcterms:W3CDTF">2026-03-20T20:03:47Z</dcterms:modified>
</cp:coreProperties>
</file>