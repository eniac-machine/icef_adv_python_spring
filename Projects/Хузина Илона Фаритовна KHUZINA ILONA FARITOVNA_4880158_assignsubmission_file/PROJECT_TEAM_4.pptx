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1661265a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1661265a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1661265a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1661265a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1661265a4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1661265a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1661265a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1661265a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6f8bc6e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16f8bc6e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16f8bc6e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16f8bc6e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1661265a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1661265a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16f8bc6e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16f8bc6e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16f8bc6e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16f8bc6e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1661265a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1661265a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eriod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ourier New"/>
                <a:ea typeface="Courier New"/>
                <a:cs typeface="Courier New"/>
                <a:sym typeface="Courier New"/>
              </a:rPr>
              <a:t>Flight data analysis 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Team 4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by Demidova D., Khuzina I., Kovylina G., Arinovich K., Smirnov G.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-1086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ourier New"/>
                <a:ea typeface="Courier New"/>
                <a:cs typeface="Courier New"/>
                <a:sym typeface="Courier New"/>
              </a:rPr>
              <a:t>DIFFICULTIES 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9664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●"/>
            </a:pPr>
            <a:r>
              <a:rPr lang="ru" sz="8000">
                <a:latin typeface="Courier New"/>
                <a:ea typeface="Courier New"/>
                <a:cs typeface="Courier New"/>
                <a:sym typeface="Courier New"/>
              </a:rPr>
              <a:t>Absence</a:t>
            </a:r>
            <a:r>
              <a:rPr lang="ru" sz="8000">
                <a:latin typeface="Courier New"/>
                <a:ea typeface="Courier New"/>
                <a:cs typeface="Courier New"/>
                <a:sym typeface="Courier New"/>
              </a:rPr>
              <a:t> of missing values =&gt; could not apply COALESCE with valuable results</a:t>
            </a:r>
            <a:endParaRPr sz="8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●"/>
            </a:pPr>
            <a:r>
              <a:rPr lang="ru" sz="8000">
                <a:latin typeface="Courier New"/>
                <a:ea typeface="Courier New"/>
                <a:cs typeface="Courier New"/>
                <a:sym typeface="Courier New"/>
              </a:rPr>
              <a:t>Given time intervals could not be applied to the dataset with limited dates =&gt; used smaller </a:t>
            </a:r>
            <a:r>
              <a:rPr lang="ru" sz="8000"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ru" sz="8000">
                <a:latin typeface="Courier New"/>
                <a:ea typeface="Courier New"/>
                <a:cs typeface="Courier New"/>
                <a:sym typeface="Courier New"/>
              </a:rPr>
              <a:t> interval</a:t>
            </a:r>
            <a:endParaRPr sz="8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●"/>
            </a:pPr>
            <a:r>
              <a:rPr lang="ru" sz="8000">
                <a:latin typeface="Courier New"/>
                <a:ea typeface="Courier New"/>
                <a:cs typeface="Courier New"/>
                <a:sym typeface="Courier New"/>
              </a:rPr>
              <a:t>Incomplete dataset:</a:t>
            </a:r>
            <a:endParaRPr sz="8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0">
                <a:latin typeface="Courier New"/>
                <a:ea typeface="Courier New"/>
                <a:cs typeface="Courier New"/>
                <a:sym typeface="Courier New"/>
              </a:rPr>
              <a:t>Missing values for most tasks (airlines, flights boarded, misassigned arrivals and destinations, the table only had data for each individual person and not the flights) =&gt; generated synthetic data</a:t>
            </a:r>
            <a:endParaRPr sz="8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76075" y="5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Data Generation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583375" y="122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Additional </a:t>
            </a: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passengers</a:t>
            </a: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58400" y="803975"/>
            <a:ext cx="8693700" cy="4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6796E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1.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agg by city and their data. We make a "profile" and some statistics for a city. Then, for similar data generation the following steps:</a:t>
            </a:r>
            <a:endParaRPr b="1"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mode() - the most frequent departures to the given city, we take [</a:t>
            </a:r>
            <a:r>
              <a:rPr b="1" lang="ru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as the number 1 most popular department.</a:t>
            </a:r>
            <a:endParaRPr b="1"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6796E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2.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 1300 time cycle</a:t>
            </a:r>
            <a:endParaRPr b="1"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250">
                <a:solidFill>
                  <a:srgbClr val="6796E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Take a random city and 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its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characteristics</a:t>
            </a:r>
            <a:endParaRPr b="1"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250">
                <a:solidFill>
                  <a:srgbClr val="6796E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We go to the end and select the last row + 1 to start adding new data</a:t>
            </a:r>
            <a:endParaRPr b="1"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6796E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3.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Initialize a dictionary with a new entry</a:t>
            </a:r>
            <a:endParaRPr b="1"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250">
                <a:solidFill>
                  <a:srgbClr val="6796E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state values</a:t>
            </a:r>
            <a:endParaRPr b="1"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6796E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4.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Generate random choice of name</a:t>
            </a:r>
            <a:endParaRPr b="1"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6796E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5.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Concatenate</a:t>
            </a: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with the initial DB</a:t>
            </a:r>
            <a:endParaRPr b="1"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tail():</a:t>
            </a:r>
            <a:endParaRPr b="1"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00" y="3541351"/>
            <a:ext cx="8085900" cy="14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ourier New"/>
                <a:ea typeface="Courier New"/>
                <a:cs typeface="Courier New"/>
                <a:sym typeface="Courier New"/>
              </a:rPr>
              <a:t>TASKS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data. Create unique flight identifiers and ensure all tables can be joined at flight level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Multiple JOIN types, COALESCE for missing values, key generation</a:t>
            </a:r>
            <a:endParaRPr i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each route (origin-destination pair), calculate 3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-day, 6-day, and 9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-day rolling average demand (number of people who used it). Identify routes with improving/declining demand. Calculate load factor volatility (standard deviation over rolling windows).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Window AVG and STDDEV over time partitions by route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 delay categories: on-time (&lt;15 min), minor delay (15-60 min), major delay (60-180 min), severe delay (&gt;180 min), cancellation. Calculate rolling on-time percentage by route and airline.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Date/time difference calculations, CASE for delay categories, window AVG of on-time flags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15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TASK 1 Importing dataset to SQL table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12400" y="4210825"/>
            <a:ext cx="8419800" cy="7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1250">
                <a:latin typeface="Courier New"/>
                <a:ea typeface="Courier New"/>
                <a:cs typeface="Courier New"/>
                <a:sym typeface="Courier New"/>
              </a:rPr>
              <a:t>We loaded synthetic flight </a:t>
            </a:r>
            <a:r>
              <a:rPr lang="ru" sz="1250"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ru" sz="1250">
                <a:latin typeface="Courier New"/>
                <a:ea typeface="Courier New"/>
                <a:cs typeface="Courier New"/>
                <a:sym typeface="Courier New"/>
              </a:rPr>
              <a:t> from CSV to PostgreSQL by </a:t>
            </a:r>
            <a:r>
              <a:rPr lang="ru" sz="1250">
                <a:latin typeface="Courier New"/>
                <a:ea typeface="Courier New"/>
                <a:cs typeface="Courier New"/>
                <a:sym typeface="Courier New"/>
              </a:rPr>
              <a:t>mapping</a:t>
            </a:r>
            <a:r>
              <a:rPr lang="ru" sz="1250">
                <a:latin typeface="Courier New"/>
                <a:ea typeface="Courier New"/>
                <a:cs typeface="Courier New"/>
                <a:sym typeface="Courier New"/>
              </a:rPr>
              <a:t> pandas data types to PostgreSQL types, created main data table and inserted data using queries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5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00" y="730800"/>
            <a:ext cx="7250728" cy="33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  </a:t>
            </a:r>
            <a:endParaRPr/>
          </a:p>
        </p:txBody>
      </p:sp>
      <p:pic>
        <p:nvPicPr>
          <p:cNvPr id="89" name="Google Shape;89;p18" title="62fb551d-d7e5-401f-82d7-90c79932e70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275" y="0"/>
            <a:ext cx="7493449" cy="22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e276316e-0253-4011-9ca3-4cb220783fe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8824" y="2371200"/>
            <a:ext cx="7306349" cy="277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 title="8701dbd6-b15d-4f0f-8c6e-325eacc04491.jpg"/>
          <p:cNvPicPr preferRelativeResize="0"/>
          <p:nvPr/>
        </p:nvPicPr>
        <p:blipFill rotWithShape="1">
          <a:blip r:embed="rId3">
            <a:alphaModFix/>
          </a:blip>
          <a:srcRect b="0" l="0" r="0" t="1701"/>
          <a:stretch/>
        </p:blipFill>
        <p:spPr>
          <a:xfrm>
            <a:off x="152400" y="232875"/>
            <a:ext cx="8766624" cy="46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TASK 2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We decided to </a:t>
            </a:r>
            <a:r>
              <a:rPr lang="ru" sz="1500"/>
              <a:t>calculate 3-day, 6-day, and 9-day rolling average demand instead of 7, 30 and 90-day because the dataset does not contain enough entries for longer periods, making shorter windows more informative.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Creating a CTE (common table expression) for holding </a:t>
            </a:r>
            <a:r>
              <a:rPr lang="ru" sz="1500"/>
              <a:t>intermediate</a:t>
            </a:r>
            <a:r>
              <a:rPr lang="ru" sz="1500"/>
              <a:t> calculations before we produce the final output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Selecting the required columns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Calculating the window size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Calculating the average passenger count and the rolling stdev over the n-day window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Selecting necessary columns from flights_schedule table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Filtering valid windows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Trend identification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 title="dd788129-7b77-4948-a466-cd346d95678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092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1" title="dbc86038-eef6-4bb4-9abd-a626f93a5ff7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83604"/>
            <a:ext cx="8839200" cy="2078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 title="f9fb20d2-e3be-47ee-b9ab-acb32a06523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940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200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TASK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689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AutoNum type="arabicPeriod"/>
            </a:pPr>
            <a:r>
              <a:rPr b="1" lang="ru" sz="1300">
                <a:latin typeface="Courier New"/>
                <a:ea typeface="Courier New"/>
                <a:cs typeface="Courier New"/>
                <a:sym typeface="Courier New"/>
              </a:rPr>
              <a:t>Adding 2 </a:t>
            </a:r>
            <a:r>
              <a:rPr b="1" lang="ru" sz="1300">
                <a:latin typeface="Courier New"/>
                <a:ea typeface="Courier New"/>
                <a:cs typeface="Courier New"/>
                <a:sym typeface="Courier New"/>
              </a:rPr>
              <a:t>columns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AutoNum type="arabicPeriod"/>
            </a:pPr>
            <a:r>
              <a:rPr b="1" lang="ru" sz="1300">
                <a:latin typeface="Courier New"/>
                <a:ea typeface="Courier New"/>
                <a:cs typeface="Courier New"/>
                <a:sym typeface="Courier New"/>
              </a:rPr>
              <a:t>Using CASE in order to set delay category on duration of each delay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AutoNum type="arabicPeriod"/>
            </a:pPr>
            <a:r>
              <a:rPr b="1" lang="ru" sz="1300">
                <a:latin typeface="Courier New"/>
                <a:ea typeface="Courier New"/>
                <a:cs typeface="Courier New"/>
                <a:sym typeface="Courier New"/>
              </a:rPr>
              <a:t>To create time flag use CASE, if duration of delay is up to 15 minutes we set 1, 0 otherwise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AutoNum type="arabicPeriod"/>
            </a:pPr>
            <a:r>
              <a:rPr b="1" lang="ru" sz="1300">
                <a:latin typeface="Courier New"/>
                <a:ea typeface="Courier New"/>
                <a:cs typeface="Courier New"/>
                <a:sym typeface="Courier New"/>
              </a:rPr>
              <a:t>Then we create a new table with the most significant columns from flights_schedule to calculate rolling on time %. (the number in column "Rolling On-Time % (last 7 days)" shows the fraction of flights on time)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9" name="Google Shape;119;p23" title="9d3e3ca3-3ac9-4c79-9cb5-f5a708d0a1c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263" y="2436425"/>
            <a:ext cx="6599477" cy="270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